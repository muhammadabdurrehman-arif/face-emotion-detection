
<file path=[Content_Types].xml><?xml version="1.0" encoding="utf-8"?>
<Types xmlns="http://schemas.openxmlformats.org/package/2006/content-types">
  <Default Extension="jpg" ContentType="image/pn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73" r:id="rId16"/>
    <p:sldId id="274" r:id="rId17"/>
    <p:sldId id="27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49" autoAdjust="0"/>
    <p:restoredTop sz="85021" autoAdjust="0"/>
  </p:normalViewPr>
  <p:slideViewPr>
    <p:cSldViewPr snapToGrid="0" snapToObjects="1">
      <p:cViewPr>
        <p:scale>
          <a:sx n="70" d="100"/>
          <a:sy n="70" d="100"/>
        </p:scale>
        <p:origin x="1206"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3F2FD"/>
                </a:solidFill>
                <a:latin typeface="Arial"/>
              </a:defRPr>
            </a:pPr>
            <a:r>
              <a:rPr lang="en-US" sz="1100" b="0" i="0" u="none" strike="noStrike" dirty="0">
                <a:solidFill>
                  <a:srgbClr val="E3F2FD"/>
                </a:solidFill>
                <a:latin typeface="Arial"/>
              </a:rPr>
              <a:t>Emotion Distribution in FER2013</a:t>
            </a:r>
          </a:p>
        </c:rich>
      </c:tx>
      <c:overlay val="0"/>
    </c:title>
    <c:autoTitleDeleted val="0"/>
    <c:plotArea>
      <c:layout/>
      <c:barChart>
        <c:barDir val="col"/>
        <c:grouping val="clustered"/>
        <c:varyColors val="0"/>
        <c:ser>
          <c:idx val="0"/>
          <c:order val="0"/>
          <c:tx>
            <c:strRef>
              <c:f>Sheet1!$B$1</c:f>
              <c:strCache>
                <c:ptCount val="1"/>
                <c:pt idx="0">
                  <c:v>Images</c:v>
                </c:pt>
              </c:strCache>
            </c:strRef>
          </c:tx>
          <c:spPr>
            <a:solidFill>
              <a:srgbClr val="00C853"/>
            </a:solidFill>
            <a:effectLst/>
          </c:spPr>
          <c:invertIfNegative val="0"/>
          <c:dPt>
            <c:idx val="0"/>
            <c:invertIfNegative val="0"/>
            <c:bubble3D val="0"/>
            <c:extLst>
              <c:ext xmlns:c16="http://schemas.microsoft.com/office/drawing/2014/chart" uri="{C3380CC4-5D6E-409C-BE32-E72D297353CC}">
                <c16:uniqueId val="{00000001-99F9-4E0E-AA27-8228070D4A34}"/>
              </c:ext>
            </c:extLst>
          </c:dPt>
          <c:dPt>
            <c:idx val="1"/>
            <c:invertIfNegative val="0"/>
            <c:bubble3D val="0"/>
            <c:spPr>
              <a:solidFill>
                <a:srgbClr val="90A4AE"/>
              </a:solidFill>
              <a:effectLst/>
            </c:spPr>
            <c:extLst>
              <c:ext xmlns:c16="http://schemas.microsoft.com/office/drawing/2014/chart" uri="{C3380CC4-5D6E-409C-BE32-E72D297353CC}">
                <c16:uniqueId val="{00000003-99F9-4E0E-AA27-8228070D4A34}"/>
              </c:ext>
            </c:extLst>
          </c:dPt>
          <c:dPt>
            <c:idx val="2"/>
            <c:invertIfNegative val="0"/>
            <c:bubble3D val="0"/>
            <c:spPr>
              <a:solidFill>
                <a:srgbClr val="1565C0"/>
              </a:solidFill>
              <a:effectLst/>
            </c:spPr>
            <c:extLst>
              <c:ext xmlns:c16="http://schemas.microsoft.com/office/drawing/2014/chart" uri="{C3380CC4-5D6E-409C-BE32-E72D297353CC}">
                <c16:uniqueId val="{00000005-99F9-4E0E-AA27-8228070D4A34}"/>
              </c:ext>
            </c:extLst>
          </c:dPt>
          <c:dPt>
            <c:idx val="3"/>
            <c:invertIfNegative val="0"/>
            <c:bubble3D val="0"/>
            <c:spPr>
              <a:solidFill>
                <a:srgbClr val="AB47BC"/>
              </a:solidFill>
              <a:effectLst/>
            </c:spPr>
            <c:extLst>
              <c:ext xmlns:c16="http://schemas.microsoft.com/office/drawing/2014/chart" uri="{C3380CC4-5D6E-409C-BE32-E72D297353CC}">
                <c16:uniqueId val="{00000007-99F9-4E0E-AA27-8228070D4A34}"/>
              </c:ext>
            </c:extLst>
          </c:dPt>
          <c:dPt>
            <c:idx val="4"/>
            <c:invertIfNegative val="0"/>
            <c:bubble3D val="0"/>
            <c:spPr>
              <a:solidFill>
                <a:srgbClr val="EF5350"/>
              </a:solidFill>
              <a:effectLst/>
            </c:spPr>
            <c:extLst>
              <c:ext xmlns:c16="http://schemas.microsoft.com/office/drawing/2014/chart" uri="{C3380CC4-5D6E-409C-BE32-E72D297353CC}">
                <c16:uniqueId val="{00000009-99F9-4E0E-AA27-8228070D4A34}"/>
              </c:ext>
            </c:extLst>
          </c:dPt>
          <c:dPt>
            <c:idx val="5"/>
            <c:invertIfNegative val="0"/>
            <c:bubble3D val="0"/>
            <c:spPr>
              <a:solidFill>
                <a:srgbClr val="FFD54F"/>
              </a:solidFill>
              <a:effectLst/>
            </c:spPr>
            <c:extLst>
              <c:ext xmlns:c16="http://schemas.microsoft.com/office/drawing/2014/chart" uri="{C3380CC4-5D6E-409C-BE32-E72D297353CC}">
                <c16:uniqueId val="{0000000B-99F9-4E0E-AA27-8228070D4A34}"/>
              </c:ext>
            </c:extLst>
          </c:dPt>
          <c:dPt>
            <c:idx val="6"/>
            <c:invertIfNegative val="0"/>
            <c:bubble3D val="0"/>
            <c:spPr>
              <a:solidFill>
                <a:srgbClr val="FF6F00"/>
              </a:solidFill>
              <a:effectLst/>
            </c:spPr>
            <c:extLst>
              <c:ext xmlns:c16="http://schemas.microsoft.com/office/drawing/2014/chart" uri="{C3380CC4-5D6E-409C-BE32-E72D297353CC}">
                <c16:uniqueId val="{0000000D-99F9-4E0E-AA27-8228070D4A34}"/>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Happy</c:v>
                </c:pt>
                <c:pt idx="1">
                  <c:v>Neutral</c:v>
                </c:pt>
                <c:pt idx="2">
                  <c:v>Sad</c:v>
                </c:pt>
                <c:pt idx="3">
                  <c:v>Fear</c:v>
                </c:pt>
                <c:pt idx="4">
                  <c:v>Angry</c:v>
                </c:pt>
                <c:pt idx="5">
                  <c:v>Surprise</c:v>
                </c:pt>
                <c:pt idx="6">
                  <c:v>Disgust</c:v>
                </c:pt>
              </c:strCache>
            </c:strRef>
          </c:cat>
          <c:val>
            <c:numRef>
              <c:f>Sheet1!$B$2:$B$8</c:f>
              <c:numCache>
                <c:formatCode>General</c:formatCode>
                <c:ptCount val="7"/>
                <c:pt idx="0">
                  <c:v>8989</c:v>
                </c:pt>
                <c:pt idx="1">
                  <c:v>6198</c:v>
                </c:pt>
                <c:pt idx="2">
                  <c:v>6077</c:v>
                </c:pt>
                <c:pt idx="3">
                  <c:v>5121</c:v>
                </c:pt>
                <c:pt idx="4">
                  <c:v>4953</c:v>
                </c:pt>
                <c:pt idx="5">
                  <c:v>4002</c:v>
                </c:pt>
                <c:pt idx="6">
                  <c:v>547</c:v>
                </c:pt>
              </c:numCache>
            </c:numRef>
          </c:val>
          <c:extLst>
            <c:ext xmlns:c16="http://schemas.microsoft.com/office/drawing/2014/chart" uri="{C3380CC4-5D6E-409C-BE32-E72D297353CC}">
              <c16:uniqueId val="{0000000E-99F9-4E0E-AA27-8228070D4A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13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E3F2FD"/>
                </a:solidFill>
                <a:latin typeface="Arial"/>
              </a:defRPr>
            </a:pPr>
            <a:r>
              <a:rPr lang="en-US" sz="1100" b="0" i="0" u="none" strike="noStrike" dirty="0">
                <a:solidFill>
                  <a:srgbClr val="E3F2FD"/>
                </a:solidFill>
                <a:latin typeface="Arial"/>
              </a:rPr>
              <a:t>Training &amp; Validation Loss</a:t>
            </a:r>
          </a:p>
        </c:rich>
      </c:tx>
      <c:overlay val="0"/>
    </c:title>
    <c:autoTitleDeleted val="0"/>
    <c:plotArea>
      <c:layout/>
      <c:lineChart>
        <c:grouping val="standard"/>
        <c:varyColors val="0"/>
        <c:ser>
          <c:idx val="0"/>
          <c:order val="0"/>
          <c:tx>
            <c:strRef>
              <c:f>Sheet1!$B$1</c:f>
              <c:strCache>
                <c:ptCount val="1"/>
                <c:pt idx="0">
                  <c:v>Train Loss</c:v>
                </c:pt>
              </c:strCache>
            </c:strRef>
          </c:tx>
          <c:spPr>
            <a:ln w="31750" cap="flat">
              <a:solidFill>
                <a:srgbClr val="EF5350"/>
              </a:solidFill>
              <a:prstDash val="solid"/>
              <a:round/>
            </a:ln>
            <a:effectLst/>
          </c:spPr>
          <c:marker>
            <c:symbol val="circle"/>
            <c:size val="6"/>
            <c:spPr>
              <a:solidFill>
                <a:srgbClr val="EF5350"/>
              </a:solidFill>
              <a:ln w="9525" cap="flat">
                <a:solidFill>
                  <a:srgbClr val="EF5350"/>
                </a:solidFill>
                <a:prstDash val="solid"/>
                <a:round/>
              </a:ln>
              <a:effectLst/>
            </c:spPr>
          </c:marker>
          <c:cat>
            <c:strRef>
              <c:f>Sheet1!$A$2:$A$11</c:f>
              <c:strCache>
                <c:ptCount val="10"/>
                <c:pt idx="0">
                  <c:v>E5</c:v>
                </c:pt>
                <c:pt idx="1">
                  <c:v>E10</c:v>
                </c:pt>
                <c:pt idx="2">
                  <c:v>E15</c:v>
                </c:pt>
                <c:pt idx="3">
                  <c:v>E20</c:v>
                </c:pt>
                <c:pt idx="4">
                  <c:v>E25</c:v>
                </c:pt>
                <c:pt idx="5">
                  <c:v>E30</c:v>
                </c:pt>
                <c:pt idx="6">
                  <c:v>E35</c:v>
                </c:pt>
                <c:pt idx="7">
                  <c:v>E40</c:v>
                </c:pt>
                <c:pt idx="8">
                  <c:v>E45</c:v>
                </c:pt>
                <c:pt idx="9">
                  <c:v>E50</c:v>
                </c:pt>
              </c:strCache>
            </c:strRef>
          </c:cat>
          <c:val>
            <c:numRef>
              <c:f>Sheet1!$B$2:$B$11</c:f>
              <c:numCache>
                <c:formatCode>General</c:formatCode>
                <c:ptCount val="10"/>
                <c:pt idx="0">
                  <c:v>1.85</c:v>
                </c:pt>
                <c:pt idx="1">
                  <c:v>1.52</c:v>
                </c:pt>
                <c:pt idx="2">
                  <c:v>1.28</c:v>
                </c:pt>
                <c:pt idx="3">
                  <c:v>1.08</c:v>
                </c:pt>
                <c:pt idx="4">
                  <c:v>0.94</c:v>
                </c:pt>
                <c:pt idx="5">
                  <c:v>0.84</c:v>
                </c:pt>
                <c:pt idx="6">
                  <c:v>0.75</c:v>
                </c:pt>
                <c:pt idx="7">
                  <c:v>0.7</c:v>
                </c:pt>
                <c:pt idx="8">
                  <c:v>0.67</c:v>
                </c:pt>
                <c:pt idx="9">
                  <c:v>0.65</c:v>
                </c:pt>
              </c:numCache>
            </c:numRef>
          </c:val>
          <c:smooth val="1"/>
          <c:extLst>
            <c:ext xmlns:c16="http://schemas.microsoft.com/office/drawing/2014/chart" uri="{C3380CC4-5D6E-409C-BE32-E72D297353CC}">
              <c16:uniqueId val="{00000000-32BF-45C1-BC10-42234743904C}"/>
            </c:ext>
          </c:extLst>
        </c:ser>
        <c:ser>
          <c:idx val="1"/>
          <c:order val="1"/>
          <c:tx>
            <c:strRef>
              <c:f>Sheet1!$C$1</c:f>
              <c:strCache>
                <c:ptCount val="1"/>
                <c:pt idx="0">
                  <c:v>Val Loss</c:v>
                </c:pt>
              </c:strCache>
            </c:strRef>
          </c:tx>
          <c:spPr>
            <a:ln w="31750" cap="flat">
              <a:solidFill>
                <a:srgbClr val="FF6F00"/>
              </a:solidFill>
              <a:prstDash val="solid"/>
              <a:round/>
            </a:ln>
            <a:effectLst/>
          </c:spPr>
          <c:marker>
            <c:symbol val="circle"/>
            <c:size val="6"/>
            <c:spPr>
              <a:solidFill>
                <a:srgbClr val="FF6F00"/>
              </a:solidFill>
              <a:ln w="9525" cap="flat">
                <a:solidFill>
                  <a:srgbClr val="FF6F00"/>
                </a:solidFill>
                <a:prstDash val="solid"/>
                <a:round/>
              </a:ln>
              <a:effectLst/>
            </c:spPr>
          </c:marker>
          <c:cat>
            <c:strRef>
              <c:f>Sheet1!$A$2:$A$11</c:f>
              <c:strCache>
                <c:ptCount val="10"/>
                <c:pt idx="0">
                  <c:v>E5</c:v>
                </c:pt>
                <c:pt idx="1">
                  <c:v>E10</c:v>
                </c:pt>
                <c:pt idx="2">
                  <c:v>E15</c:v>
                </c:pt>
                <c:pt idx="3">
                  <c:v>E20</c:v>
                </c:pt>
                <c:pt idx="4">
                  <c:v>E25</c:v>
                </c:pt>
                <c:pt idx="5">
                  <c:v>E30</c:v>
                </c:pt>
                <c:pt idx="6">
                  <c:v>E35</c:v>
                </c:pt>
                <c:pt idx="7">
                  <c:v>E40</c:v>
                </c:pt>
                <c:pt idx="8">
                  <c:v>E45</c:v>
                </c:pt>
                <c:pt idx="9">
                  <c:v>E50</c:v>
                </c:pt>
              </c:strCache>
            </c:strRef>
          </c:cat>
          <c:val>
            <c:numRef>
              <c:f>Sheet1!$C$2:$C$11</c:f>
              <c:numCache>
                <c:formatCode>General</c:formatCode>
                <c:ptCount val="10"/>
                <c:pt idx="0">
                  <c:v>2</c:v>
                </c:pt>
                <c:pt idx="1">
                  <c:v>1.65</c:v>
                </c:pt>
                <c:pt idx="2">
                  <c:v>1.38</c:v>
                </c:pt>
                <c:pt idx="3">
                  <c:v>1.18</c:v>
                </c:pt>
                <c:pt idx="4">
                  <c:v>1.02</c:v>
                </c:pt>
                <c:pt idx="5">
                  <c:v>0.91</c:v>
                </c:pt>
                <c:pt idx="6">
                  <c:v>0.82</c:v>
                </c:pt>
                <c:pt idx="7">
                  <c:v>0.76</c:v>
                </c:pt>
                <c:pt idx="8">
                  <c:v>0.73</c:v>
                </c:pt>
                <c:pt idx="9">
                  <c:v>0.71</c:v>
                </c:pt>
              </c:numCache>
            </c:numRef>
          </c:val>
          <c:smooth val="1"/>
          <c:extLst>
            <c:ext xmlns:c16="http://schemas.microsoft.com/office/drawing/2014/chart" uri="{C3380CC4-5D6E-409C-BE32-E72D297353CC}">
              <c16:uniqueId val="{00000001-32BF-45C1-BC10-42234743904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90A4AE"/>
              </a:solidFill>
            </a:defRPr>
          </a:pPr>
          <a:endParaRPr lang="en-US"/>
        </a:p>
      </c:txPr>
    </c:legend>
    <c:plotVisOnly val="1"/>
    <c:dispBlanksAs val="span"/>
    <c:showDLblsOverMax val="1"/>
  </c:chart>
  <c:spPr>
    <a:solidFill>
      <a:srgbClr val="0D213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Precision</c:v>
                </c:pt>
              </c:strCache>
            </c:strRef>
          </c:tx>
          <c:spPr>
            <a:solidFill>
              <a:srgbClr val="00BCD4"/>
            </a:solidFill>
            <a:effectLst/>
          </c:spPr>
          <c:invertIfNegative val="0"/>
          <c:cat>
            <c:strRef>
              <c:f>Sheet1!$A$2:$A$8</c:f>
              <c:strCache>
                <c:ptCount val="7"/>
                <c:pt idx="0">
                  <c:v>Happy</c:v>
                </c:pt>
                <c:pt idx="1">
                  <c:v>Neutral</c:v>
                </c:pt>
                <c:pt idx="2">
                  <c:v>Sad</c:v>
                </c:pt>
                <c:pt idx="3">
                  <c:v>Fear</c:v>
                </c:pt>
                <c:pt idx="4">
                  <c:v>Angry</c:v>
                </c:pt>
                <c:pt idx="5">
                  <c:v>Surprise</c:v>
                </c:pt>
                <c:pt idx="6">
                  <c:v>Disgust</c:v>
                </c:pt>
              </c:strCache>
            </c:strRef>
          </c:cat>
          <c:val>
            <c:numRef>
              <c:f>Sheet1!$B$2:$B$8</c:f>
              <c:numCache>
                <c:formatCode>General</c:formatCode>
                <c:ptCount val="7"/>
                <c:pt idx="0">
                  <c:v>91</c:v>
                </c:pt>
                <c:pt idx="1">
                  <c:v>78</c:v>
                </c:pt>
                <c:pt idx="2">
                  <c:v>75</c:v>
                </c:pt>
                <c:pt idx="3">
                  <c:v>68</c:v>
                </c:pt>
                <c:pt idx="4">
                  <c:v>74</c:v>
                </c:pt>
                <c:pt idx="5">
                  <c:v>78</c:v>
                </c:pt>
                <c:pt idx="6">
                  <c:v>62</c:v>
                </c:pt>
              </c:numCache>
            </c:numRef>
          </c:val>
          <c:extLst>
            <c:ext xmlns:c16="http://schemas.microsoft.com/office/drawing/2014/chart" uri="{C3380CC4-5D6E-409C-BE32-E72D297353CC}">
              <c16:uniqueId val="{00000000-2714-4F47-A5DC-06755BF8C830}"/>
            </c:ext>
          </c:extLst>
        </c:ser>
        <c:ser>
          <c:idx val="1"/>
          <c:order val="1"/>
          <c:tx>
            <c:strRef>
              <c:f>Sheet1!$C$1</c:f>
              <c:strCache>
                <c:ptCount val="1"/>
                <c:pt idx="0">
                  <c:v>Recall</c:v>
                </c:pt>
              </c:strCache>
            </c:strRef>
          </c:tx>
          <c:spPr>
            <a:solidFill>
              <a:srgbClr val="7B1FA2"/>
            </a:solidFill>
            <a:effectLst/>
          </c:spPr>
          <c:invertIfNegative val="0"/>
          <c:cat>
            <c:strRef>
              <c:f>Sheet1!$A$2:$A$8</c:f>
              <c:strCache>
                <c:ptCount val="7"/>
                <c:pt idx="0">
                  <c:v>Happy</c:v>
                </c:pt>
                <c:pt idx="1">
                  <c:v>Neutral</c:v>
                </c:pt>
                <c:pt idx="2">
                  <c:v>Sad</c:v>
                </c:pt>
                <c:pt idx="3">
                  <c:v>Fear</c:v>
                </c:pt>
                <c:pt idx="4">
                  <c:v>Angry</c:v>
                </c:pt>
                <c:pt idx="5">
                  <c:v>Surprise</c:v>
                </c:pt>
                <c:pt idx="6">
                  <c:v>Disgust</c:v>
                </c:pt>
              </c:strCache>
            </c:strRef>
          </c:cat>
          <c:val>
            <c:numRef>
              <c:f>Sheet1!$C$2:$C$8</c:f>
              <c:numCache>
                <c:formatCode>General</c:formatCode>
                <c:ptCount val="7"/>
                <c:pt idx="0">
                  <c:v>91</c:v>
                </c:pt>
                <c:pt idx="1">
                  <c:v>78</c:v>
                </c:pt>
                <c:pt idx="2">
                  <c:v>75</c:v>
                </c:pt>
                <c:pt idx="3">
                  <c:v>68</c:v>
                </c:pt>
                <c:pt idx="4">
                  <c:v>74</c:v>
                </c:pt>
                <c:pt idx="5">
                  <c:v>78</c:v>
                </c:pt>
                <c:pt idx="6">
                  <c:v>62</c:v>
                </c:pt>
              </c:numCache>
            </c:numRef>
          </c:val>
          <c:extLst>
            <c:ext xmlns:c16="http://schemas.microsoft.com/office/drawing/2014/chart" uri="{C3380CC4-5D6E-409C-BE32-E72D297353CC}">
              <c16:uniqueId val="{00000001-2714-4F47-A5DC-06755BF8C83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5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90A4AE"/>
              </a:solidFill>
            </a:defRPr>
          </a:pPr>
          <a:endParaRPr lang="en-US"/>
        </a:p>
      </c:txPr>
    </c:legend>
    <c:plotVisOnly val="1"/>
    <c:dispBlanksAs val="span"/>
    <c:showDLblsOverMax val="1"/>
  </c:chart>
  <c:spPr>
    <a:solidFill>
      <a:srgbClr val="0D2137"/>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Inference Time (ms)</c:v>
                </c:pt>
              </c:strCache>
            </c:strRef>
          </c:tx>
          <c:spPr>
            <a:solidFill>
              <a:srgbClr val="90A4AE"/>
            </a:solidFill>
            <a:effectLst/>
          </c:spPr>
          <c:invertIfNegative val="0"/>
          <c:dPt>
            <c:idx val="0"/>
            <c:invertIfNegative val="0"/>
            <c:bubble3D val="0"/>
            <c:extLst>
              <c:ext xmlns:c16="http://schemas.microsoft.com/office/drawing/2014/chart" uri="{C3380CC4-5D6E-409C-BE32-E72D297353CC}">
                <c16:uniqueId val="{00000001-2703-4D2D-8C04-962FFDD25843}"/>
              </c:ext>
            </c:extLst>
          </c:dPt>
          <c:dPt>
            <c:idx val="1"/>
            <c:invertIfNegative val="0"/>
            <c:bubble3D val="0"/>
            <c:spPr>
              <a:solidFill>
                <a:srgbClr val="1565C0"/>
              </a:solidFill>
              <a:effectLst/>
            </c:spPr>
            <c:extLst>
              <c:ext xmlns:c16="http://schemas.microsoft.com/office/drawing/2014/chart" uri="{C3380CC4-5D6E-409C-BE32-E72D297353CC}">
                <c16:uniqueId val="{00000003-2703-4D2D-8C04-962FFDD25843}"/>
              </c:ext>
            </c:extLst>
          </c:dPt>
          <c:dPt>
            <c:idx val="2"/>
            <c:invertIfNegative val="0"/>
            <c:bubble3D val="0"/>
            <c:spPr>
              <a:solidFill>
                <a:srgbClr val="7B1FA2"/>
              </a:solidFill>
              <a:effectLst/>
            </c:spPr>
            <c:extLst>
              <c:ext xmlns:c16="http://schemas.microsoft.com/office/drawing/2014/chart" uri="{C3380CC4-5D6E-409C-BE32-E72D297353CC}">
                <c16:uniqueId val="{00000005-2703-4D2D-8C04-962FFDD25843}"/>
              </c:ext>
            </c:extLst>
          </c:dPt>
          <c:dPt>
            <c:idx val="3"/>
            <c:invertIfNegative val="0"/>
            <c:bubble3D val="0"/>
            <c:spPr>
              <a:solidFill>
                <a:srgbClr val="00C853"/>
              </a:solidFill>
              <a:effectLst/>
            </c:spPr>
            <c:extLst>
              <c:ext xmlns:c16="http://schemas.microsoft.com/office/drawing/2014/chart" uri="{C3380CC4-5D6E-409C-BE32-E72D297353CC}">
                <c16:uniqueId val="{00000007-2703-4D2D-8C04-962FFDD25843}"/>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VGG-16</c:v>
                </c:pt>
                <c:pt idx="1">
                  <c:v>ResNet-50</c:v>
                </c:pt>
                <c:pt idx="2">
                  <c:v>EfficientNet</c:v>
                </c:pt>
                <c:pt idx="3">
                  <c:v>MobileNetV2</c:v>
                </c:pt>
              </c:strCache>
            </c:strRef>
          </c:cat>
          <c:val>
            <c:numRef>
              <c:f>Sheet1!$B$2:$B$5</c:f>
              <c:numCache>
                <c:formatCode>General</c:formatCode>
                <c:ptCount val="4"/>
                <c:pt idx="0">
                  <c:v>145</c:v>
                </c:pt>
                <c:pt idx="1">
                  <c:v>98</c:v>
                </c:pt>
                <c:pt idx="2">
                  <c:v>52</c:v>
                </c:pt>
                <c:pt idx="3">
                  <c:v>18</c:v>
                </c:pt>
              </c:numCache>
            </c:numRef>
          </c:val>
          <c:extLst>
            <c:ext xmlns:c16="http://schemas.microsoft.com/office/drawing/2014/chart" uri="{C3380CC4-5D6E-409C-BE32-E72D297353CC}">
              <c16:uniqueId val="{00000008-2703-4D2D-8C04-962FFDD2584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0A4A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2137"/>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912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FYP defense. Introduce yourself, your university, and give a brief overview of what this project is about — detecting human emotions in real-time using AI and deep learning.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Facial Emotion Detection uses deep learning to automatically identify emotions from face images. This technology has massive real-world applications and this project implements a lightweight, fast solution using MobileNetV2.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emotion analysis has several critical limitations — it is subjective, slow, and cannot scale. AI-powered systems like ours solve these problems by providing fast, consistent, and automated emotion detection.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6 core objectives: detecting all 7 emotions, real-time inference, a lightweight model, a Flask API backend, a React web interface, and achieving 78% accuracy on the FER2013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review shows a progression of CNN models from AlexNet to MobileNetV2. Our solution outperforms heavier models while being significantly smaller and faster — ideal for real-time deployment.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pipeline takes a camera input, detects faces using OpenCV, preprocesses the image, runs it through MobileNetV2, and outputs the emotion prediction in real-time at 18ms per face.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Three-tier architecture: React frontend communicates via HTTP/JSON with Flask backend, which loads and runs the TensorFlow MobileNetV2 model. SQLite handles persistent data storage.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FER2013 is the industry-standard dataset with 35,887 grayscale 48x48 images across 7 emotion classes. Note the class imbalance — Happy has the most images while Disgust is significantly underrepresented.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is critical for model performance. We detect faces, convert to grayscale, resize to 48x48, and normalize pixel values. Data augmentation helps prevent overfitting by artificially expanding the training 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MobileNetV2 uses depthwise separable convolutions to achieve 8-9x fewer computations than standard CNNs. Transfer learning from ImageNet significantly boosts performance even with the limited FER2013 dataset.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trained for 50 epochs with Adam optimizer, batch size 32, and learning rate 0.001. Both accuracy curves converge well with minimal overfitting, and loss decreases steadily across epochs.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uses a modern full-stack AI technology stack: React.js for the frontend, Flask for the API backend, TensorFlow/Keras for model training, OpenCV for face detection, and SQLite for data persistence.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analysis shows strong results — Happy achieves 91% accuracy while Disgust (with only 547 training samples) performs at 62%. Overall inference at 18ms makes MobileNetV2 8x faster than VGG-16.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offers 6 key advantages: real-time 18ms inference, a compact 15MB model, 78% accuracy, intuitive UI, CPU-only requirements, and a modular REST API — making it practical for real-world deployment.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 detection has vast real-world applications across 6 major domains: education, healthcare, security, robotics, automotive safety, and entertainment. Each represents a multi-billion dollar market opportunity.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successfully built a real-time facial emotion detection system using MobileNetV2, achieving 78% accuracy with a 15MB model at 18ms inference. Future work includes mobile deployment, cloud hosting, multi-face detection, and improved accuracy beyond 85%.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for their attention. Invite questions and be prepared to explain technical decisions such as the choice of MobileNetV2, the FER2013 dataset, Flask vs alternatives, and future improvement plans.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a:effectLst/>
      </p:bgPr>
    </p:bg>
    <p:spTree>
      <p:nvGrpSpPr>
        <p:cNvPr id="1" name=""/>
        <p:cNvGrpSpPr/>
        <p:nvPr/>
      </p:nvGrpSpPr>
      <p:grpSpPr>
        <a:xfrm>
          <a:off x="0" y="0"/>
          <a:ext cx="0" cy="0"/>
          <a:chOff x="0" y="0"/>
          <a:chExt cx="0" cy="0"/>
        </a:xfrm>
      </p:grpSpPr>
      <p:sp>
        <p:nvSpPr>
          <p:cNvPr id="3" name="Shape 1"/>
          <p:cNvSpPr/>
          <p:nvPr/>
        </p:nvSpPr>
        <p:spPr>
          <a:xfrm>
            <a:off x="6309360" y="2743200"/>
            <a:ext cx="3657600" cy="3657600"/>
          </a:xfrm>
          <a:prstGeom prst="ellipse">
            <a:avLst/>
          </a:prstGeom>
          <a:solidFill>
            <a:srgbClr val="7B1FA2">
              <a:alpha val="30000"/>
            </a:srgbClr>
          </a:solidFill>
          <a:ln w="12700">
            <a:solidFill>
              <a:srgbClr val="7B1FA2">
                <a:alpha val="0"/>
              </a:srgbClr>
            </a:solidFill>
            <a:prstDash val="solid"/>
          </a:ln>
        </p:spPr>
        <p:txBody>
          <a:bodyPr/>
          <a:lstStyle/>
          <a:p>
            <a:endParaRPr lang="en-US"/>
          </a:p>
        </p:txBody>
      </p:sp>
      <p:sp>
        <p:nvSpPr>
          <p:cNvPr id="4" name="Shape 2"/>
          <p:cNvSpPr/>
          <p:nvPr/>
        </p:nvSpPr>
        <p:spPr>
          <a:xfrm>
            <a:off x="3657600" y="-457200"/>
            <a:ext cx="2743200" cy="2743200"/>
          </a:xfrm>
          <a:prstGeom prst="ellipse">
            <a:avLst/>
          </a:prstGeom>
          <a:solidFill>
            <a:srgbClr val="00BCD4">
              <a:alpha val="15000"/>
            </a:srgbClr>
          </a:solidFill>
          <a:ln w="12700">
            <a:solidFill>
              <a:srgbClr val="00BCD4">
                <a:alpha val="0"/>
              </a:srgbClr>
            </a:solidFill>
            <a:prstDash val="solid"/>
          </a:ln>
        </p:spPr>
        <p:txBody>
          <a:bodyPr/>
          <a:lstStyle/>
          <a:p>
            <a:endParaRPr lang="en-US"/>
          </a:p>
        </p:txBody>
      </p:sp>
      <p:sp>
        <p:nvSpPr>
          <p:cNvPr id="11" name="Shape 9"/>
          <p:cNvSpPr/>
          <p:nvPr/>
        </p:nvSpPr>
        <p:spPr>
          <a:xfrm>
            <a:off x="1755648" y="4224528"/>
            <a:ext cx="146304" cy="146304"/>
          </a:xfrm>
          <a:prstGeom prst="ellipse">
            <a:avLst/>
          </a:prstGeom>
          <a:solidFill>
            <a:srgbClr val="00BCD4">
              <a:alpha val="70000"/>
            </a:srgbClr>
          </a:solidFill>
          <a:ln w="12700">
            <a:solidFill>
              <a:srgbClr val="00BCD4">
                <a:alpha val="0"/>
              </a:srgbClr>
            </a:solidFill>
            <a:prstDash val="solid"/>
          </a:ln>
        </p:spPr>
        <p:txBody>
          <a:bodyPr/>
          <a:lstStyle/>
          <a:p>
            <a:endParaRPr lang="en-US"/>
          </a:p>
        </p:txBody>
      </p:sp>
      <p:sp>
        <p:nvSpPr>
          <p:cNvPr id="36" name="Text 34"/>
          <p:cNvSpPr/>
          <p:nvPr/>
        </p:nvSpPr>
        <p:spPr>
          <a:xfrm>
            <a:off x="6675120" y="3081528"/>
            <a:ext cx="1920240" cy="201168"/>
          </a:xfrm>
          <a:prstGeom prst="rect">
            <a:avLst/>
          </a:prstGeom>
          <a:noFill/>
          <a:ln/>
        </p:spPr>
        <p:txBody>
          <a:bodyPr wrap="square" rtlCol="0" anchor="ctr"/>
          <a:lstStyle/>
          <a:p>
            <a:pPr marL="0" indent="0">
              <a:buNone/>
            </a:pPr>
            <a:endParaRPr lang="en-US" sz="800" dirty="0"/>
          </a:p>
        </p:txBody>
      </p:sp>
      <p:sp>
        <p:nvSpPr>
          <p:cNvPr id="37" name="Text 35"/>
          <p:cNvSpPr/>
          <p:nvPr/>
        </p:nvSpPr>
        <p:spPr>
          <a:xfrm>
            <a:off x="2061653" y="291013"/>
            <a:ext cx="5943600" cy="685800"/>
          </a:xfrm>
          <a:prstGeom prst="rect">
            <a:avLst/>
          </a:prstGeom>
          <a:noFill/>
          <a:ln/>
        </p:spPr>
        <p:txBody>
          <a:bodyPr wrap="square" rtlCol="0" anchor="ctr"/>
          <a:lstStyle/>
          <a:p>
            <a:pPr marL="0" indent="0" algn="l">
              <a:buNone/>
            </a:pPr>
            <a:r>
              <a:rPr lang="en-US" sz="3400" b="1" dirty="0">
                <a:solidFill>
                  <a:srgbClr val="FFFFFF"/>
                </a:solidFill>
                <a:latin typeface="Sitka Display Semibold" pitchFamily="2" charset="0"/>
                <a:ea typeface="Trebuchet MS" pitchFamily="34" charset="-122"/>
                <a:cs typeface="Trebuchet MS" pitchFamily="34" charset="-120"/>
              </a:rPr>
              <a:t>Face Emotion Detection</a:t>
            </a:r>
            <a:endParaRPr lang="en-US" sz="3400" dirty="0">
              <a:latin typeface="Sitka Display Semibold" pitchFamily="2" charset="0"/>
            </a:endParaRPr>
          </a:p>
        </p:txBody>
      </p:sp>
      <p:sp>
        <p:nvSpPr>
          <p:cNvPr id="38" name="Text 36"/>
          <p:cNvSpPr/>
          <p:nvPr/>
        </p:nvSpPr>
        <p:spPr>
          <a:xfrm>
            <a:off x="2560320" y="1097280"/>
            <a:ext cx="5943600" cy="502920"/>
          </a:xfrm>
          <a:prstGeom prst="rect">
            <a:avLst/>
          </a:prstGeom>
          <a:noFill/>
          <a:ln/>
        </p:spPr>
        <p:txBody>
          <a:bodyPr wrap="square" rtlCol="0" anchor="ctr"/>
          <a:lstStyle/>
          <a:p>
            <a:pPr marL="0" indent="0" algn="l">
              <a:buNone/>
            </a:pPr>
            <a:r>
              <a:rPr lang="en-US" sz="2600" b="1" dirty="0">
                <a:solidFill>
                  <a:srgbClr val="00BCD4"/>
                </a:solidFill>
                <a:latin typeface="Trebuchet MS" pitchFamily="34" charset="0"/>
                <a:ea typeface="Trebuchet MS" pitchFamily="34" charset="-122"/>
                <a:cs typeface="Trebuchet MS" pitchFamily="34" charset="-120"/>
              </a:rPr>
              <a:t>Using </a:t>
            </a:r>
            <a:r>
              <a:rPr lang="en-US" sz="2600" b="1" dirty="0">
                <a:solidFill>
                  <a:srgbClr val="00BCD4"/>
                </a:solidFill>
                <a:latin typeface="Sitka Display Semibold" pitchFamily="2" charset="0"/>
                <a:ea typeface="Trebuchet MS" pitchFamily="34" charset="-122"/>
                <a:cs typeface="Trebuchet MS" pitchFamily="34" charset="-120"/>
              </a:rPr>
              <a:t>MobileNetV2</a:t>
            </a:r>
            <a:endParaRPr lang="en-US" sz="2600" dirty="0">
              <a:latin typeface="Sitka Display Semibold" pitchFamily="2" charset="0"/>
            </a:endParaRPr>
          </a:p>
        </p:txBody>
      </p:sp>
      <p:sp>
        <p:nvSpPr>
          <p:cNvPr id="39" name="Shape 37"/>
          <p:cNvSpPr/>
          <p:nvPr/>
        </p:nvSpPr>
        <p:spPr>
          <a:xfrm>
            <a:off x="2560320" y="1719072"/>
            <a:ext cx="3840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40" name="Shape 38"/>
          <p:cNvSpPr/>
          <p:nvPr/>
        </p:nvSpPr>
        <p:spPr>
          <a:xfrm>
            <a:off x="1691640" y="1861669"/>
            <a:ext cx="5943600" cy="3040912"/>
          </a:xfrm>
          <a:prstGeom prst="roundRect">
            <a:avLst>
              <a:gd name="adj" fmla="val 5455"/>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1" name="Text 39"/>
          <p:cNvSpPr/>
          <p:nvPr/>
        </p:nvSpPr>
        <p:spPr>
          <a:xfrm>
            <a:off x="2061653" y="2241394"/>
            <a:ext cx="5390707" cy="1828800"/>
          </a:xfrm>
          <a:prstGeom prst="rect">
            <a:avLst/>
          </a:prstGeom>
          <a:noFill/>
          <a:ln/>
        </p:spPr>
        <p:txBody>
          <a:bodyPr wrap="square" rtlCol="0" anchor="t"/>
          <a:lstStyle/>
          <a:p>
            <a:pPr marL="0" indent="0">
              <a:buNone/>
            </a:pPr>
            <a:r>
              <a:rPr lang="en-US" b="1" dirty="0">
                <a:solidFill>
                  <a:srgbClr val="90A4AE"/>
                </a:solidFill>
                <a:latin typeface="Calibri" pitchFamily="34" charset="0"/>
                <a:ea typeface="Calibri" pitchFamily="34" charset="-122"/>
                <a:cs typeface="Calibri" pitchFamily="34" charset="-120"/>
              </a:rPr>
              <a:t>Student: </a:t>
            </a:r>
            <a:r>
              <a:rPr lang="en-US" dirty="0">
                <a:solidFill>
                  <a:srgbClr val="FFFFFF"/>
                </a:solidFill>
                <a:latin typeface="Calibri" pitchFamily="34" charset="0"/>
                <a:ea typeface="Calibri" pitchFamily="34" charset="-122"/>
                <a:cs typeface="Calibri" pitchFamily="34" charset="-120"/>
              </a:rPr>
              <a:t>Muhammad AbdurRehman Arif</a:t>
            </a:r>
            <a:r>
              <a:rPr lang="en-US" dirty="0">
                <a:solidFill>
                  <a:srgbClr val="000000"/>
                </a:solidFill>
                <a:latin typeface="Calibri" pitchFamily="34" charset="0"/>
                <a:ea typeface="Calibri" pitchFamily="34" charset="-122"/>
                <a:cs typeface="Calibri" pitchFamily="34" charset="-120"/>
              </a:rPr>
              <a:t>
</a:t>
            </a:r>
            <a:r>
              <a:rPr lang="en-US" b="1" dirty="0">
                <a:solidFill>
                  <a:srgbClr val="90A4AE"/>
                </a:solidFill>
                <a:latin typeface="Calibri" pitchFamily="34" charset="0"/>
                <a:ea typeface="Calibri" pitchFamily="34" charset="-122"/>
                <a:cs typeface="Calibri" pitchFamily="34" charset="-120"/>
              </a:rPr>
              <a:t>University:Government College University Faisalabad</a:t>
            </a:r>
            <a:r>
              <a:rPr lang="en-US" dirty="0">
                <a:solidFill>
                  <a:srgbClr val="000000"/>
                </a:solidFill>
                <a:latin typeface="Calibri" pitchFamily="34" charset="0"/>
                <a:ea typeface="Calibri" pitchFamily="34" charset="-122"/>
                <a:cs typeface="Calibri" pitchFamily="34" charset="-120"/>
              </a:rPr>
              <a:t>
</a:t>
            </a:r>
            <a:r>
              <a:rPr lang="en-US" b="1" dirty="0">
                <a:solidFill>
                  <a:srgbClr val="90A4AE"/>
                </a:solidFill>
                <a:latin typeface="Calibri" pitchFamily="34" charset="0"/>
                <a:ea typeface="Calibri" pitchFamily="34" charset="-122"/>
                <a:cs typeface="Calibri" pitchFamily="34" charset="-120"/>
              </a:rPr>
              <a:t>Department: BS </a:t>
            </a:r>
            <a:r>
              <a:rPr lang="en-US" dirty="0">
                <a:solidFill>
                  <a:srgbClr val="FFFFFF"/>
                </a:solidFill>
                <a:latin typeface="Calibri" pitchFamily="34" charset="0"/>
                <a:ea typeface="Calibri" pitchFamily="34" charset="-122"/>
                <a:cs typeface="Calibri" pitchFamily="34" charset="-120"/>
              </a:rPr>
              <a:t>Computer Science</a:t>
            </a:r>
            <a:r>
              <a:rPr lang="en-US" dirty="0">
                <a:solidFill>
                  <a:srgbClr val="000000"/>
                </a:solidFill>
                <a:latin typeface="Calibri" pitchFamily="34" charset="0"/>
                <a:ea typeface="Calibri" pitchFamily="34" charset="-122"/>
                <a:cs typeface="Calibri" pitchFamily="34" charset="-120"/>
              </a:rPr>
              <a:t>
</a:t>
            </a:r>
            <a:r>
              <a:rPr lang="en-US" b="1" dirty="0">
                <a:solidFill>
                  <a:srgbClr val="90A4AE"/>
                </a:solidFill>
                <a:latin typeface="Calibri" pitchFamily="34" charset="0"/>
                <a:ea typeface="Calibri" pitchFamily="34" charset="-122"/>
                <a:cs typeface="Calibri" pitchFamily="34" charset="-120"/>
              </a:rPr>
              <a:t>Session: </a:t>
            </a:r>
            <a:r>
              <a:rPr lang="en-US" dirty="0">
                <a:solidFill>
                  <a:srgbClr val="FFFFFF"/>
                </a:solidFill>
                <a:latin typeface="Calibri" pitchFamily="34" charset="0"/>
                <a:ea typeface="Calibri" pitchFamily="34" charset="-122"/>
                <a:cs typeface="Calibri" pitchFamily="34" charset="-120"/>
              </a:rPr>
              <a:t>2022 – 2026</a:t>
            </a:r>
            <a:r>
              <a:rPr lang="en-US" dirty="0">
                <a:solidFill>
                  <a:srgbClr val="000000"/>
                </a:solidFill>
                <a:latin typeface="Calibri" pitchFamily="34" charset="0"/>
                <a:ea typeface="Calibri" pitchFamily="34" charset="-122"/>
                <a:cs typeface="Calibri" pitchFamily="34" charset="-120"/>
              </a:rPr>
              <a:t>
</a:t>
            </a:r>
            <a:endParaRPr lang="en-US" dirty="0"/>
          </a:p>
        </p:txBody>
      </p:sp>
      <p:sp>
        <p:nvSpPr>
          <p:cNvPr id="42" name="Shape 40"/>
          <p:cNvSpPr/>
          <p:nvPr/>
        </p:nvSpPr>
        <p:spPr>
          <a:xfrm>
            <a:off x="2560320" y="4462275"/>
            <a:ext cx="2011680" cy="274320"/>
          </a:xfrm>
          <a:prstGeom prst="rect">
            <a:avLst/>
          </a:prstGeom>
          <a:solidFill>
            <a:srgbClr val="7B1FA2">
              <a:alpha val="80000"/>
            </a:srgbClr>
          </a:solidFill>
          <a:ln w="12700">
            <a:solidFill>
              <a:srgbClr val="AB47BC"/>
            </a:solidFill>
            <a:prstDash val="solid"/>
          </a:ln>
        </p:spPr>
        <p:txBody>
          <a:bodyPr/>
          <a:lstStyle/>
          <a:p>
            <a:endParaRPr lang="en-US"/>
          </a:p>
        </p:txBody>
      </p:sp>
      <p:sp>
        <p:nvSpPr>
          <p:cNvPr id="43" name="Text 41"/>
          <p:cNvSpPr/>
          <p:nvPr/>
        </p:nvSpPr>
        <p:spPr>
          <a:xfrm>
            <a:off x="2560320" y="4449918"/>
            <a:ext cx="20116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Industrial Development Project</a:t>
            </a:r>
            <a:endParaRPr lang="en-US" sz="900" dirty="0"/>
          </a:p>
        </p:txBody>
      </p:sp>
      <p:sp>
        <p:nvSpPr>
          <p:cNvPr id="44" name="Shape 42"/>
          <p:cNvSpPr/>
          <p:nvPr/>
        </p:nvSpPr>
        <p:spPr>
          <a:xfrm>
            <a:off x="4754880" y="4449918"/>
            <a:ext cx="1645920" cy="274320"/>
          </a:xfrm>
          <a:prstGeom prst="rect">
            <a:avLst/>
          </a:prstGeom>
          <a:solidFill>
            <a:srgbClr val="1A237E">
              <a:alpha val="80000"/>
            </a:srgbClr>
          </a:solidFill>
          <a:ln w="12700">
            <a:solidFill>
              <a:srgbClr val="00BCD4"/>
            </a:solidFill>
            <a:prstDash val="solid"/>
          </a:ln>
        </p:spPr>
        <p:txBody>
          <a:bodyPr/>
          <a:lstStyle/>
          <a:p>
            <a:endParaRPr lang="en-US"/>
          </a:p>
        </p:txBody>
      </p:sp>
      <p:sp>
        <p:nvSpPr>
          <p:cNvPr id="45" name="Text 43"/>
          <p:cNvSpPr/>
          <p:nvPr/>
        </p:nvSpPr>
        <p:spPr>
          <a:xfrm>
            <a:off x="4754880" y="4462275"/>
            <a:ext cx="1645920" cy="274320"/>
          </a:xfrm>
          <a:prstGeom prst="rect">
            <a:avLst/>
          </a:prstGeom>
          <a:noFill/>
          <a:ln/>
        </p:spPr>
        <p:txBody>
          <a:bodyPr wrap="square" rtlCol="0" anchor="ctr"/>
          <a:lstStyle/>
          <a:p>
            <a:pPr marL="0" indent="0" algn="ctr">
              <a:buNone/>
            </a:pPr>
            <a:r>
              <a:rPr lang="en-US" sz="900" dirty="0">
                <a:solidFill>
                  <a:srgbClr val="00BCD4"/>
                </a:solidFill>
                <a:latin typeface="Calibri" pitchFamily="34" charset="0"/>
                <a:ea typeface="Calibri" pitchFamily="34" charset="-122"/>
                <a:cs typeface="Calibri" pitchFamily="34" charset="-120"/>
              </a:rPr>
              <a:t>AI &amp; Computer Vision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1565C0">
              <a:alpha val="20000"/>
            </a:srgbClr>
          </a:solidFill>
          <a:ln w="12700">
            <a:solidFill>
              <a:srgbClr val="1565C0">
                <a:alpha val="0"/>
              </a:srgbClr>
            </a:solidFill>
            <a:prstDash val="solid"/>
          </a:ln>
        </p:spPr>
        <p:txBody>
          <a:bodyPr/>
          <a:lstStyle/>
          <a:p>
            <a:endParaRPr lang="en-US"/>
          </a:p>
        </p:txBody>
      </p:sp>
      <p:sp>
        <p:nvSpPr>
          <p:cNvPr id="3" name="Shape 1"/>
          <p:cNvSpPr/>
          <p:nvPr/>
        </p:nvSpPr>
        <p:spPr>
          <a:xfrm>
            <a:off x="7315200" y="3200400"/>
            <a:ext cx="3200400" cy="3200400"/>
          </a:xfrm>
          <a:prstGeom prst="ellipse">
            <a:avLst/>
          </a:prstGeom>
          <a:solidFill>
            <a:srgbClr val="7B1FA2">
              <a:alpha val="20000"/>
            </a:srgbClr>
          </a:solidFill>
          <a:ln w="12700">
            <a:solidFill>
              <a:srgbClr val="7B1FA2">
                <a:alpha val="0"/>
              </a:srgbClr>
            </a:solidFill>
            <a:prstDash val="solid"/>
          </a:ln>
        </p:spPr>
        <p:txBody>
          <a:bodyPr/>
          <a:lstStyle/>
          <a:p>
            <a:endParaRPr lang="en-US" dirty="0"/>
          </a:p>
        </p:txBody>
      </p:sp>
      <p:sp>
        <p:nvSpPr>
          <p:cNvPr id="4" name="Shape 2"/>
          <p:cNvSpPr/>
          <p:nvPr/>
        </p:nvSpPr>
        <p:spPr>
          <a:xfrm>
            <a:off x="3657600" y="-914400"/>
            <a:ext cx="2743200" cy="2743200"/>
          </a:xfrm>
          <a:prstGeom prst="ellipse">
            <a:avLst/>
          </a:prstGeom>
          <a:solidFill>
            <a:srgbClr val="00BCD4">
              <a:alpha val="15000"/>
            </a:srgbClr>
          </a:solidFill>
          <a:ln w="12700">
            <a:solidFill>
              <a:srgbClr val="00BCD4">
                <a:alpha val="0"/>
              </a:srgbClr>
            </a:solidFill>
            <a:prstDash val="solid"/>
          </a:ln>
        </p:spPr>
        <p:txBody>
          <a:bodyPr/>
          <a:lstStyle/>
          <a:p>
            <a:endParaRPr lang="en-US"/>
          </a:p>
        </p:txBody>
      </p:sp>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Introduction</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Shape 5"/>
          <p:cNvSpPr/>
          <p:nvPr/>
        </p:nvSpPr>
        <p:spPr>
          <a:xfrm>
            <a:off x="365760" y="896112"/>
            <a:ext cx="4480560" cy="914400"/>
          </a:xfrm>
          <a:prstGeom prst="roundRect">
            <a:avLst>
              <a:gd name="adj" fmla="val 12632"/>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dirty="0">
              <a:solidFill>
                <a:schemeClr val="tx2">
                  <a:lumMod val="40000"/>
                  <a:lumOff val="60000"/>
                </a:schemeClr>
              </a:solidFill>
            </a:endParaRPr>
          </a:p>
        </p:txBody>
      </p:sp>
      <p:sp>
        <p:nvSpPr>
          <p:cNvPr id="8" name="Text 6"/>
          <p:cNvSpPr/>
          <p:nvPr/>
        </p:nvSpPr>
        <p:spPr>
          <a:xfrm>
            <a:off x="502920" y="987552"/>
            <a:ext cx="457200" cy="457200"/>
          </a:xfrm>
          <a:prstGeom prst="rect">
            <a:avLst/>
          </a:prstGeom>
          <a:noFill/>
          <a:ln/>
        </p:spPr>
        <p:txBody>
          <a:bodyPr wrap="square" rtlCol="0" anchor="ctr"/>
          <a:lstStyle/>
          <a:p>
            <a:pPr marL="0" indent="0">
              <a:buNone/>
            </a:pPr>
            <a:endParaRPr lang="en-US" sz="2000" dirty="0"/>
          </a:p>
        </p:txBody>
      </p:sp>
      <p:sp>
        <p:nvSpPr>
          <p:cNvPr id="9" name="Text 7"/>
          <p:cNvSpPr/>
          <p:nvPr/>
        </p:nvSpPr>
        <p:spPr>
          <a:xfrm>
            <a:off x="1005840" y="941832"/>
            <a:ext cx="3840480" cy="274320"/>
          </a:xfrm>
          <a:prstGeom prst="rect">
            <a:avLst/>
          </a:prstGeom>
          <a:noFill/>
          <a:ln/>
        </p:spPr>
        <p:txBody>
          <a:bodyPr wrap="square" rtlCol="0" anchor="ctr"/>
          <a:lstStyle/>
          <a:p>
            <a:pPr marL="0" indent="0">
              <a:buNone/>
            </a:pPr>
            <a:r>
              <a:rPr lang="en-US" sz="1400" b="1" dirty="0">
                <a:solidFill>
                  <a:srgbClr val="00BCD4"/>
                </a:solidFill>
                <a:latin typeface="Calibri" pitchFamily="34" charset="0"/>
                <a:ea typeface="Calibri" pitchFamily="34" charset="-122"/>
                <a:cs typeface="Calibri" pitchFamily="34" charset="-120"/>
              </a:rPr>
              <a:t>What is Facial Emotion Detection?</a:t>
            </a:r>
            <a:endParaRPr lang="en-US" sz="1400" dirty="0"/>
          </a:p>
        </p:txBody>
      </p:sp>
      <p:sp>
        <p:nvSpPr>
          <p:cNvPr id="10" name="Text 8"/>
          <p:cNvSpPr/>
          <p:nvPr/>
        </p:nvSpPr>
        <p:spPr>
          <a:xfrm>
            <a:off x="1005840" y="1142010"/>
            <a:ext cx="3840480" cy="5029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Automatic recognition of human emotions from facial expressions using AI and computer vision techniques.</a:t>
            </a:r>
            <a:endParaRPr lang="en-US" sz="1200" dirty="0"/>
          </a:p>
        </p:txBody>
      </p:sp>
      <p:sp>
        <p:nvSpPr>
          <p:cNvPr id="11" name="Shape 9"/>
          <p:cNvSpPr/>
          <p:nvPr/>
        </p:nvSpPr>
        <p:spPr>
          <a:xfrm>
            <a:off x="365760" y="1901952"/>
            <a:ext cx="4480560" cy="777240"/>
          </a:xfrm>
          <a:prstGeom prst="roundRect">
            <a:avLst>
              <a:gd name="adj" fmla="val 12632"/>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2" name="Text 10"/>
          <p:cNvSpPr/>
          <p:nvPr/>
        </p:nvSpPr>
        <p:spPr>
          <a:xfrm>
            <a:off x="502920" y="1993392"/>
            <a:ext cx="457200" cy="457200"/>
          </a:xfrm>
          <a:prstGeom prst="rect">
            <a:avLst/>
          </a:prstGeom>
          <a:noFill/>
          <a:ln/>
        </p:spPr>
        <p:txBody>
          <a:bodyPr wrap="square" rtlCol="0" anchor="ctr"/>
          <a:lstStyle/>
          <a:p>
            <a:pPr marL="0" indent="0">
              <a:buNone/>
            </a:pPr>
            <a:endParaRPr lang="en-US" sz="2000" dirty="0"/>
          </a:p>
        </p:txBody>
      </p:sp>
      <p:sp>
        <p:nvSpPr>
          <p:cNvPr id="13" name="Text 11"/>
          <p:cNvSpPr/>
          <p:nvPr/>
        </p:nvSpPr>
        <p:spPr>
          <a:xfrm>
            <a:off x="1005840" y="1947672"/>
            <a:ext cx="3840480" cy="274320"/>
          </a:xfrm>
          <a:prstGeom prst="rect">
            <a:avLst/>
          </a:prstGeom>
          <a:noFill/>
          <a:ln/>
        </p:spPr>
        <p:txBody>
          <a:bodyPr wrap="square" rtlCol="0" anchor="ctr"/>
          <a:lstStyle/>
          <a:p>
            <a:pPr marL="0" indent="0">
              <a:buNone/>
            </a:pPr>
            <a:r>
              <a:rPr lang="en-US" sz="1400" b="1" dirty="0">
                <a:solidFill>
                  <a:srgbClr val="00BCD4"/>
                </a:solidFill>
                <a:latin typeface="Calibri" pitchFamily="34" charset="0"/>
                <a:ea typeface="Calibri" pitchFamily="34" charset="-122"/>
                <a:cs typeface="Calibri" pitchFamily="34" charset="-120"/>
              </a:rPr>
              <a:t>Why It Matters</a:t>
            </a:r>
            <a:endParaRPr lang="en-US" sz="1400" dirty="0"/>
          </a:p>
        </p:txBody>
      </p:sp>
      <p:sp>
        <p:nvSpPr>
          <p:cNvPr id="14" name="Text 12"/>
          <p:cNvSpPr/>
          <p:nvPr/>
        </p:nvSpPr>
        <p:spPr>
          <a:xfrm>
            <a:off x="1005840" y="2147850"/>
            <a:ext cx="3840480" cy="5029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Enables machines to understand human emotions, bridging the gap between human-computer interaction.</a:t>
            </a:r>
            <a:endParaRPr lang="en-US" sz="1200" dirty="0"/>
          </a:p>
        </p:txBody>
      </p:sp>
      <p:sp>
        <p:nvSpPr>
          <p:cNvPr id="15" name="Shape 13"/>
          <p:cNvSpPr/>
          <p:nvPr/>
        </p:nvSpPr>
        <p:spPr>
          <a:xfrm>
            <a:off x="365760" y="2907792"/>
            <a:ext cx="4480560" cy="822960"/>
          </a:xfrm>
          <a:prstGeom prst="roundRect">
            <a:avLst>
              <a:gd name="adj" fmla="val 12632"/>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6" name="Text 14"/>
          <p:cNvSpPr/>
          <p:nvPr/>
        </p:nvSpPr>
        <p:spPr>
          <a:xfrm>
            <a:off x="502920" y="2999232"/>
            <a:ext cx="457200" cy="457200"/>
          </a:xfrm>
          <a:prstGeom prst="rect">
            <a:avLst/>
          </a:prstGeom>
          <a:noFill/>
          <a:ln/>
        </p:spPr>
        <p:txBody>
          <a:bodyPr wrap="square" rtlCol="0" anchor="ctr"/>
          <a:lstStyle/>
          <a:p>
            <a:pPr marL="0" indent="0">
              <a:buNone/>
            </a:pPr>
            <a:endParaRPr lang="en-US" sz="2000" dirty="0"/>
          </a:p>
        </p:txBody>
      </p:sp>
      <p:sp>
        <p:nvSpPr>
          <p:cNvPr id="17" name="Text 15"/>
          <p:cNvSpPr/>
          <p:nvPr/>
        </p:nvSpPr>
        <p:spPr>
          <a:xfrm>
            <a:off x="1005840" y="2953512"/>
            <a:ext cx="3840480" cy="274320"/>
          </a:xfrm>
          <a:prstGeom prst="rect">
            <a:avLst/>
          </a:prstGeom>
          <a:noFill/>
          <a:ln/>
        </p:spPr>
        <p:txBody>
          <a:bodyPr wrap="square" rtlCol="0" anchor="ctr"/>
          <a:lstStyle/>
          <a:p>
            <a:pPr marL="0" indent="0">
              <a:buNone/>
            </a:pPr>
            <a:r>
              <a:rPr lang="en-US" sz="1400" b="1" dirty="0">
                <a:solidFill>
                  <a:srgbClr val="00BCD4"/>
                </a:solidFill>
                <a:latin typeface="Calibri" pitchFamily="34" charset="0"/>
                <a:ea typeface="Calibri" pitchFamily="34" charset="-122"/>
                <a:cs typeface="Calibri" pitchFamily="34" charset="-120"/>
              </a:rPr>
              <a:t>Core Technology</a:t>
            </a:r>
            <a:endParaRPr lang="en-US" sz="1400" dirty="0"/>
          </a:p>
        </p:txBody>
      </p:sp>
      <p:sp>
        <p:nvSpPr>
          <p:cNvPr id="18" name="Text 16"/>
          <p:cNvSpPr/>
          <p:nvPr/>
        </p:nvSpPr>
        <p:spPr>
          <a:xfrm>
            <a:off x="1005840" y="3128976"/>
            <a:ext cx="3840480" cy="5029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Deep learning with Convolutional Neural Networks (CNNs) trained to classify 7 distinct emotional states.</a:t>
            </a:r>
            <a:endParaRPr lang="en-US" sz="1200" dirty="0"/>
          </a:p>
        </p:txBody>
      </p:sp>
      <p:sp>
        <p:nvSpPr>
          <p:cNvPr id="19" name="Shape 17"/>
          <p:cNvSpPr/>
          <p:nvPr/>
        </p:nvSpPr>
        <p:spPr>
          <a:xfrm>
            <a:off x="365760" y="3913632"/>
            <a:ext cx="4480560" cy="822960"/>
          </a:xfrm>
          <a:prstGeom prst="roundRect">
            <a:avLst>
              <a:gd name="adj" fmla="val 12632"/>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0" name="Text 18"/>
          <p:cNvSpPr/>
          <p:nvPr/>
        </p:nvSpPr>
        <p:spPr>
          <a:xfrm>
            <a:off x="502920" y="4005072"/>
            <a:ext cx="457200" cy="457200"/>
          </a:xfrm>
          <a:prstGeom prst="rect">
            <a:avLst/>
          </a:prstGeom>
          <a:noFill/>
          <a:ln/>
        </p:spPr>
        <p:txBody>
          <a:bodyPr wrap="square" rtlCol="0" anchor="ctr"/>
          <a:lstStyle/>
          <a:p>
            <a:pPr marL="0" indent="0">
              <a:buNone/>
            </a:pPr>
            <a:endParaRPr lang="en-US" sz="2000" dirty="0"/>
          </a:p>
        </p:txBody>
      </p:sp>
      <p:sp>
        <p:nvSpPr>
          <p:cNvPr id="21" name="Text 19"/>
          <p:cNvSpPr/>
          <p:nvPr/>
        </p:nvSpPr>
        <p:spPr>
          <a:xfrm>
            <a:off x="1005840" y="3959352"/>
            <a:ext cx="3840480" cy="274320"/>
          </a:xfrm>
          <a:prstGeom prst="rect">
            <a:avLst/>
          </a:prstGeom>
          <a:noFill/>
          <a:ln/>
        </p:spPr>
        <p:txBody>
          <a:bodyPr wrap="square" rtlCol="0" anchor="ctr"/>
          <a:lstStyle/>
          <a:p>
            <a:pPr marL="0" indent="0">
              <a:buNone/>
            </a:pPr>
            <a:r>
              <a:rPr lang="en-US" sz="1400" b="1" dirty="0">
                <a:solidFill>
                  <a:srgbClr val="00BCD4"/>
                </a:solidFill>
                <a:latin typeface="Calibri" pitchFamily="34" charset="0"/>
                <a:ea typeface="Calibri" pitchFamily="34" charset="-122"/>
                <a:cs typeface="Calibri" pitchFamily="34" charset="-120"/>
              </a:rPr>
              <a:t>Real-World Impact</a:t>
            </a:r>
            <a:endParaRPr lang="en-US" sz="1400" dirty="0"/>
          </a:p>
        </p:txBody>
      </p:sp>
      <p:sp>
        <p:nvSpPr>
          <p:cNvPr id="22" name="Text 20"/>
          <p:cNvSpPr/>
          <p:nvPr/>
        </p:nvSpPr>
        <p:spPr>
          <a:xfrm>
            <a:off x="1005840" y="4110102"/>
            <a:ext cx="3840480" cy="5029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Applied in healthcare, education, security, autonomous driving, and human-robot interaction.</a:t>
            </a:r>
            <a:endParaRPr lang="en-US" sz="1200" dirty="0"/>
          </a:p>
        </p:txBody>
      </p:sp>
      <p:sp>
        <p:nvSpPr>
          <p:cNvPr id="24" name="Text 22"/>
          <p:cNvSpPr/>
          <p:nvPr/>
        </p:nvSpPr>
        <p:spPr>
          <a:xfrm>
            <a:off x="5394960" y="914400"/>
            <a:ext cx="3383280" cy="320040"/>
          </a:xfrm>
          <a:prstGeom prst="rect">
            <a:avLst/>
          </a:prstGeom>
          <a:noFill/>
          <a:ln/>
        </p:spPr>
        <p:txBody>
          <a:bodyPr wrap="square" rtlCol="0" anchor="ctr"/>
          <a:lstStyle/>
          <a:p>
            <a:pPr marL="0" indent="0" algn="ctr">
              <a:buNone/>
            </a:pPr>
            <a:endParaRPr lang="en-US" sz="1100" dirty="0"/>
          </a:p>
        </p:txBody>
      </p:sp>
      <p:pic>
        <p:nvPicPr>
          <p:cNvPr id="47" name="Picture 46">
            <a:extLst>
              <a:ext uri="{FF2B5EF4-FFF2-40B4-BE49-F238E27FC236}">
                <a16:creationId xmlns:a16="http://schemas.microsoft.com/office/drawing/2014/main" id="{7FA028D8-FAC6-460D-9CAE-D256B8AB3A58}"/>
              </a:ext>
            </a:extLst>
          </p:cNvPr>
          <p:cNvPicPr>
            <a:picLocks noChangeAspect="1"/>
          </p:cNvPicPr>
          <p:nvPr/>
        </p:nvPicPr>
        <p:blipFill rotWithShape="1">
          <a:blip r:embed="rId3"/>
          <a:srcRect/>
          <a:stretch/>
        </p:blipFill>
        <p:spPr>
          <a:xfrm>
            <a:off x="5161107" y="1024314"/>
            <a:ext cx="3708573" cy="34011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1565C0">
              <a:alpha val="20000"/>
            </a:srgbClr>
          </a:solidFill>
          <a:ln w="12700">
            <a:solidFill>
              <a:srgbClr val="1565C0">
                <a:alpha val="0"/>
              </a:srgbClr>
            </a:solidFill>
            <a:prstDash val="solid"/>
          </a:ln>
        </p:spPr>
        <p:txBody>
          <a:bodyPr/>
          <a:lstStyle/>
          <a:p>
            <a:endParaRPr lang="en-US"/>
          </a:p>
        </p:txBody>
      </p:sp>
      <p:sp>
        <p:nvSpPr>
          <p:cNvPr id="3" name="Shape 1"/>
          <p:cNvSpPr/>
          <p:nvPr/>
        </p:nvSpPr>
        <p:spPr>
          <a:xfrm>
            <a:off x="7315200" y="3200400"/>
            <a:ext cx="3200400" cy="3200400"/>
          </a:xfrm>
          <a:prstGeom prst="ellipse">
            <a:avLst/>
          </a:prstGeom>
          <a:solidFill>
            <a:srgbClr val="7B1FA2">
              <a:alpha val="20000"/>
            </a:srgbClr>
          </a:solidFill>
          <a:ln w="12700">
            <a:solidFill>
              <a:srgbClr val="7B1FA2">
                <a:alpha val="0"/>
              </a:srgbClr>
            </a:solidFill>
            <a:prstDash val="solid"/>
          </a:ln>
        </p:spPr>
        <p:txBody>
          <a:bodyPr/>
          <a:lstStyle/>
          <a:p>
            <a:endParaRPr lang="en-US"/>
          </a:p>
        </p:txBody>
      </p:sp>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Problem</a:t>
            </a:r>
            <a:r>
              <a:rPr lang="en-US" sz="2800" b="1" dirty="0">
                <a:solidFill>
                  <a:srgbClr val="FFFFFF"/>
                </a:solidFill>
                <a:latin typeface="Trebuchet MS" pitchFamily="34" charset="0"/>
                <a:ea typeface="Trebuchet MS" pitchFamily="34" charset="-122"/>
                <a:cs typeface="Trebuchet MS" pitchFamily="34" charset="-120"/>
              </a:rPr>
              <a:t> Statement</a:t>
            </a:r>
            <a:endParaRPr lang="en-US" sz="2800" dirty="0"/>
          </a:p>
        </p:txBody>
      </p:sp>
      <p:sp>
        <p:nvSpPr>
          <p:cNvPr id="5" name="Shape 3"/>
          <p:cNvSpPr/>
          <p:nvPr/>
        </p:nvSpPr>
        <p:spPr>
          <a:xfrm>
            <a:off x="365760" y="713232"/>
            <a:ext cx="8412480" cy="27432"/>
          </a:xfrm>
          <a:prstGeom prst="rect">
            <a:avLst/>
          </a:prstGeom>
          <a:solidFill>
            <a:srgbClr val="EF5350"/>
          </a:solidFill>
          <a:ln w="12700">
            <a:solidFill>
              <a:srgbClr val="EF5350">
                <a:alpha val="0"/>
              </a:srgbClr>
            </a:solidFill>
            <a:prstDash val="solid"/>
          </a:ln>
        </p:spPr>
        <p:txBody>
          <a:bodyPr/>
          <a:lstStyle/>
          <a:p>
            <a:endParaRPr lang="en-US"/>
          </a:p>
        </p:txBody>
      </p:sp>
      <p:sp>
        <p:nvSpPr>
          <p:cNvPr id="6" name="Shape 4"/>
          <p:cNvSpPr/>
          <p:nvPr/>
        </p:nvSpPr>
        <p:spPr>
          <a:xfrm>
            <a:off x="365760" y="896112"/>
            <a:ext cx="73152" cy="777240"/>
          </a:xfrm>
          <a:prstGeom prst="rect">
            <a:avLst/>
          </a:prstGeom>
          <a:solidFill>
            <a:srgbClr val="EF5350"/>
          </a:solidFill>
          <a:ln w="12700">
            <a:solidFill>
              <a:srgbClr val="EF5350">
                <a:alpha val="0"/>
              </a:srgbClr>
            </a:solidFill>
            <a:prstDash val="solid"/>
          </a:ln>
        </p:spPr>
        <p:txBody>
          <a:bodyPr/>
          <a:lstStyle/>
          <a:p>
            <a:endParaRPr lang="en-US"/>
          </a:p>
        </p:txBody>
      </p:sp>
      <p:sp>
        <p:nvSpPr>
          <p:cNvPr id="7" name="Shape 5"/>
          <p:cNvSpPr/>
          <p:nvPr/>
        </p:nvSpPr>
        <p:spPr>
          <a:xfrm>
            <a:off x="457200" y="896112"/>
            <a:ext cx="4389120" cy="777240"/>
          </a:xfrm>
          <a:prstGeom prst="roundRect">
            <a:avLst>
              <a:gd name="adj" fmla="val 14118"/>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8" name="Text 6"/>
          <p:cNvSpPr/>
          <p:nvPr/>
        </p:nvSpPr>
        <p:spPr>
          <a:xfrm>
            <a:off x="548640" y="969264"/>
            <a:ext cx="457200" cy="457200"/>
          </a:xfrm>
          <a:prstGeom prst="rect">
            <a:avLst/>
          </a:prstGeom>
          <a:noFill/>
          <a:ln/>
        </p:spPr>
        <p:txBody>
          <a:bodyPr wrap="square" rtlCol="0" anchor="ctr"/>
          <a:lstStyle/>
          <a:p>
            <a:pPr marL="0" indent="0">
              <a:buNone/>
            </a:pPr>
            <a:endParaRPr lang="en-US" sz="1800" dirty="0"/>
          </a:p>
        </p:txBody>
      </p:sp>
      <p:sp>
        <p:nvSpPr>
          <p:cNvPr id="9" name="Text 7"/>
          <p:cNvSpPr/>
          <p:nvPr/>
        </p:nvSpPr>
        <p:spPr>
          <a:xfrm>
            <a:off x="1051560" y="941832"/>
            <a:ext cx="3657600" cy="274320"/>
          </a:xfrm>
          <a:prstGeom prst="rect">
            <a:avLst/>
          </a:prstGeom>
          <a:noFill/>
          <a:ln/>
        </p:spPr>
        <p:txBody>
          <a:bodyPr wrap="square" rtlCol="0" anchor="ctr"/>
          <a:lstStyle/>
          <a:p>
            <a:pPr marL="0" indent="0">
              <a:buNone/>
            </a:pPr>
            <a:r>
              <a:rPr lang="en-US" sz="1600" b="1" dirty="0">
                <a:solidFill>
                  <a:srgbClr val="FF6B6B"/>
                </a:solidFill>
                <a:latin typeface="Calibri" pitchFamily="34" charset="0"/>
                <a:ea typeface="Calibri" pitchFamily="34" charset="-122"/>
                <a:cs typeface="Calibri" pitchFamily="34" charset="-120"/>
              </a:rPr>
              <a:t>Human Limitations</a:t>
            </a:r>
            <a:endParaRPr lang="en-US" sz="1600" dirty="0"/>
          </a:p>
        </p:txBody>
      </p:sp>
      <p:sp>
        <p:nvSpPr>
          <p:cNvPr id="10" name="Text 8"/>
          <p:cNvSpPr/>
          <p:nvPr/>
        </p:nvSpPr>
        <p:spPr>
          <a:xfrm>
            <a:off x="1051560" y="1216152"/>
            <a:ext cx="3657600" cy="41148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 Human Can make mistakes,  Missing small emotions</a:t>
            </a:r>
          </a:p>
          <a:p>
            <a:pPr marL="0" indent="0">
              <a:buNone/>
            </a:pPr>
            <a:endParaRPr lang="en-US" sz="1200" dirty="0"/>
          </a:p>
        </p:txBody>
      </p:sp>
      <p:sp>
        <p:nvSpPr>
          <p:cNvPr id="11" name="Shape 9"/>
          <p:cNvSpPr/>
          <p:nvPr/>
        </p:nvSpPr>
        <p:spPr>
          <a:xfrm>
            <a:off x="365760" y="1856232"/>
            <a:ext cx="73152" cy="777240"/>
          </a:xfrm>
          <a:prstGeom prst="rect">
            <a:avLst/>
          </a:prstGeom>
          <a:solidFill>
            <a:srgbClr val="EF5350"/>
          </a:solidFill>
          <a:ln w="12700">
            <a:solidFill>
              <a:srgbClr val="EF5350">
                <a:alpha val="0"/>
              </a:srgbClr>
            </a:solidFill>
            <a:prstDash val="solid"/>
          </a:ln>
        </p:spPr>
        <p:txBody>
          <a:bodyPr/>
          <a:lstStyle/>
          <a:p>
            <a:endParaRPr lang="en-US"/>
          </a:p>
        </p:txBody>
      </p:sp>
      <p:sp>
        <p:nvSpPr>
          <p:cNvPr id="12" name="Shape 10"/>
          <p:cNvSpPr/>
          <p:nvPr/>
        </p:nvSpPr>
        <p:spPr>
          <a:xfrm>
            <a:off x="457200" y="1856232"/>
            <a:ext cx="4389120" cy="777240"/>
          </a:xfrm>
          <a:prstGeom prst="roundRect">
            <a:avLst>
              <a:gd name="adj" fmla="val 14118"/>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3" name="Text 11"/>
          <p:cNvSpPr/>
          <p:nvPr/>
        </p:nvSpPr>
        <p:spPr>
          <a:xfrm>
            <a:off x="548640" y="1929384"/>
            <a:ext cx="457200" cy="457200"/>
          </a:xfrm>
          <a:prstGeom prst="rect">
            <a:avLst/>
          </a:prstGeom>
          <a:noFill/>
          <a:ln/>
        </p:spPr>
        <p:txBody>
          <a:bodyPr wrap="square" rtlCol="0" anchor="ctr"/>
          <a:lstStyle/>
          <a:p>
            <a:pPr marL="0" indent="0">
              <a:buNone/>
            </a:pPr>
            <a:endParaRPr lang="en-US" sz="1800" dirty="0"/>
          </a:p>
        </p:txBody>
      </p:sp>
      <p:sp>
        <p:nvSpPr>
          <p:cNvPr id="14" name="Text 12"/>
          <p:cNvSpPr/>
          <p:nvPr/>
        </p:nvSpPr>
        <p:spPr>
          <a:xfrm>
            <a:off x="1051560" y="1901952"/>
            <a:ext cx="3657600" cy="274320"/>
          </a:xfrm>
          <a:prstGeom prst="rect">
            <a:avLst/>
          </a:prstGeom>
          <a:noFill/>
          <a:ln/>
        </p:spPr>
        <p:txBody>
          <a:bodyPr wrap="square" rtlCol="0" anchor="ctr"/>
          <a:lstStyle/>
          <a:p>
            <a:pPr marL="0" indent="0">
              <a:buNone/>
            </a:pPr>
            <a:r>
              <a:rPr lang="en-US" sz="1600" b="1" dirty="0">
                <a:solidFill>
                  <a:srgbClr val="FF6B6B"/>
                </a:solidFill>
                <a:latin typeface="Calibri" pitchFamily="34" charset="0"/>
                <a:ea typeface="Calibri" pitchFamily="34" charset="-122"/>
                <a:cs typeface="Calibri" pitchFamily="34" charset="-120"/>
              </a:rPr>
              <a:t>Slow Processing</a:t>
            </a:r>
            <a:endParaRPr lang="en-US" sz="1600" dirty="0"/>
          </a:p>
        </p:txBody>
      </p:sp>
      <p:sp>
        <p:nvSpPr>
          <p:cNvPr id="15" name="Text 13"/>
          <p:cNvSpPr/>
          <p:nvPr/>
        </p:nvSpPr>
        <p:spPr>
          <a:xfrm>
            <a:off x="1051560" y="2176272"/>
            <a:ext cx="3657600" cy="41148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More Waiting time, Delayed Results,  Low efficiency, poor user experience</a:t>
            </a:r>
            <a:endParaRPr lang="en-US" sz="1200" dirty="0"/>
          </a:p>
        </p:txBody>
      </p:sp>
      <p:sp>
        <p:nvSpPr>
          <p:cNvPr id="16" name="Shape 14"/>
          <p:cNvSpPr/>
          <p:nvPr/>
        </p:nvSpPr>
        <p:spPr>
          <a:xfrm>
            <a:off x="365760" y="2816352"/>
            <a:ext cx="73152" cy="777240"/>
          </a:xfrm>
          <a:prstGeom prst="rect">
            <a:avLst/>
          </a:prstGeom>
          <a:solidFill>
            <a:srgbClr val="EF5350"/>
          </a:solidFill>
          <a:ln w="12700">
            <a:solidFill>
              <a:srgbClr val="EF5350">
                <a:alpha val="0"/>
              </a:srgbClr>
            </a:solidFill>
            <a:prstDash val="solid"/>
          </a:ln>
        </p:spPr>
        <p:txBody>
          <a:bodyPr/>
          <a:lstStyle/>
          <a:p>
            <a:endParaRPr lang="en-US"/>
          </a:p>
        </p:txBody>
      </p:sp>
      <p:sp>
        <p:nvSpPr>
          <p:cNvPr id="17" name="Shape 15"/>
          <p:cNvSpPr/>
          <p:nvPr/>
        </p:nvSpPr>
        <p:spPr>
          <a:xfrm>
            <a:off x="457200" y="2816352"/>
            <a:ext cx="4389120" cy="777240"/>
          </a:xfrm>
          <a:prstGeom prst="roundRect">
            <a:avLst>
              <a:gd name="adj" fmla="val 14118"/>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8" name="Text 16"/>
          <p:cNvSpPr/>
          <p:nvPr/>
        </p:nvSpPr>
        <p:spPr>
          <a:xfrm>
            <a:off x="548640" y="2889504"/>
            <a:ext cx="457200" cy="457200"/>
          </a:xfrm>
          <a:prstGeom prst="rect">
            <a:avLst/>
          </a:prstGeom>
          <a:noFill/>
          <a:ln/>
        </p:spPr>
        <p:txBody>
          <a:bodyPr wrap="square" rtlCol="0" anchor="ctr"/>
          <a:lstStyle/>
          <a:p>
            <a:pPr marL="0" indent="0">
              <a:buNone/>
            </a:pPr>
            <a:endParaRPr lang="en-US" sz="1800" dirty="0"/>
          </a:p>
        </p:txBody>
      </p:sp>
      <p:sp>
        <p:nvSpPr>
          <p:cNvPr id="19" name="Text 17"/>
          <p:cNvSpPr/>
          <p:nvPr/>
        </p:nvSpPr>
        <p:spPr>
          <a:xfrm>
            <a:off x="1051560" y="2862072"/>
            <a:ext cx="3657600" cy="274320"/>
          </a:xfrm>
          <a:prstGeom prst="rect">
            <a:avLst/>
          </a:prstGeom>
          <a:noFill/>
          <a:ln/>
        </p:spPr>
        <p:txBody>
          <a:bodyPr wrap="square" rtlCol="0" anchor="ctr"/>
          <a:lstStyle/>
          <a:p>
            <a:pPr marL="0" indent="0">
              <a:buNone/>
            </a:pPr>
            <a:r>
              <a:rPr lang="en-US" sz="1600" b="1" dirty="0">
                <a:solidFill>
                  <a:srgbClr val="FF6B6B"/>
                </a:solidFill>
                <a:latin typeface="Calibri" pitchFamily="34" charset="0"/>
                <a:ea typeface="Calibri" pitchFamily="34" charset="-122"/>
                <a:cs typeface="Calibri" pitchFamily="34" charset="-120"/>
              </a:rPr>
              <a:t>Lack of Model weights</a:t>
            </a:r>
            <a:endParaRPr lang="en-US" sz="1600" dirty="0"/>
          </a:p>
        </p:txBody>
      </p:sp>
      <p:sp>
        <p:nvSpPr>
          <p:cNvPr id="20" name="Text 18"/>
          <p:cNvSpPr/>
          <p:nvPr/>
        </p:nvSpPr>
        <p:spPr>
          <a:xfrm>
            <a:off x="1051560" y="3136392"/>
            <a:ext cx="3657600" cy="41148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 Low Accuracy, Poor Predictions, Weak Performance, Training Issues </a:t>
            </a:r>
            <a:endParaRPr lang="en-US" sz="1200" dirty="0"/>
          </a:p>
        </p:txBody>
      </p:sp>
      <p:sp>
        <p:nvSpPr>
          <p:cNvPr id="21" name="Shape 19"/>
          <p:cNvSpPr/>
          <p:nvPr/>
        </p:nvSpPr>
        <p:spPr>
          <a:xfrm>
            <a:off x="365760" y="3776472"/>
            <a:ext cx="73152" cy="777240"/>
          </a:xfrm>
          <a:prstGeom prst="rect">
            <a:avLst/>
          </a:prstGeom>
          <a:solidFill>
            <a:srgbClr val="EF5350"/>
          </a:solidFill>
          <a:ln w="12700">
            <a:solidFill>
              <a:srgbClr val="EF5350">
                <a:alpha val="0"/>
              </a:srgbClr>
            </a:solidFill>
            <a:prstDash val="solid"/>
          </a:ln>
        </p:spPr>
        <p:txBody>
          <a:bodyPr/>
          <a:lstStyle/>
          <a:p>
            <a:endParaRPr lang="en-US"/>
          </a:p>
        </p:txBody>
      </p:sp>
      <p:sp>
        <p:nvSpPr>
          <p:cNvPr id="22" name="Shape 20"/>
          <p:cNvSpPr/>
          <p:nvPr/>
        </p:nvSpPr>
        <p:spPr>
          <a:xfrm>
            <a:off x="457200" y="3776472"/>
            <a:ext cx="4389120" cy="777240"/>
          </a:xfrm>
          <a:prstGeom prst="roundRect">
            <a:avLst>
              <a:gd name="adj" fmla="val 14118"/>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3" name="Text 21"/>
          <p:cNvSpPr/>
          <p:nvPr/>
        </p:nvSpPr>
        <p:spPr>
          <a:xfrm>
            <a:off x="548640" y="3849624"/>
            <a:ext cx="457200" cy="457200"/>
          </a:xfrm>
          <a:prstGeom prst="rect">
            <a:avLst/>
          </a:prstGeom>
          <a:noFill/>
          <a:ln/>
        </p:spPr>
        <p:txBody>
          <a:bodyPr wrap="square" rtlCol="0" anchor="ctr"/>
          <a:lstStyle/>
          <a:p>
            <a:pPr marL="0" indent="0">
              <a:buNone/>
            </a:pPr>
            <a:endParaRPr lang="en-US" sz="1800" dirty="0"/>
          </a:p>
        </p:txBody>
      </p:sp>
      <p:sp>
        <p:nvSpPr>
          <p:cNvPr id="24" name="Text 22"/>
          <p:cNvSpPr/>
          <p:nvPr/>
        </p:nvSpPr>
        <p:spPr>
          <a:xfrm>
            <a:off x="1051560" y="3822192"/>
            <a:ext cx="3657600" cy="274320"/>
          </a:xfrm>
          <a:prstGeom prst="rect">
            <a:avLst/>
          </a:prstGeom>
          <a:noFill/>
          <a:ln/>
        </p:spPr>
        <p:txBody>
          <a:bodyPr wrap="square" rtlCol="0" anchor="ctr"/>
          <a:lstStyle/>
          <a:p>
            <a:pPr marL="0" indent="0">
              <a:buNone/>
            </a:pPr>
            <a:r>
              <a:rPr lang="en-US" sz="1600" b="1" dirty="0">
                <a:solidFill>
                  <a:srgbClr val="FF6B6B"/>
                </a:solidFill>
                <a:latin typeface="Calibri" pitchFamily="34" charset="0"/>
                <a:ea typeface="Calibri" pitchFamily="34" charset="-122"/>
                <a:cs typeface="Calibri" pitchFamily="34" charset="-120"/>
              </a:rPr>
              <a:t>Lack of Automation</a:t>
            </a:r>
            <a:endParaRPr lang="en-US" sz="1600" dirty="0"/>
          </a:p>
        </p:txBody>
      </p:sp>
      <p:sp>
        <p:nvSpPr>
          <p:cNvPr id="25" name="Text 23"/>
          <p:cNvSpPr/>
          <p:nvPr/>
        </p:nvSpPr>
        <p:spPr>
          <a:xfrm>
            <a:off x="1051560" y="4096512"/>
            <a:ext cx="3657600" cy="41148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Manual work  needed , More human effort , Time Consuming </a:t>
            </a:r>
            <a:endParaRPr lang="en-US" sz="1200" dirty="0"/>
          </a:p>
        </p:txBody>
      </p:sp>
      <p:sp>
        <p:nvSpPr>
          <p:cNvPr id="26" name="Shape 24"/>
          <p:cNvSpPr/>
          <p:nvPr/>
        </p:nvSpPr>
        <p:spPr>
          <a:xfrm>
            <a:off x="5212080" y="868680"/>
            <a:ext cx="3657600" cy="3977640"/>
          </a:xfrm>
          <a:prstGeom prst="roundRect">
            <a:avLst>
              <a:gd name="adj" fmla="val 3000"/>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dirty="0"/>
          </a:p>
        </p:txBody>
      </p:sp>
      <p:sp>
        <p:nvSpPr>
          <p:cNvPr id="27" name="Text 25"/>
          <p:cNvSpPr/>
          <p:nvPr/>
        </p:nvSpPr>
        <p:spPr>
          <a:xfrm>
            <a:off x="5303520" y="914400"/>
            <a:ext cx="3474720" cy="320040"/>
          </a:xfrm>
          <a:prstGeom prst="rect">
            <a:avLst/>
          </a:prstGeom>
          <a:noFill/>
          <a:ln/>
        </p:spPr>
        <p:txBody>
          <a:bodyPr wrap="square" rtlCol="0" anchor="ctr"/>
          <a:lstStyle/>
          <a:p>
            <a:pPr marL="0" indent="0" algn="ctr">
              <a:buNone/>
            </a:pPr>
            <a:r>
              <a:rPr lang="en-US" sz="1100" b="1" dirty="0">
                <a:solidFill>
                  <a:srgbClr val="00BCD4"/>
                </a:solidFill>
                <a:latin typeface="Calibri" pitchFamily="34" charset="0"/>
                <a:ea typeface="Calibri" pitchFamily="34" charset="-122"/>
                <a:cs typeface="Calibri" pitchFamily="34" charset="-120"/>
              </a:rPr>
              <a:t>TRADITIONAL vs AI SYSTEM</a:t>
            </a:r>
            <a:endParaRPr lang="en-US" sz="1100" dirty="0"/>
          </a:p>
        </p:txBody>
      </p:sp>
      <p:sp>
        <p:nvSpPr>
          <p:cNvPr id="28" name="Shape 26"/>
          <p:cNvSpPr/>
          <p:nvPr/>
        </p:nvSpPr>
        <p:spPr>
          <a:xfrm>
            <a:off x="5349240" y="1298448"/>
            <a:ext cx="1554480" cy="274320"/>
          </a:xfrm>
          <a:prstGeom prst="rect">
            <a:avLst/>
          </a:prstGeom>
          <a:solidFill>
            <a:srgbClr val="EF5350">
              <a:alpha val="70000"/>
            </a:srgbClr>
          </a:solidFill>
          <a:ln w="12700">
            <a:solidFill>
              <a:srgbClr val="EF5350">
                <a:alpha val="0"/>
              </a:srgbClr>
            </a:solidFill>
            <a:prstDash val="solid"/>
          </a:ln>
        </p:spPr>
        <p:txBody>
          <a:bodyPr/>
          <a:lstStyle/>
          <a:p>
            <a:endParaRPr lang="en-US"/>
          </a:p>
        </p:txBody>
      </p:sp>
      <p:sp>
        <p:nvSpPr>
          <p:cNvPr id="29" name="Text 27"/>
          <p:cNvSpPr/>
          <p:nvPr/>
        </p:nvSpPr>
        <p:spPr>
          <a:xfrm>
            <a:off x="5349240" y="1298448"/>
            <a:ext cx="1554480" cy="274320"/>
          </a:xfrm>
          <a:prstGeom prst="rect">
            <a:avLst/>
          </a:prstGeom>
          <a:noFill/>
          <a:ln/>
        </p:spPr>
        <p:txBody>
          <a:bodyPr wrap="square" rtlCol="0" anchor="ctr"/>
          <a:lstStyle/>
          <a:p>
            <a:pPr marL="0" indent="0" algn="ctr">
              <a:buNone/>
            </a:pPr>
            <a:r>
              <a:rPr lang="en-US" sz="1000" b="1" dirty="0">
                <a:solidFill>
                  <a:srgbClr val="FFFFFF"/>
                </a:solidFill>
                <a:latin typeface="Sitka Display Semibold" pitchFamily="2" charset="0"/>
                <a:ea typeface="Calibri" pitchFamily="34" charset="-122"/>
                <a:cs typeface="Calibri" pitchFamily="34" charset="-120"/>
              </a:rPr>
              <a:t>TRADITIONAL</a:t>
            </a:r>
            <a:endParaRPr lang="en-US" sz="1000" dirty="0">
              <a:latin typeface="Sitka Display Semibold" pitchFamily="2" charset="0"/>
            </a:endParaRPr>
          </a:p>
        </p:txBody>
      </p:sp>
      <p:sp>
        <p:nvSpPr>
          <p:cNvPr id="30" name="Shape 28"/>
          <p:cNvSpPr/>
          <p:nvPr/>
        </p:nvSpPr>
        <p:spPr>
          <a:xfrm>
            <a:off x="5376672" y="1645920"/>
            <a:ext cx="164592" cy="164592"/>
          </a:xfrm>
          <a:prstGeom prst="ellipse">
            <a:avLst/>
          </a:prstGeom>
          <a:solidFill>
            <a:srgbClr val="EF5350"/>
          </a:solidFill>
          <a:ln w="12700">
            <a:solidFill>
              <a:srgbClr val="EF5350">
                <a:alpha val="0"/>
              </a:srgbClr>
            </a:solidFill>
            <a:prstDash val="solid"/>
          </a:ln>
        </p:spPr>
        <p:txBody>
          <a:bodyPr/>
          <a:lstStyle/>
          <a:p>
            <a:endParaRPr lang="en-US"/>
          </a:p>
        </p:txBody>
      </p:sp>
      <p:sp>
        <p:nvSpPr>
          <p:cNvPr id="31" name="Text 29"/>
          <p:cNvSpPr/>
          <p:nvPr/>
        </p:nvSpPr>
        <p:spPr>
          <a:xfrm>
            <a:off x="5596128" y="1636776"/>
            <a:ext cx="1234440" cy="201168"/>
          </a:xfrm>
          <a:prstGeom prst="rect">
            <a:avLst/>
          </a:prstGeom>
          <a:noFill/>
          <a:ln/>
        </p:spPr>
        <p:txBody>
          <a:bodyPr wrap="square" rtlCol="0" anchor="ctr"/>
          <a:lstStyle/>
          <a:p>
            <a:pPr marL="0" indent="0">
              <a:buNone/>
            </a:pPr>
            <a:r>
              <a:rPr lang="en-US" sz="1200" dirty="0">
                <a:solidFill>
                  <a:srgbClr val="FF9090"/>
                </a:solidFill>
                <a:latin typeface="Calibri" pitchFamily="34" charset="0"/>
                <a:ea typeface="Calibri" pitchFamily="34" charset="-122"/>
                <a:cs typeface="Calibri" pitchFamily="34" charset="-120"/>
              </a:rPr>
              <a:t>Manual </a:t>
            </a:r>
            <a:endParaRPr lang="en-US" sz="1200" dirty="0"/>
          </a:p>
        </p:txBody>
      </p:sp>
      <p:sp>
        <p:nvSpPr>
          <p:cNvPr id="32" name="Shape 30"/>
          <p:cNvSpPr/>
          <p:nvPr/>
        </p:nvSpPr>
        <p:spPr>
          <a:xfrm>
            <a:off x="5376672" y="2103120"/>
            <a:ext cx="164592" cy="164592"/>
          </a:xfrm>
          <a:prstGeom prst="ellipse">
            <a:avLst/>
          </a:prstGeom>
          <a:solidFill>
            <a:srgbClr val="EF5350"/>
          </a:solidFill>
          <a:ln w="12700">
            <a:solidFill>
              <a:srgbClr val="EF5350">
                <a:alpha val="0"/>
              </a:srgbClr>
            </a:solidFill>
            <a:prstDash val="solid"/>
          </a:ln>
        </p:spPr>
        <p:txBody>
          <a:bodyPr/>
          <a:lstStyle/>
          <a:p>
            <a:endParaRPr lang="en-US"/>
          </a:p>
        </p:txBody>
      </p:sp>
      <p:sp>
        <p:nvSpPr>
          <p:cNvPr id="33" name="Text 31"/>
          <p:cNvSpPr/>
          <p:nvPr/>
        </p:nvSpPr>
        <p:spPr>
          <a:xfrm>
            <a:off x="5596128" y="2093976"/>
            <a:ext cx="1234440" cy="201168"/>
          </a:xfrm>
          <a:prstGeom prst="rect">
            <a:avLst/>
          </a:prstGeom>
          <a:noFill/>
          <a:ln/>
        </p:spPr>
        <p:txBody>
          <a:bodyPr wrap="square" rtlCol="0" anchor="ctr"/>
          <a:lstStyle/>
          <a:p>
            <a:pPr marL="0" indent="0">
              <a:buNone/>
            </a:pPr>
            <a:r>
              <a:rPr lang="en-US" sz="1200" dirty="0">
                <a:solidFill>
                  <a:srgbClr val="FF9090"/>
                </a:solidFill>
                <a:latin typeface="Calibri" pitchFamily="34" charset="0"/>
                <a:ea typeface="Calibri" pitchFamily="34" charset="-122"/>
                <a:cs typeface="Calibri" pitchFamily="34" charset="-120"/>
              </a:rPr>
              <a:t>Fixed</a:t>
            </a:r>
            <a:endParaRPr lang="en-US" sz="1200" dirty="0"/>
          </a:p>
        </p:txBody>
      </p:sp>
      <p:sp>
        <p:nvSpPr>
          <p:cNvPr id="34" name="Shape 32"/>
          <p:cNvSpPr/>
          <p:nvPr/>
        </p:nvSpPr>
        <p:spPr>
          <a:xfrm>
            <a:off x="5376672" y="2560320"/>
            <a:ext cx="164592" cy="164592"/>
          </a:xfrm>
          <a:prstGeom prst="ellipse">
            <a:avLst/>
          </a:prstGeom>
          <a:solidFill>
            <a:srgbClr val="EF5350"/>
          </a:solidFill>
          <a:ln w="12700">
            <a:solidFill>
              <a:srgbClr val="EF5350">
                <a:alpha val="0"/>
              </a:srgbClr>
            </a:solidFill>
            <a:prstDash val="solid"/>
          </a:ln>
        </p:spPr>
        <p:txBody>
          <a:bodyPr/>
          <a:lstStyle/>
          <a:p>
            <a:endParaRPr lang="en-US"/>
          </a:p>
        </p:txBody>
      </p:sp>
      <p:sp>
        <p:nvSpPr>
          <p:cNvPr id="35" name="Text 33"/>
          <p:cNvSpPr/>
          <p:nvPr/>
        </p:nvSpPr>
        <p:spPr>
          <a:xfrm>
            <a:off x="5596128" y="2551176"/>
            <a:ext cx="1234440" cy="201168"/>
          </a:xfrm>
          <a:prstGeom prst="rect">
            <a:avLst/>
          </a:prstGeom>
          <a:noFill/>
          <a:ln/>
        </p:spPr>
        <p:txBody>
          <a:bodyPr wrap="square" rtlCol="0" anchor="ctr"/>
          <a:lstStyle/>
          <a:p>
            <a:pPr marL="0" indent="0">
              <a:buNone/>
            </a:pPr>
            <a:r>
              <a:rPr lang="en-US" sz="1200" dirty="0">
                <a:solidFill>
                  <a:srgbClr val="FF9090"/>
                </a:solidFill>
                <a:latin typeface="Calibri" pitchFamily="34" charset="0"/>
                <a:ea typeface="Calibri" pitchFamily="34" charset="-122"/>
                <a:cs typeface="Calibri" pitchFamily="34" charset="-120"/>
              </a:rPr>
              <a:t>Slow </a:t>
            </a:r>
            <a:endParaRPr lang="en-US" sz="1200" dirty="0"/>
          </a:p>
        </p:txBody>
      </p:sp>
      <p:sp>
        <p:nvSpPr>
          <p:cNvPr id="36" name="Shape 34"/>
          <p:cNvSpPr/>
          <p:nvPr/>
        </p:nvSpPr>
        <p:spPr>
          <a:xfrm>
            <a:off x="5376672" y="3017520"/>
            <a:ext cx="164592" cy="164592"/>
          </a:xfrm>
          <a:prstGeom prst="ellipse">
            <a:avLst/>
          </a:prstGeom>
          <a:solidFill>
            <a:srgbClr val="EF5350"/>
          </a:solidFill>
          <a:ln w="12700">
            <a:solidFill>
              <a:srgbClr val="EF5350">
                <a:alpha val="0"/>
              </a:srgbClr>
            </a:solidFill>
            <a:prstDash val="solid"/>
          </a:ln>
        </p:spPr>
        <p:txBody>
          <a:bodyPr/>
          <a:lstStyle/>
          <a:p>
            <a:endParaRPr lang="en-US"/>
          </a:p>
        </p:txBody>
      </p:sp>
      <p:sp>
        <p:nvSpPr>
          <p:cNvPr id="37" name="Text 35"/>
          <p:cNvSpPr/>
          <p:nvPr/>
        </p:nvSpPr>
        <p:spPr>
          <a:xfrm>
            <a:off x="5596128" y="3008376"/>
            <a:ext cx="1234440" cy="201168"/>
          </a:xfrm>
          <a:prstGeom prst="rect">
            <a:avLst/>
          </a:prstGeom>
          <a:noFill/>
          <a:ln/>
        </p:spPr>
        <p:txBody>
          <a:bodyPr wrap="square" rtlCol="0" anchor="ctr"/>
          <a:lstStyle/>
          <a:p>
            <a:pPr marL="0" indent="0">
              <a:buNone/>
            </a:pPr>
            <a:r>
              <a:rPr lang="en-US" sz="1200" dirty="0">
                <a:solidFill>
                  <a:srgbClr val="FF9090"/>
                </a:solidFill>
                <a:latin typeface="Calibri" pitchFamily="34" charset="0"/>
                <a:ea typeface="Calibri" pitchFamily="34" charset="-122"/>
                <a:cs typeface="Calibri" pitchFamily="34" charset="-120"/>
              </a:rPr>
              <a:t>Limited</a:t>
            </a:r>
            <a:endParaRPr lang="en-US" sz="1200" dirty="0"/>
          </a:p>
        </p:txBody>
      </p:sp>
      <p:sp>
        <p:nvSpPr>
          <p:cNvPr id="38" name="Shape 36"/>
          <p:cNvSpPr/>
          <p:nvPr/>
        </p:nvSpPr>
        <p:spPr>
          <a:xfrm>
            <a:off x="5376672" y="3474720"/>
            <a:ext cx="164592" cy="164592"/>
          </a:xfrm>
          <a:prstGeom prst="ellipse">
            <a:avLst/>
          </a:prstGeom>
          <a:solidFill>
            <a:srgbClr val="EF5350"/>
          </a:solidFill>
          <a:ln w="12700">
            <a:solidFill>
              <a:srgbClr val="EF5350">
                <a:alpha val="0"/>
              </a:srgbClr>
            </a:solidFill>
            <a:prstDash val="solid"/>
          </a:ln>
        </p:spPr>
        <p:txBody>
          <a:bodyPr/>
          <a:lstStyle/>
          <a:p>
            <a:endParaRPr lang="en-US"/>
          </a:p>
        </p:txBody>
      </p:sp>
      <p:sp>
        <p:nvSpPr>
          <p:cNvPr id="39" name="Text 37"/>
          <p:cNvSpPr/>
          <p:nvPr/>
        </p:nvSpPr>
        <p:spPr>
          <a:xfrm>
            <a:off x="5596128" y="3465576"/>
            <a:ext cx="1234440" cy="201168"/>
          </a:xfrm>
          <a:prstGeom prst="rect">
            <a:avLst/>
          </a:prstGeom>
          <a:noFill/>
          <a:ln/>
        </p:spPr>
        <p:txBody>
          <a:bodyPr wrap="square" rtlCol="0" anchor="ctr"/>
          <a:lstStyle/>
          <a:p>
            <a:pPr marL="0" indent="0">
              <a:buNone/>
            </a:pPr>
            <a:r>
              <a:rPr lang="en-US" sz="1200" dirty="0">
                <a:solidFill>
                  <a:srgbClr val="FF9090"/>
                </a:solidFill>
                <a:latin typeface="Calibri" pitchFamily="34" charset="0"/>
                <a:ea typeface="Calibri" pitchFamily="34" charset="-122"/>
                <a:cs typeface="Calibri" pitchFamily="34" charset="-120"/>
              </a:rPr>
              <a:t>Rule-Based </a:t>
            </a:r>
            <a:endParaRPr lang="en-US" sz="1200" dirty="0"/>
          </a:p>
        </p:txBody>
      </p:sp>
      <p:sp>
        <p:nvSpPr>
          <p:cNvPr id="40" name="Shape 38"/>
          <p:cNvSpPr/>
          <p:nvPr/>
        </p:nvSpPr>
        <p:spPr>
          <a:xfrm>
            <a:off x="6812280" y="2286000"/>
            <a:ext cx="548640" cy="548640"/>
          </a:xfrm>
          <a:prstGeom prst="ellipse">
            <a:avLst/>
          </a:prstGeom>
          <a:solidFill>
            <a:srgbClr val="7B1FA2">
              <a:alpha val="80000"/>
            </a:srgbClr>
          </a:solidFill>
          <a:ln w="25400">
            <a:solidFill>
              <a:srgbClr val="AB47BC"/>
            </a:solidFill>
            <a:prstDash val="solid"/>
          </a:ln>
        </p:spPr>
        <p:txBody>
          <a:bodyPr/>
          <a:lstStyle/>
          <a:p>
            <a:endParaRPr lang="en-US"/>
          </a:p>
        </p:txBody>
      </p:sp>
      <p:sp>
        <p:nvSpPr>
          <p:cNvPr id="41" name="Text 39"/>
          <p:cNvSpPr/>
          <p:nvPr/>
        </p:nvSpPr>
        <p:spPr>
          <a:xfrm>
            <a:off x="6812280" y="2286000"/>
            <a:ext cx="548640" cy="5486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VS</a:t>
            </a:r>
            <a:endParaRPr lang="en-US" sz="1100" dirty="0"/>
          </a:p>
        </p:txBody>
      </p:sp>
      <p:sp>
        <p:nvSpPr>
          <p:cNvPr id="42" name="Shape 40"/>
          <p:cNvSpPr/>
          <p:nvPr/>
        </p:nvSpPr>
        <p:spPr>
          <a:xfrm>
            <a:off x="7406640" y="1298448"/>
            <a:ext cx="1325880" cy="274320"/>
          </a:xfrm>
          <a:prstGeom prst="rect">
            <a:avLst/>
          </a:prstGeom>
          <a:solidFill>
            <a:srgbClr val="00C853">
              <a:alpha val="70000"/>
            </a:srgbClr>
          </a:solidFill>
          <a:ln w="12700">
            <a:solidFill>
              <a:srgbClr val="00C853">
                <a:alpha val="0"/>
              </a:srgbClr>
            </a:solidFill>
            <a:prstDash val="solid"/>
          </a:ln>
        </p:spPr>
        <p:txBody>
          <a:bodyPr/>
          <a:lstStyle/>
          <a:p>
            <a:endParaRPr lang="en-US"/>
          </a:p>
        </p:txBody>
      </p:sp>
      <p:sp>
        <p:nvSpPr>
          <p:cNvPr id="43" name="Text 41"/>
          <p:cNvSpPr/>
          <p:nvPr/>
        </p:nvSpPr>
        <p:spPr>
          <a:xfrm>
            <a:off x="7406640" y="1298448"/>
            <a:ext cx="132588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AI SYSTEM</a:t>
            </a:r>
            <a:endParaRPr lang="en-US" sz="1000" dirty="0"/>
          </a:p>
        </p:txBody>
      </p:sp>
      <p:sp>
        <p:nvSpPr>
          <p:cNvPr id="44" name="Shape 42"/>
          <p:cNvSpPr/>
          <p:nvPr/>
        </p:nvSpPr>
        <p:spPr>
          <a:xfrm>
            <a:off x="7424928" y="1645920"/>
            <a:ext cx="164592" cy="164592"/>
          </a:xfrm>
          <a:prstGeom prst="ellipse">
            <a:avLst/>
          </a:prstGeom>
          <a:solidFill>
            <a:srgbClr val="00C853"/>
          </a:solidFill>
          <a:ln w="12700">
            <a:solidFill>
              <a:srgbClr val="00C853">
                <a:alpha val="0"/>
              </a:srgbClr>
            </a:solidFill>
            <a:prstDash val="solid"/>
          </a:ln>
        </p:spPr>
        <p:txBody>
          <a:bodyPr/>
          <a:lstStyle/>
          <a:p>
            <a:endParaRPr lang="en-US"/>
          </a:p>
        </p:txBody>
      </p:sp>
      <p:sp>
        <p:nvSpPr>
          <p:cNvPr id="45" name="Text 43"/>
          <p:cNvSpPr/>
          <p:nvPr/>
        </p:nvSpPr>
        <p:spPr>
          <a:xfrm>
            <a:off x="7635240" y="1636776"/>
            <a:ext cx="1051560" cy="201168"/>
          </a:xfrm>
          <a:prstGeom prst="rect">
            <a:avLst/>
          </a:prstGeom>
          <a:noFill/>
          <a:ln/>
        </p:spPr>
        <p:txBody>
          <a:bodyPr wrap="square" rtlCol="0" anchor="ctr"/>
          <a:lstStyle/>
          <a:p>
            <a:pPr marL="0" indent="0">
              <a:buNone/>
            </a:pPr>
            <a:r>
              <a:rPr lang="en-US" sz="1200" dirty="0">
                <a:solidFill>
                  <a:srgbClr val="90EE90"/>
                </a:solidFill>
                <a:latin typeface="Calibri" pitchFamily="34" charset="0"/>
                <a:ea typeface="Calibri" pitchFamily="34" charset="-122"/>
                <a:cs typeface="Calibri" pitchFamily="34" charset="-120"/>
              </a:rPr>
              <a:t>Automatic</a:t>
            </a:r>
            <a:endParaRPr lang="en-US" sz="1200" dirty="0"/>
          </a:p>
        </p:txBody>
      </p:sp>
      <p:sp>
        <p:nvSpPr>
          <p:cNvPr id="46" name="Shape 44"/>
          <p:cNvSpPr/>
          <p:nvPr/>
        </p:nvSpPr>
        <p:spPr>
          <a:xfrm>
            <a:off x="7424928" y="2103120"/>
            <a:ext cx="164592" cy="164592"/>
          </a:xfrm>
          <a:prstGeom prst="ellipse">
            <a:avLst/>
          </a:prstGeom>
          <a:solidFill>
            <a:srgbClr val="00C853"/>
          </a:solidFill>
          <a:ln w="12700">
            <a:solidFill>
              <a:srgbClr val="00C853">
                <a:alpha val="0"/>
              </a:srgbClr>
            </a:solidFill>
            <a:prstDash val="solid"/>
          </a:ln>
        </p:spPr>
        <p:txBody>
          <a:bodyPr/>
          <a:lstStyle/>
          <a:p>
            <a:endParaRPr lang="en-US"/>
          </a:p>
        </p:txBody>
      </p:sp>
      <p:sp>
        <p:nvSpPr>
          <p:cNvPr id="47" name="Text 45"/>
          <p:cNvSpPr/>
          <p:nvPr/>
        </p:nvSpPr>
        <p:spPr>
          <a:xfrm>
            <a:off x="7635240" y="2093976"/>
            <a:ext cx="1051560" cy="201168"/>
          </a:xfrm>
          <a:prstGeom prst="rect">
            <a:avLst/>
          </a:prstGeom>
          <a:noFill/>
          <a:ln/>
        </p:spPr>
        <p:txBody>
          <a:bodyPr wrap="square" rtlCol="0" anchor="ctr"/>
          <a:lstStyle/>
          <a:p>
            <a:pPr marL="0" indent="0">
              <a:buNone/>
            </a:pPr>
            <a:r>
              <a:rPr lang="en-US" sz="1200" dirty="0">
                <a:solidFill>
                  <a:srgbClr val="90EE90"/>
                </a:solidFill>
                <a:latin typeface="Calibri" pitchFamily="34" charset="0"/>
                <a:ea typeface="Calibri" pitchFamily="34" charset="-122"/>
                <a:cs typeface="Calibri" pitchFamily="34" charset="-120"/>
              </a:rPr>
              <a:t>Adaptive</a:t>
            </a:r>
            <a:endParaRPr lang="en-US" sz="1200" dirty="0"/>
          </a:p>
        </p:txBody>
      </p:sp>
      <p:sp>
        <p:nvSpPr>
          <p:cNvPr id="48" name="Shape 46"/>
          <p:cNvSpPr/>
          <p:nvPr/>
        </p:nvSpPr>
        <p:spPr>
          <a:xfrm>
            <a:off x="7424928" y="2560320"/>
            <a:ext cx="164592" cy="164592"/>
          </a:xfrm>
          <a:prstGeom prst="ellipse">
            <a:avLst/>
          </a:prstGeom>
          <a:solidFill>
            <a:srgbClr val="00C853"/>
          </a:solidFill>
          <a:ln w="12700">
            <a:solidFill>
              <a:srgbClr val="00C853">
                <a:alpha val="0"/>
              </a:srgbClr>
            </a:solidFill>
            <a:prstDash val="solid"/>
          </a:ln>
        </p:spPr>
        <p:txBody>
          <a:bodyPr/>
          <a:lstStyle/>
          <a:p>
            <a:endParaRPr lang="en-US"/>
          </a:p>
        </p:txBody>
      </p:sp>
      <p:sp>
        <p:nvSpPr>
          <p:cNvPr id="49" name="Text 47"/>
          <p:cNvSpPr/>
          <p:nvPr/>
        </p:nvSpPr>
        <p:spPr>
          <a:xfrm>
            <a:off x="7635240" y="2551176"/>
            <a:ext cx="1051560" cy="201168"/>
          </a:xfrm>
          <a:prstGeom prst="rect">
            <a:avLst/>
          </a:prstGeom>
          <a:noFill/>
          <a:ln/>
        </p:spPr>
        <p:txBody>
          <a:bodyPr wrap="square" rtlCol="0" anchor="ctr"/>
          <a:lstStyle/>
          <a:p>
            <a:pPr marL="0" indent="0">
              <a:buNone/>
            </a:pPr>
            <a:r>
              <a:rPr lang="en-US" sz="1200" dirty="0">
                <a:solidFill>
                  <a:srgbClr val="90EE90"/>
                </a:solidFill>
                <a:latin typeface="Calibri" pitchFamily="34" charset="0"/>
                <a:ea typeface="Calibri" pitchFamily="34" charset="-122"/>
                <a:cs typeface="Calibri" pitchFamily="34" charset="-120"/>
              </a:rPr>
              <a:t>Fast</a:t>
            </a:r>
            <a:endParaRPr lang="en-US" sz="1200" dirty="0"/>
          </a:p>
        </p:txBody>
      </p:sp>
      <p:sp>
        <p:nvSpPr>
          <p:cNvPr id="50" name="Shape 48"/>
          <p:cNvSpPr/>
          <p:nvPr/>
        </p:nvSpPr>
        <p:spPr>
          <a:xfrm>
            <a:off x="7424928" y="3017520"/>
            <a:ext cx="164592" cy="164592"/>
          </a:xfrm>
          <a:prstGeom prst="ellipse">
            <a:avLst/>
          </a:prstGeom>
          <a:solidFill>
            <a:srgbClr val="00C853"/>
          </a:solidFill>
          <a:ln w="12700">
            <a:solidFill>
              <a:srgbClr val="00C853">
                <a:alpha val="0"/>
              </a:srgbClr>
            </a:solidFill>
            <a:prstDash val="solid"/>
          </a:ln>
        </p:spPr>
        <p:txBody>
          <a:bodyPr/>
          <a:lstStyle/>
          <a:p>
            <a:endParaRPr lang="en-US"/>
          </a:p>
        </p:txBody>
      </p:sp>
      <p:sp>
        <p:nvSpPr>
          <p:cNvPr id="51" name="Text 49"/>
          <p:cNvSpPr/>
          <p:nvPr/>
        </p:nvSpPr>
        <p:spPr>
          <a:xfrm>
            <a:off x="7635240" y="3008376"/>
            <a:ext cx="1051560" cy="201168"/>
          </a:xfrm>
          <a:prstGeom prst="rect">
            <a:avLst/>
          </a:prstGeom>
          <a:noFill/>
          <a:ln/>
        </p:spPr>
        <p:txBody>
          <a:bodyPr wrap="square" rtlCol="0" anchor="ctr"/>
          <a:lstStyle/>
          <a:p>
            <a:pPr marL="0" indent="0">
              <a:buNone/>
            </a:pPr>
            <a:r>
              <a:rPr lang="en-US" sz="1200" dirty="0">
                <a:solidFill>
                  <a:srgbClr val="90EE90"/>
                </a:solidFill>
                <a:latin typeface="Calibri" pitchFamily="34" charset="0"/>
                <a:ea typeface="Calibri" pitchFamily="34" charset="-122"/>
                <a:cs typeface="Calibri" pitchFamily="34" charset="-120"/>
              </a:rPr>
              <a:t>Intelligent</a:t>
            </a:r>
            <a:endParaRPr lang="en-US" sz="1200" dirty="0"/>
          </a:p>
        </p:txBody>
      </p:sp>
      <p:sp>
        <p:nvSpPr>
          <p:cNvPr id="52" name="Shape 50"/>
          <p:cNvSpPr/>
          <p:nvPr/>
        </p:nvSpPr>
        <p:spPr>
          <a:xfrm>
            <a:off x="7424928" y="3474720"/>
            <a:ext cx="164592" cy="164592"/>
          </a:xfrm>
          <a:prstGeom prst="ellipse">
            <a:avLst/>
          </a:prstGeom>
          <a:solidFill>
            <a:srgbClr val="00C853"/>
          </a:solidFill>
          <a:ln w="12700">
            <a:solidFill>
              <a:srgbClr val="00C853">
                <a:alpha val="0"/>
              </a:srgbClr>
            </a:solidFill>
            <a:prstDash val="solid"/>
          </a:ln>
        </p:spPr>
        <p:txBody>
          <a:bodyPr/>
          <a:lstStyle/>
          <a:p>
            <a:endParaRPr lang="en-US"/>
          </a:p>
        </p:txBody>
      </p:sp>
      <p:sp>
        <p:nvSpPr>
          <p:cNvPr id="53" name="Text 51"/>
          <p:cNvSpPr/>
          <p:nvPr/>
        </p:nvSpPr>
        <p:spPr>
          <a:xfrm>
            <a:off x="7635240" y="3465576"/>
            <a:ext cx="1051560" cy="201168"/>
          </a:xfrm>
          <a:prstGeom prst="rect">
            <a:avLst/>
          </a:prstGeom>
          <a:noFill/>
          <a:ln/>
        </p:spPr>
        <p:txBody>
          <a:bodyPr wrap="square" rtlCol="0" anchor="ctr"/>
          <a:lstStyle/>
          <a:p>
            <a:pPr marL="0" indent="0">
              <a:buNone/>
            </a:pPr>
            <a:r>
              <a:rPr lang="en-US" sz="1200" dirty="0">
                <a:solidFill>
                  <a:srgbClr val="90EE90"/>
                </a:solidFill>
                <a:latin typeface="Calibri" pitchFamily="34" charset="0"/>
                <a:ea typeface="Calibri" pitchFamily="34" charset="-122"/>
                <a:cs typeface="Calibri" pitchFamily="34" charset="-120"/>
              </a:rPr>
              <a:t>Learning -Based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1565C0">
              <a:alpha val="20000"/>
            </a:srgbClr>
          </a:solidFill>
          <a:ln w="12700">
            <a:solidFill>
              <a:srgbClr val="1565C0">
                <a:alpha val="0"/>
              </a:srgbClr>
            </a:solidFill>
            <a:prstDash val="solid"/>
          </a:ln>
        </p:spPr>
        <p:txBody>
          <a:bodyPr/>
          <a:lstStyle/>
          <a:p>
            <a:endParaRPr lang="en-US"/>
          </a:p>
        </p:txBody>
      </p:sp>
      <p:sp>
        <p:nvSpPr>
          <p:cNvPr id="3" name="Shape 1"/>
          <p:cNvSpPr/>
          <p:nvPr/>
        </p:nvSpPr>
        <p:spPr>
          <a:xfrm>
            <a:off x="7315200" y="3200400"/>
            <a:ext cx="3200400" cy="3200400"/>
          </a:xfrm>
          <a:prstGeom prst="ellipse">
            <a:avLst/>
          </a:prstGeom>
          <a:solidFill>
            <a:srgbClr val="7B1FA2">
              <a:alpha val="20000"/>
            </a:srgbClr>
          </a:solidFill>
          <a:ln w="12700">
            <a:solidFill>
              <a:srgbClr val="7B1FA2">
                <a:alpha val="0"/>
              </a:srgbClr>
            </a:solidFill>
            <a:prstDash val="solid"/>
          </a:ln>
        </p:spPr>
        <p:txBody>
          <a:bodyPr/>
          <a:lstStyle/>
          <a:p>
            <a:endParaRPr lang="en-US"/>
          </a:p>
        </p:txBody>
      </p:sp>
      <p:sp>
        <p:nvSpPr>
          <p:cNvPr id="4" name="Shape 2"/>
          <p:cNvSpPr/>
          <p:nvPr/>
        </p:nvSpPr>
        <p:spPr>
          <a:xfrm>
            <a:off x="3657600" y="-914400"/>
            <a:ext cx="2743200" cy="2743200"/>
          </a:xfrm>
          <a:prstGeom prst="ellipse">
            <a:avLst/>
          </a:prstGeom>
          <a:solidFill>
            <a:srgbClr val="00BCD4">
              <a:alpha val="15000"/>
            </a:srgbClr>
          </a:solidFill>
          <a:ln w="12700">
            <a:solidFill>
              <a:srgbClr val="00BCD4">
                <a:alpha val="0"/>
              </a:srgbClr>
            </a:solidFill>
            <a:prstDash val="solid"/>
          </a:ln>
        </p:spPr>
        <p:txBody>
          <a:bodyPr/>
          <a:lstStyle/>
          <a:p>
            <a:endParaRPr lang="en-US"/>
          </a:p>
        </p:txBody>
      </p:sp>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Project </a:t>
            </a:r>
            <a:r>
              <a:rPr lang="en-US" sz="2800" b="1" dirty="0">
                <a:solidFill>
                  <a:srgbClr val="FFFFFF"/>
                </a:solidFill>
                <a:latin typeface="Sitka Display Semibold" pitchFamily="2" charset="0"/>
                <a:ea typeface="Trebuchet MS" pitchFamily="34" charset="-122"/>
                <a:cs typeface="Trebuchet MS" pitchFamily="34" charset="-120"/>
              </a:rPr>
              <a:t>Objectives</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Text 5"/>
          <p:cNvSpPr/>
          <p:nvPr/>
        </p:nvSpPr>
        <p:spPr>
          <a:xfrm>
            <a:off x="365760" y="804672"/>
            <a:ext cx="8412480" cy="274320"/>
          </a:xfrm>
          <a:prstGeom prst="rect">
            <a:avLst/>
          </a:prstGeom>
          <a:noFill/>
          <a:ln/>
        </p:spPr>
        <p:txBody>
          <a:bodyPr wrap="square" rtlCol="0" anchor="ctr"/>
          <a:lstStyle/>
          <a:p>
            <a:pPr marL="0" indent="0">
              <a:buNone/>
            </a:pPr>
            <a:endParaRPr lang="en-US" sz="1200" dirty="0"/>
          </a:p>
        </p:txBody>
      </p:sp>
      <p:sp>
        <p:nvSpPr>
          <p:cNvPr id="8" name="Shape 6"/>
          <p:cNvSpPr/>
          <p:nvPr/>
        </p:nvSpPr>
        <p:spPr>
          <a:xfrm>
            <a:off x="274320" y="114300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9" name="Shape 7"/>
          <p:cNvSpPr/>
          <p:nvPr/>
        </p:nvSpPr>
        <p:spPr>
          <a:xfrm>
            <a:off x="365760" y="1234440"/>
            <a:ext cx="502920" cy="502920"/>
          </a:xfrm>
          <a:prstGeom prst="ellipse">
            <a:avLst/>
          </a:prstGeom>
          <a:solidFill>
            <a:schemeClr val="tx1"/>
          </a:solidFill>
          <a:ln w="25400">
            <a:solidFill>
              <a:srgbClr val="00BCD4"/>
            </a:solidFill>
            <a:prstDash val="solid"/>
          </a:ln>
        </p:spPr>
        <p:txBody>
          <a:bodyPr/>
          <a:lstStyle/>
          <a:p>
            <a:endParaRPr lang="en-US" sz="2000">
              <a:ln w="0"/>
              <a:solidFill>
                <a:schemeClr val="accent1"/>
              </a:solidFill>
              <a:effectLst>
                <a:outerShdw blurRad="38100" dist="25400" dir="5400000" algn="ctr" rotWithShape="0">
                  <a:srgbClr val="6E747A">
                    <a:alpha val="43000"/>
                  </a:srgbClr>
                </a:outerShdw>
              </a:effectLst>
            </a:endParaRPr>
          </a:p>
        </p:txBody>
      </p:sp>
      <p:sp>
        <p:nvSpPr>
          <p:cNvPr id="10" name="Text 8"/>
          <p:cNvSpPr/>
          <p:nvPr/>
        </p:nvSpPr>
        <p:spPr>
          <a:xfrm>
            <a:off x="365760" y="1234440"/>
            <a:ext cx="502920" cy="502920"/>
          </a:xfrm>
          <a:prstGeom prst="rect">
            <a:avLst/>
          </a:prstGeom>
          <a:noFill/>
          <a:ln/>
        </p:spPr>
        <p:txBody>
          <a:bodyPr wrap="square" rtlCol="0" anchor="ctr"/>
          <a:lstStyle/>
          <a:p>
            <a:pPr marL="0" indent="0" algn="ctr">
              <a:buNone/>
            </a:pPr>
            <a:r>
              <a:rPr lang="en-US" sz="1200" b="1" dirty="0">
                <a:solidFill>
                  <a:srgbClr val="00BCD4"/>
                </a:solidFill>
                <a:latin typeface="Trebuchet MS" pitchFamily="34" charset="0"/>
                <a:ea typeface="Trebuchet MS" pitchFamily="34" charset="-122"/>
                <a:cs typeface="Trebuchet MS" pitchFamily="34" charset="-120"/>
              </a:rPr>
              <a:t>01</a:t>
            </a:r>
            <a:endParaRPr lang="en-US" sz="1200" dirty="0"/>
          </a:p>
        </p:txBody>
      </p:sp>
      <p:sp>
        <p:nvSpPr>
          <p:cNvPr id="11" name="Text 9"/>
          <p:cNvSpPr/>
          <p:nvPr/>
        </p:nvSpPr>
        <p:spPr>
          <a:xfrm>
            <a:off x="960120" y="1252728"/>
            <a:ext cx="1965960" cy="320040"/>
          </a:xfrm>
          <a:prstGeom prst="rect">
            <a:avLst/>
          </a:prstGeom>
          <a:noFill/>
          <a:ln/>
        </p:spPr>
        <p:txBody>
          <a:bodyPr wrap="square" rtlCol="0" anchor="ctr"/>
          <a:lstStyle/>
          <a:p>
            <a:pPr marL="0" indent="0">
              <a:buNone/>
            </a:pPr>
            <a:r>
              <a:rPr lang="en-US" sz="1400" b="1" dirty="0">
                <a:solidFill>
                  <a:srgbClr val="00BCD4"/>
                </a:solidFill>
                <a:latin typeface="Calibri" pitchFamily="34" charset="0"/>
                <a:ea typeface="Calibri" pitchFamily="34" charset="-122"/>
                <a:cs typeface="Calibri" pitchFamily="34" charset="-120"/>
              </a:rPr>
              <a:t>7-Emotion Detection</a:t>
            </a:r>
            <a:endParaRPr lang="en-US" sz="1400" dirty="0"/>
          </a:p>
        </p:txBody>
      </p:sp>
      <p:sp>
        <p:nvSpPr>
          <p:cNvPr id="12" name="Text 10"/>
          <p:cNvSpPr/>
          <p:nvPr/>
        </p:nvSpPr>
        <p:spPr>
          <a:xfrm>
            <a:off x="680614" y="1791729"/>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Detect Angry, Disgust, Fear, Happy, Sad, Surprise &amp; Neutral in real-time</a:t>
            </a:r>
            <a:endParaRPr lang="en-US" sz="1200" dirty="0"/>
          </a:p>
        </p:txBody>
      </p:sp>
      <p:sp>
        <p:nvSpPr>
          <p:cNvPr id="13" name="Shape 11"/>
          <p:cNvSpPr/>
          <p:nvPr/>
        </p:nvSpPr>
        <p:spPr>
          <a:xfrm>
            <a:off x="3154680" y="114300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3246120" y="1234440"/>
            <a:ext cx="502920" cy="502920"/>
          </a:xfrm>
          <a:prstGeom prst="ellipse">
            <a:avLst/>
          </a:prstGeom>
          <a:solidFill>
            <a:srgbClr val="AB47BC">
              <a:alpha val="80000"/>
            </a:srgbClr>
          </a:solidFill>
          <a:ln w="25400">
            <a:solidFill>
              <a:srgbClr val="AB47BC"/>
            </a:solidFill>
            <a:prstDash val="solid"/>
          </a:ln>
        </p:spPr>
        <p:txBody>
          <a:bodyPr/>
          <a:lstStyle/>
          <a:p>
            <a:r>
              <a:rPr lang="en-US" sz="1200" b="1" dirty="0">
                <a:ln w="0"/>
                <a:solidFill>
                  <a:schemeClr val="bg1"/>
                </a:solidFill>
                <a:effectLst>
                  <a:outerShdw blurRad="38100" dist="25400" dir="5400000" algn="ctr" rotWithShape="0">
                    <a:srgbClr val="6E747A">
                      <a:alpha val="43000"/>
                    </a:srgbClr>
                  </a:outerShdw>
                </a:effectLst>
                <a:ea typeface="Trebuchet MS" pitchFamily="34" charset="-122"/>
                <a:cs typeface="Times New Roman" panose="02020603050405020304" pitchFamily="18" charset="0"/>
              </a:rPr>
              <a:t>02</a:t>
            </a:r>
            <a:endParaRPr lang="en-US" sz="1200" b="1" dirty="0">
              <a:solidFill>
                <a:schemeClr val="bg1"/>
              </a:solidFill>
              <a:cs typeface="Times New Roman" panose="02020603050405020304" pitchFamily="18" charset="0"/>
            </a:endParaRPr>
          </a:p>
        </p:txBody>
      </p:sp>
      <p:sp>
        <p:nvSpPr>
          <p:cNvPr id="16" name="Text 14"/>
          <p:cNvSpPr/>
          <p:nvPr/>
        </p:nvSpPr>
        <p:spPr>
          <a:xfrm>
            <a:off x="3840480" y="1252728"/>
            <a:ext cx="1965960" cy="320040"/>
          </a:xfrm>
          <a:prstGeom prst="rect">
            <a:avLst/>
          </a:prstGeom>
          <a:noFill/>
          <a:ln/>
        </p:spPr>
        <p:txBody>
          <a:bodyPr wrap="square" rtlCol="0" anchor="ctr"/>
          <a:lstStyle/>
          <a:p>
            <a:pPr marL="0" indent="0">
              <a:buNone/>
            </a:pPr>
            <a:r>
              <a:rPr lang="en-US" sz="1400" b="1" dirty="0">
                <a:solidFill>
                  <a:srgbClr val="AB47BC"/>
                </a:solidFill>
                <a:latin typeface="Calibri" pitchFamily="34" charset="0"/>
                <a:ea typeface="Calibri" pitchFamily="34" charset="-122"/>
                <a:cs typeface="Calibri" pitchFamily="34" charset="-120"/>
              </a:rPr>
              <a:t>Real-Time Prediction</a:t>
            </a:r>
            <a:endParaRPr lang="en-US" sz="1400" dirty="0"/>
          </a:p>
        </p:txBody>
      </p:sp>
      <p:sp>
        <p:nvSpPr>
          <p:cNvPr id="17" name="Text 15"/>
          <p:cNvSpPr/>
          <p:nvPr/>
        </p:nvSpPr>
        <p:spPr>
          <a:xfrm>
            <a:off x="3560974" y="1791729"/>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Process and predict emotions at 18ms per frame inference time</a:t>
            </a:r>
            <a:endParaRPr lang="en-US" sz="1200" dirty="0"/>
          </a:p>
        </p:txBody>
      </p:sp>
      <p:sp>
        <p:nvSpPr>
          <p:cNvPr id="18" name="Shape 16"/>
          <p:cNvSpPr/>
          <p:nvPr/>
        </p:nvSpPr>
        <p:spPr>
          <a:xfrm>
            <a:off x="6035040" y="114300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9" name="Shape 17"/>
          <p:cNvSpPr/>
          <p:nvPr/>
        </p:nvSpPr>
        <p:spPr>
          <a:xfrm>
            <a:off x="6126480" y="1234440"/>
            <a:ext cx="502920" cy="502920"/>
          </a:xfrm>
          <a:prstGeom prst="ellipse">
            <a:avLst/>
          </a:prstGeom>
          <a:solidFill>
            <a:schemeClr val="tx1"/>
          </a:solidFill>
          <a:ln w="25400">
            <a:solidFill>
              <a:srgbClr val="00C853"/>
            </a:solidFill>
            <a:prstDash val="solid"/>
          </a:ln>
        </p:spPr>
        <p:txBody>
          <a:bodyPr/>
          <a:lstStyle/>
          <a:p>
            <a:endParaRPr lang="en-US" sz="2000">
              <a:ln w="0"/>
              <a:solidFill>
                <a:schemeClr val="accent1"/>
              </a:solidFill>
              <a:effectLst>
                <a:outerShdw blurRad="38100" dist="25400" dir="5400000" algn="ctr" rotWithShape="0">
                  <a:srgbClr val="6E747A">
                    <a:alpha val="43000"/>
                  </a:srgbClr>
                </a:outerShdw>
              </a:effectLst>
            </a:endParaRPr>
          </a:p>
        </p:txBody>
      </p:sp>
      <p:sp>
        <p:nvSpPr>
          <p:cNvPr id="20" name="Text 18"/>
          <p:cNvSpPr/>
          <p:nvPr/>
        </p:nvSpPr>
        <p:spPr>
          <a:xfrm>
            <a:off x="6126480" y="1234440"/>
            <a:ext cx="502920" cy="502920"/>
          </a:xfrm>
          <a:prstGeom prst="rect">
            <a:avLst/>
          </a:prstGeom>
          <a:noFill/>
          <a:ln/>
        </p:spPr>
        <p:txBody>
          <a:bodyPr wrap="square" rtlCol="0" anchor="ctr"/>
          <a:lstStyle/>
          <a:p>
            <a:pPr marL="0" indent="0" algn="ctr">
              <a:buNone/>
            </a:pPr>
            <a:r>
              <a:rPr lang="en-US" sz="1200" b="1" dirty="0">
                <a:solidFill>
                  <a:srgbClr val="00C853"/>
                </a:solidFill>
                <a:latin typeface="Trebuchet MS" pitchFamily="34" charset="0"/>
                <a:ea typeface="Trebuchet MS" pitchFamily="34" charset="-122"/>
                <a:cs typeface="Trebuchet MS" pitchFamily="34" charset="-120"/>
              </a:rPr>
              <a:t>03</a:t>
            </a:r>
            <a:endParaRPr lang="en-US" sz="1200" dirty="0"/>
          </a:p>
        </p:txBody>
      </p:sp>
      <p:sp>
        <p:nvSpPr>
          <p:cNvPr id="21" name="Text 19"/>
          <p:cNvSpPr/>
          <p:nvPr/>
        </p:nvSpPr>
        <p:spPr>
          <a:xfrm>
            <a:off x="6720840" y="1252728"/>
            <a:ext cx="1965960" cy="320040"/>
          </a:xfrm>
          <a:prstGeom prst="rect">
            <a:avLst/>
          </a:prstGeom>
          <a:noFill/>
          <a:ln/>
        </p:spPr>
        <p:txBody>
          <a:bodyPr wrap="square" rtlCol="0" anchor="ctr"/>
          <a:lstStyle/>
          <a:p>
            <a:pPr marL="0" indent="0">
              <a:buNone/>
            </a:pPr>
            <a:r>
              <a:rPr lang="en-US" sz="1400" b="1" dirty="0">
                <a:solidFill>
                  <a:srgbClr val="00C853"/>
                </a:solidFill>
                <a:latin typeface="Calibri" pitchFamily="34" charset="0"/>
                <a:ea typeface="Calibri" pitchFamily="34" charset="-122"/>
                <a:cs typeface="Calibri" pitchFamily="34" charset="-120"/>
              </a:rPr>
              <a:t>Lightweight Model</a:t>
            </a:r>
            <a:endParaRPr lang="en-US" sz="1400" dirty="0"/>
          </a:p>
        </p:txBody>
      </p:sp>
      <p:sp>
        <p:nvSpPr>
          <p:cNvPr id="22" name="Text 20"/>
          <p:cNvSpPr/>
          <p:nvPr/>
        </p:nvSpPr>
        <p:spPr>
          <a:xfrm>
            <a:off x="6441334" y="1791729"/>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Deploy a compact 15MB MobileNetV2 model on standard hardware</a:t>
            </a:r>
            <a:endParaRPr lang="en-US" sz="1200" dirty="0"/>
          </a:p>
        </p:txBody>
      </p:sp>
      <p:sp>
        <p:nvSpPr>
          <p:cNvPr id="23" name="Shape 21"/>
          <p:cNvSpPr/>
          <p:nvPr/>
        </p:nvSpPr>
        <p:spPr>
          <a:xfrm>
            <a:off x="274320" y="278892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4" name="Shape 22"/>
          <p:cNvSpPr/>
          <p:nvPr/>
        </p:nvSpPr>
        <p:spPr>
          <a:xfrm>
            <a:off x="365760" y="2880360"/>
            <a:ext cx="502920" cy="502920"/>
          </a:xfrm>
          <a:prstGeom prst="ellipse">
            <a:avLst/>
          </a:prstGeom>
          <a:solidFill>
            <a:schemeClr val="tx1"/>
          </a:solidFill>
          <a:ln w="25400">
            <a:solidFill>
              <a:srgbClr val="FFD54F"/>
            </a:solidFill>
            <a:prstDash val="solid"/>
          </a:ln>
        </p:spPr>
        <p:txBody>
          <a:bodyPr/>
          <a:lstStyle/>
          <a:p>
            <a:endParaRPr lang="en-US" sz="2000">
              <a:ln w="0"/>
              <a:solidFill>
                <a:schemeClr val="accent1"/>
              </a:solidFill>
              <a:effectLst>
                <a:outerShdw blurRad="38100" dist="25400" dir="5400000" algn="ctr" rotWithShape="0">
                  <a:srgbClr val="6E747A">
                    <a:alpha val="43000"/>
                  </a:srgbClr>
                </a:outerShdw>
              </a:effectLst>
            </a:endParaRPr>
          </a:p>
        </p:txBody>
      </p:sp>
      <p:sp>
        <p:nvSpPr>
          <p:cNvPr id="25" name="Text 23"/>
          <p:cNvSpPr/>
          <p:nvPr/>
        </p:nvSpPr>
        <p:spPr>
          <a:xfrm>
            <a:off x="365760" y="2880360"/>
            <a:ext cx="502920" cy="502920"/>
          </a:xfrm>
          <a:prstGeom prst="rect">
            <a:avLst/>
          </a:prstGeom>
          <a:noFill/>
          <a:ln/>
        </p:spPr>
        <p:txBody>
          <a:bodyPr wrap="square" rtlCol="0" anchor="ctr"/>
          <a:lstStyle/>
          <a:p>
            <a:pPr marL="0" indent="0" algn="ctr">
              <a:buNone/>
            </a:pPr>
            <a:r>
              <a:rPr lang="en-US" sz="1200" b="1" dirty="0">
                <a:solidFill>
                  <a:srgbClr val="FFD54F"/>
                </a:solidFill>
                <a:latin typeface="Trebuchet MS" pitchFamily="34" charset="0"/>
                <a:ea typeface="Trebuchet MS" pitchFamily="34" charset="-122"/>
                <a:cs typeface="Trebuchet MS" pitchFamily="34" charset="-120"/>
              </a:rPr>
              <a:t>04</a:t>
            </a:r>
            <a:endParaRPr lang="en-US" sz="1200" dirty="0"/>
          </a:p>
        </p:txBody>
      </p:sp>
      <p:sp>
        <p:nvSpPr>
          <p:cNvPr id="26" name="Text 24"/>
          <p:cNvSpPr/>
          <p:nvPr/>
        </p:nvSpPr>
        <p:spPr>
          <a:xfrm>
            <a:off x="960120" y="2898648"/>
            <a:ext cx="1965960" cy="320040"/>
          </a:xfrm>
          <a:prstGeom prst="rect">
            <a:avLst/>
          </a:prstGeom>
          <a:noFill/>
          <a:ln/>
        </p:spPr>
        <p:txBody>
          <a:bodyPr wrap="square" rtlCol="0" anchor="ctr"/>
          <a:lstStyle/>
          <a:p>
            <a:pPr marL="0" indent="0">
              <a:buNone/>
            </a:pPr>
            <a:r>
              <a:rPr lang="en-US" sz="1400" b="1" dirty="0">
                <a:solidFill>
                  <a:srgbClr val="FFD54F"/>
                </a:solidFill>
                <a:latin typeface="Calibri" pitchFamily="34" charset="0"/>
                <a:ea typeface="Calibri" pitchFamily="34" charset="-122"/>
                <a:cs typeface="Calibri" pitchFamily="34" charset="-120"/>
              </a:rPr>
              <a:t>Flask REST API</a:t>
            </a:r>
            <a:endParaRPr lang="en-US" sz="1400" dirty="0"/>
          </a:p>
        </p:txBody>
      </p:sp>
      <p:sp>
        <p:nvSpPr>
          <p:cNvPr id="27" name="Text 25"/>
          <p:cNvSpPr/>
          <p:nvPr/>
        </p:nvSpPr>
        <p:spPr>
          <a:xfrm>
            <a:off x="507618" y="3351150"/>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Expose model predictions via a robust, scalable REST API backend</a:t>
            </a:r>
            <a:endParaRPr lang="en-US" sz="1200" dirty="0"/>
          </a:p>
        </p:txBody>
      </p:sp>
      <p:sp>
        <p:nvSpPr>
          <p:cNvPr id="28" name="Shape 26"/>
          <p:cNvSpPr/>
          <p:nvPr/>
        </p:nvSpPr>
        <p:spPr>
          <a:xfrm>
            <a:off x="3154680" y="278892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9" name="Shape 27"/>
          <p:cNvSpPr/>
          <p:nvPr/>
        </p:nvSpPr>
        <p:spPr>
          <a:xfrm>
            <a:off x="3246120" y="2880360"/>
            <a:ext cx="502920" cy="502920"/>
          </a:xfrm>
          <a:prstGeom prst="ellipse">
            <a:avLst/>
          </a:prstGeom>
          <a:solidFill>
            <a:schemeClr val="tx1"/>
          </a:solidFill>
          <a:ln w="25400">
            <a:solidFill>
              <a:srgbClr val="FF6B6B"/>
            </a:solidFill>
            <a:prstDash val="solid"/>
          </a:ln>
        </p:spPr>
        <p:txBody>
          <a:bodyPr/>
          <a:lstStyle/>
          <a:p>
            <a:endParaRPr lang="en-US" sz="2000">
              <a:ln w="0"/>
              <a:solidFill>
                <a:schemeClr val="accent1"/>
              </a:solidFill>
              <a:effectLst>
                <a:outerShdw blurRad="38100" dist="25400" dir="5400000" algn="ctr" rotWithShape="0">
                  <a:srgbClr val="6E747A">
                    <a:alpha val="43000"/>
                  </a:srgbClr>
                </a:outerShdw>
              </a:effectLst>
            </a:endParaRPr>
          </a:p>
        </p:txBody>
      </p:sp>
      <p:sp>
        <p:nvSpPr>
          <p:cNvPr id="30" name="Text 28"/>
          <p:cNvSpPr/>
          <p:nvPr/>
        </p:nvSpPr>
        <p:spPr>
          <a:xfrm>
            <a:off x="3246120" y="2880360"/>
            <a:ext cx="502920" cy="502920"/>
          </a:xfrm>
          <a:prstGeom prst="rect">
            <a:avLst/>
          </a:prstGeom>
          <a:noFill/>
          <a:ln/>
        </p:spPr>
        <p:txBody>
          <a:bodyPr wrap="square" rtlCol="0" anchor="ctr"/>
          <a:lstStyle/>
          <a:p>
            <a:pPr marL="0" indent="0" algn="ctr">
              <a:buNone/>
            </a:pPr>
            <a:r>
              <a:rPr lang="en-US" sz="1200" b="1" dirty="0">
                <a:solidFill>
                  <a:srgbClr val="FF6B6B"/>
                </a:solidFill>
                <a:latin typeface="Trebuchet MS" pitchFamily="34" charset="0"/>
                <a:ea typeface="Trebuchet MS" pitchFamily="34" charset="-122"/>
                <a:cs typeface="Trebuchet MS" pitchFamily="34" charset="-120"/>
              </a:rPr>
              <a:t>05</a:t>
            </a:r>
            <a:endParaRPr lang="en-US" sz="1200" dirty="0"/>
          </a:p>
        </p:txBody>
      </p:sp>
      <p:sp>
        <p:nvSpPr>
          <p:cNvPr id="31" name="Text 29"/>
          <p:cNvSpPr/>
          <p:nvPr/>
        </p:nvSpPr>
        <p:spPr>
          <a:xfrm>
            <a:off x="3840480" y="2898648"/>
            <a:ext cx="1965960" cy="320040"/>
          </a:xfrm>
          <a:prstGeom prst="rect">
            <a:avLst/>
          </a:prstGeom>
          <a:noFill/>
          <a:ln/>
        </p:spPr>
        <p:txBody>
          <a:bodyPr wrap="square" rtlCol="0" anchor="ctr"/>
          <a:lstStyle/>
          <a:p>
            <a:pPr marL="0" indent="0">
              <a:buNone/>
            </a:pPr>
            <a:r>
              <a:rPr lang="en-US" sz="1400" b="1" dirty="0">
                <a:solidFill>
                  <a:srgbClr val="FF6B6B"/>
                </a:solidFill>
                <a:latin typeface="Calibri" pitchFamily="34" charset="0"/>
                <a:ea typeface="Calibri" pitchFamily="34" charset="-122"/>
                <a:cs typeface="Calibri" pitchFamily="34" charset="-120"/>
              </a:rPr>
              <a:t>Web Application</a:t>
            </a:r>
            <a:endParaRPr lang="en-US" sz="1400" dirty="0"/>
          </a:p>
        </p:txBody>
      </p:sp>
      <p:sp>
        <p:nvSpPr>
          <p:cNvPr id="32" name="Text 30"/>
          <p:cNvSpPr/>
          <p:nvPr/>
        </p:nvSpPr>
        <p:spPr>
          <a:xfrm>
            <a:off x="3387978" y="3351150"/>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Build a modern React.js frontend for real-time webcam emotion detection</a:t>
            </a:r>
            <a:endParaRPr lang="en-US" sz="1200" dirty="0"/>
          </a:p>
        </p:txBody>
      </p:sp>
      <p:sp>
        <p:nvSpPr>
          <p:cNvPr id="33" name="Shape 31"/>
          <p:cNvSpPr/>
          <p:nvPr/>
        </p:nvSpPr>
        <p:spPr>
          <a:xfrm>
            <a:off x="6035040" y="2788920"/>
            <a:ext cx="2743200" cy="150876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4" name="Shape 32"/>
          <p:cNvSpPr/>
          <p:nvPr/>
        </p:nvSpPr>
        <p:spPr>
          <a:xfrm>
            <a:off x="6126480" y="2880360"/>
            <a:ext cx="502920" cy="502920"/>
          </a:xfrm>
          <a:prstGeom prst="ellipse">
            <a:avLst/>
          </a:prstGeom>
          <a:solidFill>
            <a:schemeClr val="tx1"/>
          </a:solidFill>
          <a:ln w="25400">
            <a:solidFill>
              <a:srgbClr val="FF6F00"/>
            </a:solidFill>
            <a:prstDash val="solid"/>
          </a:ln>
        </p:spPr>
        <p:txBody>
          <a:bodyPr/>
          <a:lstStyle/>
          <a:p>
            <a:endParaRPr lang="en-US" sz="2000">
              <a:ln w="0"/>
              <a:solidFill>
                <a:schemeClr val="accent1"/>
              </a:solidFill>
              <a:effectLst>
                <a:outerShdw blurRad="38100" dist="25400" dir="5400000" algn="ctr" rotWithShape="0">
                  <a:srgbClr val="6E747A">
                    <a:alpha val="43000"/>
                  </a:srgbClr>
                </a:outerShdw>
              </a:effectLst>
            </a:endParaRPr>
          </a:p>
        </p:txBody>
      </p:sp>
      <p:sp>
        <p:nvSpPr>
          <p:cNvPr id="35" name="Text 33"/>
          <p:cNvSpPr/>
          <p:nvPr/>
        </p:nvSpPr>
        <p:spPr>
          <a:xfrm>
            <a:off x="6126480" y="2880360"/>
            <a:ext cx="502920" cy="502920"/>
          </a:xfrm>
          <a:prstGeom prst="rect">
            <a:avLst/>
          </a:prstGeom>
          <a:noFill/>
          <a:ln/>
        </p:spPr>
        <p:txBody>
          <a:bodyPr wrap="square" rtlCol="0" anchor="ctr"/>
          <a:lstStyle/>
          <a:p>
            <a:pPr marL="0" indent="0" algn="ctr">
              <a:buNone/>
            </a:pPr>
            <a:r>
              <a:rPr lang="en-US" sz="1200" b="1" dirty="0">
                <a:solidFill>
                  <a:srgbClr val="FF6F00"/>
                </a:solidFill>
                <a:latin typeface="Trebuchet MS" pitchFamily="34" charset="0"/>
                <a:ea typeface="Trebuchet MS" pitchFamily="34" charset="-122"/>
                <a:cs typeface="Trebuchet MS" pitchFamily="34" charset="-120"/>
              </a:rPr>
              <a:t>06</a:t>
            </a:r>
            <a:endParaRPr lang="en-US" sz="1200" dirty="0"/>
          </a:p>
        </p:txBody>
      </p:sp>
      <p:sp>
        <p:nvSpPr>
          <p:cNvPr id="36" name="Text 34"/>
          <p:cNvSpPr/>
          <p:nvPr/>
        </p:nvSpPr>
        <p:spPr>
          <a:xfrm>
            <a:off x="6720840" y="2898648"/>
            <a:ext cx="1965960" cy="320040"/>
          </a:xfrm>
          <a:prstGeom prst="rect">
            <a:avLst/>
          </a:prstGeom>
          <a:noFill/>
          <a:ln/>
        </p:spPr>
        <p:txBody>
          <a:bodyPr wrap="square" rtlCol="0" anchor="ctr"/>
          <a:lstStyle/>
          <a:p>
            <a:pPr marL="0" indent="0">
              <a:buNone/>
            </a:pPr>
            <a:r>
              <a:rPr lang="en-US" sz="1400" b="1" dirty="0">
                <a:solidFill>
                  <a:srgbClr val="FF6F00"/>
                </a:solidFill>
                <a:latin typeface="Calibri" pitchFamily="34" charset="0"/>
                <a:ea typeface="Calibri" pitchFamily="34" charset="-122"/>
                <a:cs typeface="Calibri" pitchFamily="34" charset="-120"/>
              </a:rPr>
              <a:t>78% Accuracy</a:t>
            </a:r>
            <a:endParaRPr lang="en-US" sz="1400" dirty="0"/>
          </a:p>
        </p:txBody>
      </p:sp>
      <p:sp>
        <p:nvSpPr>
          <p:cNvPr id="37" name="Text 35"/>
          <p:cNvSpPr/>
          <p:nvPr/>
        </p:nvSpPr>
        <p:spPr>
          <a:xfrm>
            <a:off x="6268338" y="3351150"/>
            <a:ext cx="2514600" cy="731520"/>
          </a:xfrm>
          <a:prstGeom prst="rect">
            <a:avLst/>
          </a:prstGeom>
          <a:noFill/>
          <a:ln/>
        </p:spPr>
        <p:txBody>
          <a:bodyPr wrap="square" rtlCol="0" anchor="ctr"/>
          <a:lstStyle/>
          <a:p>
            <a:pPr marL="0" indent="0">
              <a:buNone/>
            </a:pPr>
            <a:r>
              <a:rPr lang="en-US" sz="1200" dirty="0">
                <a:solidFill>
                  <a:srgbClr val="E3F2FD"/>
                </a:solidFill>
                <a:latin typeface="Calibri" pitchFamily="34" charset="0"/>
                <a:ea typeface="Calibri" pitchFamily="34" charset="-122"/>
                <a:cs typeface="Calibri" pitchFamily="34" charset="-120"/>
              </a:rPr>
              <a:t>Achieve competitive accuracy on the FER2013 benchmark dataset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a:effectLst/>
      </p:bgPr>
    </p:bg>
    <p:spTree>
      <p:nvGrpSpPr>
        <p:cNvPr id="1" name=""/>
        <p:cNvGrpSpPr/>
        <p:nvPr/>
      </p:nvGrpSpPr>
      <p:grpSpPr>
        <a:xfrm>
          <a:off x="0" y="0"/>
          <a:ext cx="0" cy="0"/>
          <a:chOff x="0" y="0"/>
          <a:chExt cx="0" cy="0"/>
        </a:xfrm>
      </p:grpSpPr>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Literature</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Sitka Display Semibold" pitchFamily="2" charset="0"/>
                <a:ea typeface="Trebuchet MS" pitchFamily="34" charset="-122"/>
                <a:cs typeface="Trebuchet MS" pitchFamily="34" charset="-120"/>
              </a:rPr>
              <a:t>Review</a:t>
            </a:r>
            <a:endParaRPr lang="en-US" sz="2800" dirty="0">
              <a:latin typeface="Sitka Display Semibold" pitchFamily="2" charset="0"/>
            </a:endParaRPr>
          </a:p>
        </p:txBody>
      </p:sp>
      <p:sp>
        <p:nvSpPr>
          <p:cNvPr id="5" name="Shape 3"/>
          <p:cNvSpPr/>
          <p:nvPr/>
        </p:nvSpPr>
        <p:spPr>
          <a:xfrm>
            <a:off x="365760" y="713232"/>
            <a:ext cx="8412480" cy="27432"/>
          </a:xfrm>
          <a:prstGeom prst="rect">
            <a:avLst/>
          </a:prstGeom>
          <a:solidFill>
            <a:srgbClr val="7B1FA2"/>
          </a:solidFill>
          <a:ln w="12700">
            <a:solidFill>
              <a:srgbClr val="7B1FA2">
                <a:alpha val="0"/>
              </a:srgbClr>
            </a:solidFill>
            <a:prstDash val="solid"/>
          </a:ln>
        </p:spPr>
        <p:txBody>
          <a:bodyPr/>
          <a:lstStyle/>
          <a:p>
            <a:endParaRPr lang="en-US"/>
          </a:p>
        </p:txBody>
      </p:sp>
      <p:sp>
        <p:nvSpPr>
          <p:cNvPr id="6" name="Text 4"/>
          <p:cNvSpPr/>
          <p:nvPr/>
        </p:nvSpPr>
        <p:spPr>
          <a:xfrm>
            <a:off x="365760" y="804672"/>
            <a:ext cx="5029200" cy="274320"/>
          </a:xfrm>
          <a:prstGeom prst="rect">
            <a:avLst/>
          </a:prstGeom>
          <a:noFill/>
          <a:ln/>
        </p:spPr>
        <p:txBody>
          <a:bodyPr wrap="square"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CNN </a:t>
            </a:r>
            <a:r>
              <a:rPr lang="en-US" sz="1200" b="1" dirty="0">
                <a:solidFill>
                  <a:srgbClr val="00BCD4"/>
                </a:solidFill>
                <a:latin typeface="Sitka Display Semibold" pitchFamily="2" charset="0"/>
                <a:ea typeface="Calibri" pitchFamily="34" charset="-122"/>
                <a:cs typeface="Calibri" pitchFamily="34" charset="-120"/>
              </a:rPr>
              <a:t>Architecture</a:t>
            </a:r>
            <a:r>
              <a:rPr lang="en-US" sz="1200" b="1" dirty="0">
                <a:solidFill>
                  <a:srgbClr val="00BCD4"/>
                </a:solidFill>
                <a:latin typeface="Calibri" pitchFamily="34" charset="0"/>
                <a:ea typeface="Calibri" pitchFamily="34" charset="-122"/>
                <a:cs typeface="Calibri" pitchFamily="34" charset="-120"/>
              </a:rPr>
              <a:t> Evolution</a:t>
            </a:r>
            <a:endParaRPr lang="en-US" sz="1200" dirty="0"/>
          </a:p>
        </p:txBody>
      </p:sp>
      <p:sp>
        <p:nvSpPr>
          <p:cNvPr id="7" name="Shape 5"/>
          <p:cNvSpPr/>
          <p:nvPr/>
        </p:nvSpPr>
        <p:spPr>
          <a:xfrm>
            <a:off x="548640" y="1952362"/>
            <a:ext cx="1463040" cy="548640"/>
          </a:xfrm>
          <a:prstGeom prst="rect">
            <a:avLst/>
          </a:prstGeom>
          <a:solidFill>
            <a:srgbClr val="90A4AE">
              <a:alpha val="70000"/>
            </a:srgbClr>
          </a:solidFill>
          <a:ln w="12700">
            <a:solidFill>
              <a:srgbClr val="90A4AE"/>
            </a:solidFill>
            <a:prstDash val="solid"/>
          </a:ln>
        </p:spPr>
        <p:txBody>
          <a:bodyPr/>
          <a:lstStyle/>
          <a:p>
            <a:endParaRPr lang="en-US"/>
          </a:p>
        </p:txBody>
      </p:sp>
      <p:sp>
        <p:nvSpPr>
          <p:cNvPr id="8" name="Text 6"/>
          <p:cNvSpPr/>
          <p:nvPr/>
        </p:nvSpPr>
        <p:spPr>
          <a:xfrm>
            <a:off x="365760" y="1696330"/>
            <a:ext cx="1828800" cy="228600"/>
          </a:xfrm>
          <a:prstGeom prst="rect">
            <a:avLst/>
          </a:prstGeom>
          <a:noFill/>
          <a:ln/>
        </p:spPr>
        <p:txBody>
          <a:bodyPr wrap="square" rtlCol="0" anchor="ctr"/>
          <a:lstStyle/>
          <a:p>
            <a:pPr marL="0" indent="0" algn="ctr">
              <a:buNone/>
            </a:pPr>
            <a:r>
              <a:rPr lang="en-US" sz="900" b="1" dirty="0">
                <a:solidFill>
                  <a:srgbClr val="90A4AE"/>
                </a:solidFill>
                <a:latin typeface="Calibri" pitchFamily="34" charset="0"/>
                <a:ea typeface="Calibri" pitchFamily="34" charset="-122"/>
                <a:cs typeface="Calibri" pitchFamily="34" charset="-120"/>
              </a:rPr>
              <a:t>VGG16</a:t>
            </a:r>
            <a:endParaRPr lang="en-US" sz="900" dirty="0"/>
          </a:p>
        </p:txBody>
      </p:sp>
      <p:sp>
        <p:nvSpPr>
          <p:cNvPr id="9" name="Shape 7"/>
          <p:cNvSpPr/>
          <p:nvPr/>
        </p:nvSpPr>
        <p:spPr>
          <a:xfrm>
            <a:off x="1005840" y="2482714"/>
            <a:ext cx="548640" cy="320040"/>
          </a:xfrm>
          <a:prstGeom prst="ellipse">
            <a:avLst/>
          </a:prstGeom>
          <a:solidFill>
            <a:srgbClr val="90A4AE">
              <a:alpha val="90000"/>
            </a:srgbClr>
          </a:solidFill>
          <a:ln w="12700">
            <a:solidFill>
              <a:srgbClr val="90A4AE"/>
            </a:solidFill>
            <a:prstDash val="solid"/>
          </a:ln>
        </p:spPr>
        <p:txBody>
          <a:bodyPr/>
          <a:lstStyle/>
          <a:p>
            <a:endParaRPr lang="en-US"/>
          </a:p>
        </p:txBody>
      </p:sp>
      <p:sp>
        <p:nvSpPr>
          <p:cNvPr id="10" name="Text 8"/>
          <p:cNvSpPr/>
          <p:nvPr/>
        </p:nvSpPr>
        <p:spPr>
          <a:xfrm>
            <a:off x="1005840" y="2482714"/>
            <a:ext cx="54864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2016</a:t>
            </a:r>
            <a:endParaRPr lang="en-US" sz="900" dirty="0"/>
          </a:p>
        </p:txBody>
      </p:sp>
      <p:sp>
        <p:nvSpPr>
          <p:cNvPr id="11" name="Text 9"/>
          <p:cNvSpPr/>
          <p:nvPr/>
        </p:nvSpPr>
        <p:spPr>
          <a:xfrm>
            <a:off x="411480" y="2866762"/>
            <a:ext cx="1737360" cy="457200"/>
          </a:xfrm>
          <a:prstGeom prst="rect">
            <a:avLst/>
          </a:prstGeom>
          <a:noFill/>
          <a:ln/>
        </p:spPr>
        <p:txBody>
          <a:bodyPr wrap="square" rtlCol="0" anchor="ctr"/>
          <a:lstStyle/>
          <a:p>
            <a:pPr marL="0" indent="0" algn="ctr">
              <a:buNone/>
            </a:pPr>
            <a:r>
              <a:rPr lang="en-US" sz="1000" dirty="0">
                <a:solidFill>
                  <a:srgbClr val="E3F2FD"/>
                </a:solidFill>
                <a:latin typeface="Calibri" pitchFamily="34" charset="0"/>
                <a:ea typeface="Calibri" pitchFamily="34" charset="-122"/>
                <a:cs typeface="Calibri" pitchFamily="34" charset="-120"/>
              </a:rPr>
              <a:t>Acc: ~67%</a:t>
            </a:r>
            <a:endParaRPr lang="en-US" sz="1000" dirty="0"/>
          </a:p>
          <a:p>
            <a:pPr marL="0" indent="0" algn="ctr">
              <a:buNone/>
            </a:pPr>
            <a:r>
              <a:rPr lang="en-US" sz="1000" dirty="0">
                <a:solidFill>
                  <a:srgbClr val="E3F2FD"/>
                </a:solidFill>
                <a:latin typeface="Calibri" pitchFamily="34" charset="0"/>
                <a:ea typeface="Calibri" pitchFamily="34" charset="-122"/>
                <a:cs typeface="Calibri" pitchFamily="34" charset="-120"/>
              </a:rPr>
              <a:t>Size: 240MB</a:t>
            </a:r>
            <a:endParaRPr lang="en-US" sz="1000" dirty="0"/>
          </a:p>
        </p:txBody>
      </p:sp>
      <p:sp>
        <p:nvSpPr>
          <p:cNvPr id="12" name="Shape 10"/>
          <p:cNvSpPr/>
          <p:nvPr/>
        </p:nvSpPr>
        <p:spPr>
          <a:xfrm>
            <a:off x="2651760" y="1678042"/>
            <a:ext cx="1463040" cy="822960"/>
          </a:xfrm>
          <a:prstGeom prst="rect">
            <a:avLst/>
          </a:prstGeom>
          <a:solidFill>
            <a:srgbClr val="5C6BC0">
              <a:alpha val="70000"/>
            </a:srgbClr>
          </a:solidFill>
          <a:ln w="12700">
            <a:solidFill>
              <a:srgbClr val="5C6BC0"/>
            </a:solidFill>
            <a:prstDash val="solid"/>
          </a:ln>
        </p:spPr>
        <p:txBody>
          <a:bodyPr/>
          <a:lstStyle/>
          <a:p>
            <a:endParaRPr lang="en-US"/>
          </a:p>
        </p:txBody>
      </p:sp>
      <p:sp>
        <p:nvSpPr>
          <p:cNvPr id="13" name="Text 11"/>
          <p:cNvSpPr/>
          <p:nvPr/>
        </p:nvSpPr>
        <p:spPr>
          <a:xfrm>
            <a:off x="2468880" y="1422010"/>
            <a:ext cx="1828800" cy="228600"/>
          </a:xfrm>
          <a:prstGeom prst="rect">
            <a:avLst/>
          </a:prstGeom>
          <a:noFill/>
          <a:ln/>
        </p:spPr>
        <p:txBody>
          <a:bodyPr wrap="square" rtlCol="0" anchor="ctr"/>
          <a:lstStyle/>
          <a:p>
            <a:pPr marL="0" indent="0" algn="ctr">
              <a:buNone/>
            </a:pPr>
            <a:r>
              <a:rPr lang="en-US" sz="900" b="1" dirty="0">
                <a:solidFill>
                  <a:srgbClr val="5C6BC0"/>
                </a:solidFill>
                <a:latin typeface="Calibri" pitchFamily="34" charset="0"/>
                <a:ea typeface="Calibri" pitchFamily="34" charset="-122"/>
                <a:cs typeface="Calibri" pitchFamily="34" charset="-120"/>
              </a:rPr>
              <a:t>Mini-Xception</a:t>
            </a:r>
            <a:endParaRPr lang="en-US" sz="900" dirty="0"/>
          </a:p>
        </p:txBody>
      </p:sp>
      <p:sp>
        <p:nvSpPr>
          <p:cNvPr id="14" name="Shape 12"/>
          <p:cNvSpPr/>
          <p:nvPr/>
        </p:nvSpPr>
        <p:spPr>
          <a:xfrm>
            <a:off x="3108960" y="2482714"/>
            <a:ext cx="548640" cy="320040"/>
          </a:xfrm>
          <a:prstGeom prst="ellipse">
            <a:avLst/>
          </a:prstGeom>
          <a:solidFill>
            <a:srgbClr val="5C6BC0">
              <a:alpha val="90000"/>
            </a:srgbClr>
          </a:solidFill>
          <a:ln w="12700">
            <a:solidFill>
              <a:srgbClr val="5C6BC0"/>
            </a:solidFill>
            <a:prstDash val="solid"/>
          </a:ln>
        </p:spPr>
        <p:txBody>
          <a:bodyPr/>
          <a:lstStyle/>
          <a:p>
            <a:endParaRPr lang="en-US"/>
          </a:p>
        </p:txBody>
      </p:sp>
      <p:sp>
        <p:nvSpPr>
          <p:cNvPr id="15" name="Text 13"/>
          <p:cNvSpPr/>
          <p:nvPr/>
        </p:nvSpPr>
        <p:spPr>
          <a:xfrm>
            <a:off x="3108960" y="2482714"/>
            <a:ext cx="54864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2017</a:t>
            </a:r>
            <a:endParaRPr lang="en-US" sz="900" dirty="0"/>
          </a:p>
        </p:txBody>
      </p:sp>
      <p:sp>
        <p:nvSpPr>
          <p:cNvPr id="16" name="Text 14"/>
          <p:cNvSpPr/>
          <p:nvPr/>
        </p:nvSpPr>
        <p:spPr>
          <a:xfrm>
            <a:off x="2514600" y="2866762"/>
            <a:ext cx="1737360" cy="457200"/>
          </a:xfrm>
          <a:prstGeom prst="rect">
            <a:avLst/>
          </a:prstGeom>
          <a:noFill/>
          <a:ln/>
        </p:spPr>
        <p:txBody>
          <a:bodyPr wrap="square" rtlCol="0" anchor="ctr"/>
          <a:lstStyle/>
          <a:p>
            <a:pPr marL="0" indent="0" algn="ctr">
              <a:buNone/>
            </a:pPr>
            <a:r>
              <a:rPr lang="en-US" sz="1000" dirty="0">
                <a:solidFill>
                  <a:srgbClr val="E3F2FD"/>
                </a:solidFill>
                <a:latin typeface="Calibri" pitchFamily="34" charset="0"/>
                <a:ea typeface="Calibri" pitchFamily="34" charset="-122"/>
                <a:cs typeface="Calibri" pitchFamily="34" charset="-120"/>
              </a:rPr>
              <a:t>Acc: ~72.5%</a:t>
            </a:r>
            <a:endParaRPr lang="en-US" sz="1000" dirty="0"/>
          </a:p>
          <a:p>
            <a:pPr marL="0" indent="0" algn="ctr">
              <a:buNone/>
            </a:pPr>
            <a:r>
              <a:rPr lang="en-US" sz="1000" dirty="0">
                <a:solidFill>
                  <a:srgbClr val="E3F2FD"/>
                </a:solidFill>
                <a:latin typeface="Calibri" pitchFamily="34" charset="0"/>
                <a:ea typeface="Calibri" pitchFamily="34" charset="-122"/>
                <a:cs typeface="Calibri" pitchFamily="34" charset="-120"/>
              </a:rPr>
              <a:t>Size: 528MB</a:t>
            </a:r>
            <a:endParaRPr lang="en-US" sz="1000" dirty="0"/>
          </a:p>
        </p:txBody>
      </p:sp>
      <p:sp>
        <p:nvSpPr>
          <p:cNvPr id="17" name="Shape 15"/>
          <p:cNvSpPr/>
          <p:nvPr/>
        </p:nvSpPr>
        <p:spPr>
          <a:xfrm>
            <a:off x="4754880" y="1403722"/>
            <a:ext cx="1463040" cy="1097280"/>
          </a:xfrm>
          <a:prstGeom prst="rect">
            <a:avLst/>
          </a:prstGeom>
          <a:solidFill>
            <a:srgbClr val="1565C0">
              <a:alpha val="70000"/>
            </a:srgbClr>
          </a:solidFill>
          <a:ln w="12700">
            <a:solidFill>
              <a:srgbClr val="1565C0"/>
            </a:solidFill>
            <a:prstDash val="solid"/>
          </a:ln>
        </p:spPr>
        <p:txBody>
          <a:bodyPr/>
          <a:lstStyle/>
          <a:p>
            <a:endParaRPr lang="en-US"/>
          </a:p>
        </p:txBody>
      </p:sp>
      <p:sp>
        <p:nvSpPr>
          <p:cNvPr id="18" name="Text 16"/>
          <p:cNvSpPr/>
          <p:nvPr/>
        </p:nvSpPr>
        <p:spPr>
          <a:xfrm>
            <a:off x="4572000" y="1147690"/>
            <a:ext cx="1828800" cy="228600"/>
          </a:xfrm>
          <a:prstGeom prst="rect">
            <a:avLst/>
          </a:prstGeom>
          <a:noFill/>
          <a:ln/>
        </p:spPr>
        <p:txBody>
          <a:bodyPr wrap="square"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ResNet</a:t>
            </a:r>
            <a:endParaRPr lang="en-US" sz="900" dirty="0"/>
          </a:p>
        </p:txBody>
      </p:sp>
      <p:sp>
        <p:nvSpPr>
          <p:cNvPr id="19" name="Shape 17"/>
          <p:cNvSpPr/>
          <p:nvPr/>
        </p:nvSpPr>
        <p:spPr>
          <a:xfrm>
            <a:off x="5212080" y="2482714"/>
            <a:ext cx="548640" cy="320040"/>
          </a:xfrm>
          <a:prstGeom prst="ellipse">
            <a:avLst/>
          </a:prstGeom>
          <a:solidFill>
            <a:srgbClr val="1565C0">
              <a:alpha val="90000"/>
            </a:srgbClr>
          </a:solidFill>
          <a:ln w="12700">
            <a:solidFill>
              <a:srgbClr val="1565C0"/>
            </a:solidFill>
            <a:prstDash val="solid"/>
          </a:ln>
        </p:spPr>
        <p:txBody>
          <a:bodyPr/>
          <a:lstStyle/>
          <a:p>
            <a:endParaRPr lang="en-US"/>
          </a:p>
        </p:txBody>
      </p:sp>
      <p:sp>
        <p:nvSpPr>
          <p:cNvPr id="20" name="Text 18"/>
          <p:cNvSpPr/>
          <p:nvPr/>
        </p:nvSpPr>
        <p:spPr>
          <a:xfrm>
            <a:off x="5212080" y="2482714"/>
            <a:ext cx="54864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2015</a:t>
            </a:r>
            <a:endParaRPr lang="en-US" sz="900" dirty="0"/>
          </a:p>
        </p:txBody>
      </p:sp>
      <p:sp>
        <p:nvSpPr>
          <p:cNvPr id="21" name="Text 19"/>
          <p:cNvSpPr/>
          <p:nvPr/>
        </p:nvSpPr>
        <p:spPr>
          <a:xfrm>
            <a:off x="4617720" y="2866762"/>
            <a:ext cx="1737360" cy="457200"/>
          </a:xfrm>
          <a:prstGeom prst="rect">
            <a:avLst/>
          </a:prstGeom>
          <a:noFill/>
          <a:ln/>
        </p:spPr>
        <p:txBody>
          <a:bodyPr wrap="square" rtlCol="0" anchor="ctr"/>
          <a:lstStyle/>
          <a:p>
            <a:pPr marL="0" indent="0" algn="ctr">
              <a:buNone/>
            </a:pPr>
            <a:r>
              <a:rPr lang="en-US" sz="1000" dirty="0">
                <a:solidFill>
                  <a:srgbClr val="E3F2FD"/>
                </a:solidFill>
                <a:latin typeface="Calibri" pitchFamily="34" charset="0"/>
                <a:ea typeface="Calibri" pitchFamily="34" charset="-122"/>
                <a:cs typeface="Calibri" pitchFamily="34" charset="-120"/>
              </a:rPr>
              <a:t>Acc: ~70%</a:t>
            </a:r>
            <a:endParaRPr lang="en-US" sz="1000" dirty="0"/>
          </a:p>
          <a:p>
            <a:pPr marL="0" indent="0" algn="ctr">
              <a:buNone/>
            </a:pPr>
            <a:r>
              <a:rPr lang="en-US" sz="1000" dirty="0">
                <a:solidFill>
                  <a:srgbClr val="E3F2FD"/>
                </a:solidFill>
                <a:latin typeface="Calibri" pitchFamily="34" charset="0"/>
                <a:ea typeface="Calibri" pitchFamily="34" charset="-122"/>
                <a:cs typeface="Calibri" pitchFamily="34" charset="-120"/>
              </a:rPr>
              <a:t>Size: 102MB</a:t>
            </a:r>
            <a:endParaRPr lang="en-US" sz="1000" dirty="0"/>
          </a:p>
        </p:txBody>
      </p:sp>
      <p:sp>
        <p:nvSpPr>
          <p:cNvPr id="22" name="Shape 20"/>
          <p:cNvSpPr/>
          <p:nvPr/>
        </p:nvSpPr>
        <p:spPr>
          <a:xfrm>
            <a:off x="6858000" y="1129402"/>
            <a:ext cx="1463040" cy="1371600"/>
          </a:xfrm>
          <a:prstGeom prst="rect">
            <a:avLst/>
          </a:prstGeom>
          <a:solidFill>
            <a:srgbClr val="00BCD4">
              <a:alpha val="70000"/>
            </a:srgbClr>
          </a:solidFill>
          <a:ln w="12700">
            <a:solidFill>
              <a:srgbClr val="00BCD4"/>
            </a:solidFill>
            <a:prstDash val="solid"/>
          </a:ln>
        </p:spPr>
        <p:txBody>
          <a:bodyPr/>
          <a:lstStyle/>
          <a:p>
            <a:endParaRPr lang="en-US"/>
          </a:p>
        </p:txBody>
      </p:sp>
      <p:sp>
        <p:nvSpPr>
          <p:cNvPr id="23" name="Text 21"/>
          <p:cNvSpPr/>
          <p:nvPr/>
        </p:nvSpPr>
        <p:spPr>
          <a:xfrm>
            <a:off x="6675120" y="873370"/>
            <a:ext cx="1828800" cy="228600"/>
          </a:xfrm>
          <a:prstGeom prst="rect">
            <a:avLst/>
          </a:prstGeom>
          <a:noFill/>
          <a:ln/>
        </p:spPr>
        <p:txBody>
          <a:bodyPr wrap="square" rtlCol="0" anchor="ctr"/>
          <a:lstStyle/>
          <a:p>
            <a:pPr marL="0" indent="0" algn="ctr">
              <a:buNone/>
            </a:pPr>
            <a:r>
              <a:rPr lang="en-US" sz="900" b="1" dirty="0">
                <a:solidFill>
                  <a:srgbClr val="00BCD4"/>
                </a:solidFill>
                <a:latin typeface="Calibri" pitchFamily="34" charset="0"/>
                <a:ea typeface="Calibri" pitchFamily="34" charset="-122"/>
                <a:cs typeface="Calibri" pitchFamily="34" charset="-120"/>
              </a:rPr>
              <a:t>MobileNetV2</a:t>
            </a:r>
            <a:endParaRPr lang="en-US" sz="900" dirty="0"/>
          </a:p>
        </p:txBody>
      </p:sp>
      <p:sp>
        <p:nvSpPr>
          <p:cNvPr id="24" name="Shape 22"/>
          <p:cNvSpPr/>
          <p:nvPr/>
        </p:nvSpPr>
        <p:spPr>
          <a:xfrm>
            <a:off x="7315200" y="2482714"/>
            <a:ext cx="548640" cy="320040"/>
          </a:xfrm>
          <a:prstGeom prst="ellipse">
            <a:avLst/>
          </a:prstGeom>
          <a:solidFill>
            <a:srgbClr val="00BCD4">
              <a:alpha val="90000"/>
            </a:srgbClr>
          </a:solidFill>
          <a:ln w="12700">
            <a:solidFill>
              <a:srgbClr val="00BCD4"/>
            </a:solidFill>
            <a:prstDash val="solid"/>
          </a:ln>
        </p:spPr>
        <p:txBody>
          <a:bodyPr/>
          <a:lstStyle/>
          <a:p>
            <a:endParaRPr lang="en-US"/>
          </a:p>
        </p:txBody>
      </p:sp>
      <p:sp>
        <p:nvSpPr>
          <p:cNvPr id="25" name="Text 23"/>
          <p:cNvSpPr/>
          <p:nvPr/>
        </p:nvSpPr>
        <p:spPr>
          <a:xfrm>
            <a:off x="7315200" y="2482714"/>
            <a:ext cx="54864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2018</a:t>
            </a:r>
            <a:endParaRPr lang="en-US" sz="900" dirty="0"/>
          </a:p>
        </p:txBody>
      </p:sp>
      <p:sp>
        <p:nvSpPr>
          <p:cNvPr id="26" name="Text 24"/>
          <p:cNvSpPr/>
          <p:nvPr/>
        </p:nvSpPr>
        <p:spPr>
          <a:xfrm>
            <a:off x="6720840" y="2866762"/>
            <a:ext cx="1737360" cy="457200"/>
          </a:xfrm>
          <a:prstGeom prst="rect">
            <a:avLst/>
          </a:prstGeom>
          <a:noFill/>
          <a:ln/>
        </p:spPr>
        <p:txBody>
          <a:bodyPr wrap="square" rtlCol="0" anchor="ctr"/>
          <a:lstStyle/>
          <a:p>
            <a:pPr marL="0" indent="0" algn="ctr">
              <a:buNone/>
            </a:pPr>
            <a:r>
              <a:rPr lang="en-US" sz="1000" dirty="0">
                <a:solidFill>
                  <a:srgbClr val="E3F2FD"/>
                </a:solidFill>
                <a:latin typeface="Calibri" pitchFamily="34" charset="0"/>
                <a:ea typeface="Calibri" pitchFamily="34" charset="-122"/>
                <a:cs typeface="Calibri" pitchFamily="34" charset="-120"/>
              </a:rPr>
              <a:t>Acc: ~78%</a:t>
            </a:r>
            <a:endParaRPr lang="en-US" sz="1000" dirty="0"/>
          </a:p>
          <a:p>
            <a:pPr marL="0" indent="0" algn="ctr">
              <a:buNone/>
            </a:pPr>
            <a:r>
              <a:rPr lang="en-US" sz="1000" dirty="0">
                <a:solidFill>
                  <a:srgbClr val="E3F2FD"/>
                </a:solidFill>
                <a:latin typeface="Calibri" pitchFamily="34" charset="0"/>
                <a:ea typeface="Calibri" pitchFamily="34" charset="-122"/>
                <a:cs typeface="Calibri" pitchFamily="34" charset="-120"/>
              </a:rPr>
              <a:t>Size: 15MB</a:t>
            </a:r>
            <a:endParaRPr lang="en-US" sz="1000" dirty="0"/>
          </a:p>
        </p:txBody>
      </p:sp>
      <p:sp>
        <p:nvSpPr>
          <p:cNvPr id="27" name="Shape 25"/>
          <p:cNvSpPr/>
          <p:nvPr/>
        </p:nvSpPr>
        <p:spPr>
          <a:xfrm>
            <a:off x="365760" y="2642734"/>
            <a:ext cx="8229600" cy="0"/>
          </a:xfrm>
          <a:prstGeom prst="line">
            <a:avLst/>
          </a:prstGeom>
          <a:noFill/>
          <a:ln w="12700">
            <a:solidFill>
              <a:srgbClr val="90A4AE"/>
            </a:solidFill>
            <a:prstDash val="dash"/>
          </a:ln>
        </p:spPr>
        <p:txBody>
          <a:bodyPr/>
          <a:lstStyle/>
          <a:p>
            <a:endParaRPr lang="en-US" dirty="0"/>
          </a:p>
        </p:txBody>
      </p:sp>
      <p:sp>
        <p:nvSpPr>
          <p:cNvPr id="28" name="Text 26"/>
          <p:cNvSpPr/>
          <p:nvPr/>
        </p:nvSpPr>
        <p:spPr>
          <a:xfrm>
            <a:off x="182880" y="3195946"/>
            <a:ext cx="8412480" cy="274320"/>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Existing Research Comparison</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742411434"/>
              </p:ext>
            </p:extLst>
          </p:nvPr>
        </p:nvGraphicFramePr>
        <p:xfrm>
          <a:off x="804352" y="3525196"/>
          <a:ext cx="6895216" cy="1371600"/>
        </p:xfrm>
        <a:graphic>
          <a:graphicData uri="http://schemas.openxmlformats.org/drawingml/2006/table">
            <a:tbl>
              <a:tblPr/>
              <a:tblGrid>
                <a:gridCol w="2098544">
                  <a:extLst>
                    <a:ext uri="{9D8B030D-6E8A-4147-A177-3AD203B41FA5}">
                      <a16:colId xmlns:a16="http://schemas.microsoft.com/office/drawing/2014/main" val="20000"/>
                    </a:ext>
                  </a:extLst>
                </a:gridCol>
                <a:gridCol w="1648856">
                  <a:extLst>
                    <a:ext uri="{9D8B030D-6E8A-4147-A177-3AD203B41FA5}">
                      <a16:colId xmlns:a16="http://schemas.microsoft.com/office/drawing/2014/main" val="20001"/>
                    </a:ext>
                  </a:extLst>
                </a:gridCol>
                <a:gridCol w="1124220">
                  <a:extLst>
                    <a:ext uri="{9D8B030D-6E8A-4147-A177-3AD203B41FA5}">
                      <a16:colId xmlns:a16="http://schemas.microsoft.com/office/drawing/2014/main" val="20002"/>
                    </a:ext>
                  </a:extLst>
                </a:gridCol>
                <a:gridCol w="2023596">
                  <a:extLst>
                    <a:ext uri="{9D8B030D-6E8A-4147-A177-3AD203B41FA5}">
                      <a16:colId xmlns:a16="http://schemas.microsoft.com/office/drawing/2014/main" val="20003"/>
                    </a:ext>
                  </a:extLst>
                </a:gridCol>
              </a:tblGrid>
              <a:tr h="261093">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Research / Model</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237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237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237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1A237E"/>
                    </a:solidFill>
                  </a:tcPr>
                </a:tc>
                <a:extLst>
                  <a:ext uri="{0D108BD9-81ED-4DB2-BD59-A6C34878D82A}">
                    <a16:rowId xmlns:a16="http://schemas.microsoft.com/office/drawing/2014/main" val="10000"/>
                  </a:ext>
                </a:extLst>
              </a:tr>
              <a:tr h="261093">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Li et al. (2020)</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VGG-16</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74.6%</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Large model, slow</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1"/>
                  </a:ext>
                </a:extLst>
              </a:tr>
              <a:tr h="261093">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Wang et al. (2021)</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ResNet-50</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76.1%</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High memory usage</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2"/>
                  </a:ext>
                </a:extLst>
              </a:tr>
              <a:tr h="261093">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Kim et al. (2022)</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EfficientNet</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77.3%</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dirty="0">
                          <a:solidFill>
                            <a:srgbClr val="E3F2FD"/>
                          </a:solidFill>
                          <a:latin typeface="Calibri" pitchFamily="34" charset="0"/>
                          <a:ea typeface="Calibri" pitchFamily="34" charset="-122"/>
                          <a:cs typeface="Calibri" pitchFamily="34" charset="-120"/>
                        </a:rPr>
                        <a:t>Complex training</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3"/>
                  </a:ext>
                </a:extLst>
              </a:tr>
              <a:tr h="249503">
                <a:tc>
                  <a:txBody>
                    <a:bodyPr/>
                    <a:lstStyle/>
                    <a:p>
                      <a:pPr marL="0" indent="0">
                        <a:buNone/>
                      </a:pPr>
                      <a:r>
                        <a:rPr lang="en-US" sz="1200" b="1" dirty="0">
                          <a:solidFill>
                            <a:srgbClr val="00BCD4"/>
                          </a:solidFill>
                          <a:latin typeface="Calibri" pitchFamily="34" charset="0"/>
                          <a:ea typeface="Calibri" pitchFamily="34" charset="-122"/>
                          <a:cs typeface="Calibri" pitchFamily="34" charset="-120"/>
                        </a:rPr>
                        <a:t>Ours — MobileNetV2</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b="1" dirty="0">
                          <a:solidFill>
                            <a:srgbClr val="00BCD4"/>
                          </a:solidFill>
                          <a:latin typeface="Calibri" pitchFamily="34" charset="0"/>
                          <a:ea typeface="Calibri" pitchFamily="34" charset="-122"/>
                          <a:cs typeface="Calibri" pitchFamily="34" charset="-120"/>
                        </a:rPr>
                        <a:t>Transfer Learning</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b="1" dirty="0">
                          <a:solidFill>
                            <a:srgbClr val="00C853"/>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200" b="1" dirty="0">
                          <a:solidFill>
                            <a:srgbClr val="00C853"/>
                          </a:solidFill>
                          <a:latin typeface="Calibri" pitchFamily="34" charset="0"/>
                          <a:ea typeface="Calibri" pitchFamily="34" charset="-122"/>
                          <a:cs typeface="Calibri" pitchFamily="34" charset="-120"/>
                        </a:rPr>
                        <a:t>Lightweight ✓</a:t>
                      </a:r>
                      <a:endParaRPr lang="en-US" sz="1200" dirty="0">
                        <a:latin typeface="Calibri" charset="0"/>
                        <a:ea typeface="Calibri" charset="0"/>
                        <a:cs typeface="Calibri" charset="0"/>
                      </a:endParaRPr>
                    </a:p>
                  </a:txBody>
                  <a:tcP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a:effectLst/>
      </p:bgPr>
    </p:bg>
    <p:spTree>
      <p:nvGrpSpPr>
        <p:cNvPr id="1" name=""/>
        <p:cNvGrpSpPr/>
        <p:nvPr/>
      </p:nvGrpSpPr>
      <p:grpSpPr>
        <a:xfrm>
          <a:off x="0" y="0"/>
          <a:ext cx="0" cy="0"/>
          <a:chOff x="0" y="0"/>
          <a:chExt cx="0" cy="0"/>
        </a:xfrm>
      </p:grpSpPr>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Proposed </a:t>
            </a:r>
            <a:r>
              <a:rPr lang="en-US" sz="2800" b="1" dirty="0">
                <a:solidFill>
                  <a:srgbClr val="FFFFFF"/>
                </a:solidFill>
                <a:latin typeface="Sitka Display Semibold" pitchFamily="2" charset="0"/>
                <a:ea typeface="Trebuchet MS" pitchFamily="34" charset="-122"/>
                <a:cs typeface="Trebuchet MS" pitchFamily="34" charset="-120"/>
              </a:rPr>
              <a:t>System</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Text 5"/>
          <p:cNvSpPr/>
          <p:nvPr/>
        </p:nvSpPr>
        <p:spPr>
          <a:xfrm>
            <a:off x="365760" y="777240"/>
            <a:ext cx="8412480" cy="274320"/>
          </a:xfrm>
          <a:prstGeom prst="rect">
            <a:avLst/>
          </a:prstGeom>
          <a:noFill/>
          <a:ln/>
        </p:spPr>
        <p:txBody>
          <a:bodyPr wrap="square" rtlCol="0" anchor="ctr"/>
          <a:lstStyle/>
          <a:p>
            <a:pPr marL="0" indent="0">
              <a:buNone/>
            </a:pPr>
            <a:endParaRPr lang="en-US" sz="1300" dirty="0"/>
          </a:p>
        </p:txBody>
      </p:sp>
      <p:sp>
        <p:nvSpPr>
          <p:cNvPr id="8" name="Shape 6"/>
          <p:cNvSpPr/>
          <p:nvPr/>
        </p:nvSpPr>
        <p:spPr>
          <a:xfrm>
            <a:off x="228600" y="1143000"/>
            <a:ext cx="1508760" cy="155448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9" name="Shape 7"/>
          <p:cNvSpPr/>
          <p:nvPr/>
        </p:nvSpPr>
        <p:spPr>
          <a:xfrm>
            <a:off x="228600" y="1143000"/>
            <a:ext cx="1508760" cy="109728"/>
          </a:xfrm>
          <a:prstGeom prst="rect">
            <a:avLst/>
          </a:prstGeom>
          <a:solidFill>
            <a:srgbClr val="1565C0"/>
          </a:solidFill>
          <a:ln w="12700">
            <a:solidFill>
              <a:srgbClr val="1565C0">
                <a:alpha val="0"/>
              </a:srgbClr>
            </a:solidFill>
            <a:prstDash val="solid"/>
          </a:ln>
        </p:spPr>
        <p:txBody>
          <a:bodyPr/>
          <a:lstStyle/>
          <a:p>
            <a:endParaRPr lang="en-US"/>
          </a:p>
        </p:txBody>
      </p:sp>
      <p:sp>
        <p:nvSpPr>
          <p:cNvPr id="10" name="Text 8"/>
          <p:cNvSpPr/>
          <p:nvPr/>
        </p:nvSpPr>
        <p:spPr>
          <a:xfrm>
            <a:off x="274320" y="1261872"/>
            <a:ext cx="1417320" cy="1371600"/>
          </a:xfrm>
          <a:prstGeom prst="rect">
            <a:avLst/>
          </a:prstGeom>
          <a:noFill/>
          <a:ln/>
        </p:spPr>
        <p:txBody>
          <a:bodyPr wrap="square" rtlCol="0" anchor="ctr"/>
          <a:lstStyle/>
          <a:p>
            <a:pPr marL="0" indent="0" algn="ctr">
              <a:buNone/>
            </a:pP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Camera</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Input</a:t>
            </a:r>
            <a:endParaRPr lang="en-US" sz="1400" dirty="0"/>
          </a:p>
        </p:txBody>
      </p:sp>
      <p:sp>
        <p:nvSpPr>
          <p:cNvPr id="11" name="Shape 9"/>
          <p:cNvSpPr/>
          <p:nvPr/>
        </p:nvSpPr>
        <p:spPr>
          <a:xfrm>
            <a:off x="1737360" y="1810512"/>
            <a:ext cx="320040" cy="36576"/>
          </a:xfrm>
          <a:prstGeom prst="rect">
            <a:avLst/>
          </a:prstGeom>
          <a:solidFill>
            <a:srgbClr val="1565C0"/>
          </a:solidFill>
          <a:ln w="12700">
            <a:solidFill>
              <a:srgbClr val="1565C0">
                <a:alpha val="0"/>
              </a:srgbClr>
            </a:solidFill>
            <a:prstDash val="solid"/>
          </a:ln>
        </p:spPr>
        <p:txBody>
          <a:bodyPr/>
          <a:lstStyle/>
          <a:p>
            <a:endParaRPr lang="en-US"/>
          </a:p>
        </p:txBody>
      </p:sp>
      <p:sp>
        <p:nvSpPr>
          <p:cNvPr id="12" name="Shape 10"/>
          <p:cNvSpPr/>
          <p:nvPr/>
        </p:nvSpPr>
        <p:spPr>
          <a:xfrm>
            <a:off x="2011680" y="1737360"/>
            <a:ext cx="45720" cy="182880"/>
          </a:xfrm>
          <a:prstGeom prst="rect">
            <a:avLst/>
          </a:prstGeom>
          <a:solidFill>
            <a:srgbClr val="1565C0"/>
          </a:solidFill>
          <a:ln w="12700">
            <a:solidFill>
              <a:srgbClr val="1565C0">
                <a:alpha val="0"/>
              </a:srgbClr>
            </a:solidFill>
            <a:prstDash val="solid"/>
          </a:ln>
        </p:spPr>
        <p:txBody>
          <a:bodyPr/>
          <a:lstStyle/>
          <a:p>
            <a:endParaRPr lang="en-US"/>
          </a:p>
        </p:txBody>
      </p:sp>
      <p:sp>
        <p:nvSpPr>
          <p:cNvPr id="13" name="Shape 11"/>
          <p:cNvSpPr/>
          <p:nvPr/>
        </p:nvSpPr>
        <p:spPr>
          <a:xfrm>
            <a:off x="822960" y="2697480"/>
            <a:ext cx="320040" cy="320040"/>
          </a:xfrm>
          <a:prstGeom prst="ellipse">
            <a:avLst/>
          </a:prstGeom>
          <a:solidFill>
            <a:srgbClr val="1565C0">
              <a:alpha val="80000"/>
            </a:srgbClr>
          </a:solidFill>
          <a:ln w="12700">
            <a:solidFill>
              <a:srgbClr val="1565C0"/>
            </a:solidFill>
            <a:prstDash val="solid"/>
          </a:ln>
        </p:spPr>
        <p:txBody>
          <a:bodyPr/>
          <a:lstStyle/>
          <a:p>
            <a:endParaRPr lang="en-US"/>
          </a:p>
        </p:txBody>
      </p:sp>
      <p:sp>
        <p:nvSpPr>
          <p:cNvPr id="14" name="Text 12"/>
          <p:cNvSpPr/>
          <p:nvPr/>
        </p:nvSpPr>
        <p:spPr>
          <a:xfrm>
            <a:off x="822960" y="2697480"/>
            <a:ext cx="320040" cy="320040"/>
          </a:xfrm>
          <a:prstGeom prst="rect">
            <a:avLst/>
          </a:prstGeom>
          <a:noFill/>
          <a:ln/>
        </p:spPr>
        <p:txBody>
          <a:bodyPr wrap="square"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1</a:t>
            </a:r>
            <a:endParaRPr lang="en-US" sz="1000" dirty="0"/>
          </a:p>
        </p:txBody>
      </p:sp>
      <p:sp>
        <p:nvSpPr>
          <p:cNvPr id="15" name="Shape 13"/>
          <p:cNvSpPr/>
          <p:nvPr/>
        </p:nvSpPr>
        <p:spPr>
          <a:xfrm>
            <a:off x="1874520" y="1143000"/>
            <a:ext cx="1508760" cy="155448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1874520" y="1143000"/>
            <a:ext cx="1508760" cy="109728"/>
          </a:xfrm>
          <a:prstGeom prst="rect">
            <a:avLst/>
          </a:prstGeom>
          <a:solidFill>
            <a:srgbClr val="1E88E5"/>
          </a:solidFill>
          <a:ln w="12700">
            <a:solidFill>
              <a:srgbClr val="1E88E5">
                <a:alpha val="0"/>
              </a:srgbClr>
            </a:solidFill>
            <a:prstDash val="solid"/>
          </a:ln>
        </p:spPr>
        <p:txBody>
          <a:bodyPr/>
          <a:lstStyle/>
          <a:p>
            <a:endParaRPr lang="en-US"/>
          </a:p>
        </p:txBody>
      </p:sp>
      <p:sp>
        <p:nvSpPr>
          <p:cNvPr id="17" name="Text 15"/>
          <p:cNvSpPr/>
          <p:nvPr/>
        </p:nvSpPr>
        <p:spPr>
          <a:xfrm>
            <a:off x="1920240" y="1261872"/>
            <a:ext cx="1417320" cy="1371600"/>
          </a:xfrm>
          <a:prstGeom prst="rect">
            <a:avLst/>
          </a:prstGeom>
          <a:noFill/>
          <a:ln/>
        </p:spPr>
        <p:txBody>
          <a:bodyPr wrap="square" rtlCol="0" anchor="ctr"/>
          <a:lstStyle/>
          <a:p>
            <a:pPr marL="0" indent="0" algn="ctr">
              <a:buNone/>
            </a:pP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Face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Detection</a:t>
            </a:r>
            <a:endParaRPr lang="en-US" sz="1400" dirty="0"/>
          </a:p>
        </p:txBody>
      </p:sp>
      <p:sp>
        <p:nvSpPr>
          <p:cNvPr id="18" name="Shape 16"/>
          <p:cNvSpPr/>
          <p:nvPr/>
        </p:nvSpPr>
        <p:spPr>
          <a:xfrm>
            <a:off x="3383280" y="1810512"/>
            <a:ext cx="320040" cy="36576"/>
          </a:xfrm>
          <a:prstGeom prst="rect">
            <a:avLst/>
          </a:prstGeom>
          <a:solidFill>
            <a:srgbClr val="1E88E5"/>
          </a:solidFill>
          <a:ln w="12700">
            <a:solidFill>
              <a:srgbClr val="1E88E5">
                <a:alpha val="0"/>
              </a:srgbClr>
            </a:solidFill>
            <a:prstDash val="solid"/>
          </a:ln>
        </p:spPr>
        <p:txBody>
          <a:bodyPr/>
          <a:lstStyle/>
          <a:p>
            <a:endParaRPr lang="en-US"/>
          </a:p>
        </p:txBody>
      </p:sp>
      <p:sp>
        <p:nvSpPr>
          <p:cNvPr id="19" name="Shape 17"/>
          <p:cNvSpPr/>
          <p:nvPr/>
        </p:nvSpPr>
        <p:spPr>
          <a:xfrm>
            <a:off x="3657600" y="1737360"/>
            <a:ext cx="45720" cy="182880"/>
          </a:xfrm>
          <a:prstGeom prst="rect">
            <a:avLst/>
          </a:prstGeom>
          <a:solidFill>
            <a:srgbClr val="1E88E5"/>
          </a:solidFill>
          <a:ln w="12700">
            <a:solidFill>
              <a:srgbClr val="1E88E5">
                <a:alpha val="0"/>
              </a:srgbClr>
            </a:solidFill>
            <a:prstDash val="solid"/>
          </a:ln>
        </p:spPr>
        <p:txBody>
          <a:bodyPr/>
          <a:lstStyle/>
          <a:p>
            <a:endParaRPr lang="en-US"/>
          </a:p>
        </p:txBody>
      </p:sp>
      <p:sp>
        <p:nvSpPr>
          <p:cNvPr id="20" name="Shape 18"/>
          <p:cNvSpPr/>
          <p:nvPr/>
        </p:nvSpPr>
        <p:spPr>
          <a:xfrm>
            <a:off x="2468880" y="2697480"/>
            <a:ext cx="320040" cy="320040"/>
          </a:xfrm>
          <a:prstGeom prst="ellipse">
            <a:avLst/>
          </a:prstGeom>
          <a:solidFill>
            <a:srgbClr val="1E88E5">
              <a:alpha val="80000"/>
            </a:srgbClr>
          </a:solidFill>
          <a:ln w="12700">
            <a:solidFill>
              <a:srgbClr val="1E88E5"/>
            </a:solidFill>
            <a:prstDash val="solid"/>
          </a:ln>
        </p:spPr>
        <p:txBody>
          <a:bodyPr/>
          <a:lstStyle/>
          <a:p>
            <a:endParaRPr lang="en-US"/>
          </a:p>
        </p:txBody>
      </p:sp>
      <p:sp>
        <p:nvSpPr>
          <p:cNvPr id="21" name="Text 19"/>
          <p:cNvSpPr/>
          <p:nvPr/>
        </p:nvSpPr>
        <p:spPr>
          <a:xfrm>
            <a:off x="2468880" y="2697480"/>
            <a:ext cx="320040" cy="320040"/>
          </a:xfrm>
          <a:prstGeom prst="rect">
            <a:avLst/>
          </a:prstGeom>
          <a:noFill/>
          <a:ln/>
        </p:spPr>
        <p:txBody>
          <a:bodyPr wrap="square"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2</a:t>
            </a:r>
            <a:endParaRPr lang="en-US" sz="1000" dirty="0"/>
          </a:p>
        </p:txBody>
      </p:sp>
      <p:sp>
        <p:nvSpPr>
          <p:cNvPr id="22" name="Shape 20"/>
          <p:cNvSpPr/>
          <p:nvPr/>
        </p:nvSpPr>
        <p:spPr>
          <a:xfrm>
            <a:off x="3520440" y="1143000"/>
            <a:ext cx="1508760" cy="155448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3" name="Shape 21"/>
          <p:cNvSpPr/>
          <p:nvPr/>
        </p:nvSpPr>
        <p:spPr>
          <a:xfrm>
            <a:off x="3520440" y="1143000"/>
            <a:ext cx="1508760" cy="109728"/>
          </a:xfrm>
          <a:prstGeom prst="rect">
            <a:avLst/>
          </a:prstGeom>
          <a:solidFill>
            <a:srgbClr val="00BCD4"/>
          </a:solidFill>
          <a:ln w="12700">
            <a:solidFill>
              <a:srgbClr val="00BCD4">
                <a:alpha val="0"/>
              </a:srgbClr>
            </a:solidFill>
            <a:prstDash val="solid"/>
          </a:ln>
        </p:spPr>
        <p:txBody>
          <a:bodyPr/>
          <a:lstStyle/>
          <a:p>
            <a:endParaRPr lang="en-US"/>
          </a:p>
        </p:txBody>
      </p:sp>
      <p:sp>
        <p:nvSpPr>
          <p:cNvPr id="24" name="Text 22"/>
          <p:cNvSpPr/>
          <p:nvPr/>
        </p:nvSpPr>
        <p:spPr>
          <a:xfrm>
            <a:off x="3566160" y="1261872"/>
            <a:ext cx="1417320" cy="1371600"/>
          </a:xfrm>
          <a:prstGeom prst="rect">
            <a:avLst/>
          </a:prstGeom>
          <a:noFill/>
          <a:ln/>
        </p:spPr>
        <p:txBody>
          <a:bodyPr wrap="square" rtlCol="0" anchor="ctr"/>
          <a:lstStyle/>
          <a:p>
            <a:pPr marL="0" indent="0" algn="ctr">
              <a:buNone/>
            </a:pP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Image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Preprocess</a:t>
            </a:r>
            <a:endParaRPr lang="en-US" sz="1400" dirty="0"/>
          </a:p>
        </p:txBody>
      </p:sp>
      <p:sp>
        <p:nvSpPr>
          <p:cNvPr id="25" name="Shape 23"/>
          <p:cNvSpPr/>
          <p:nvPr/>
        </p:nvSpPr>
        <p:spPr>
          <a:xfrm>
            <a:off x="5029200" y="1810512"/>
            <a:ext cx="320040" cy="36576"/>
          </a:xfrm>
          <a:prstGeom prst="rect">
            <a:avLst/>
          </a:prstGeom>
          <a:solidFill>
            <a:srgbClr val="00BCD4"/>
          </a:solidFill>
          <a:ln w="12700">
            <a:solidFill>
              <a:srgbClr val="00BCD4">
                <a:alpha val="0"/>
              </a:srgbClr>
            </a:solidFill>
            <a:prstDash val="solid"/>
          </a:ln>
        </p:spPr>
        <p:txBody>
          <a:bodyPr/>
          <a:lstStyle/>
          <a:p>
            <a:endParaRPr lang="en-US"/>
          </a:p>
        </p:txBody>
      </p:sp>
      <p:sp>
        <p:nvSpPr>
          <p:cNvPr id="26" name="Shape 24"/>
          <p:cNvSpPr/>
          <p:nvPr/>
        </p:nvSpPr>
        <p:spPr>
          <a:xfrm>
            <a:off x="5303520" y="1737360"/>
            <a:ext cx="45720" cy="182880"/>
          </a:xfrm>
          <a:prstGeom prst="rect">
            <a:avLst/>
          </a:prstGeom>
          <a:solidFill>
            <a:srgbClr val="00BCD4"/>
          </a:solidFill>
          <a:ln w="12700">
            <a:solidFill>
              <a:srgbClr val="00BCD4">
                <a:alpha val="0"/>
              </a:srgbClr>
            </a:solidFill>
            <a:prstDash val="solid"/>
          </a:ln>
        </p:spPr>
        <p:txBody>
          <a:bodyPr/>
          <a:lstStyle/>
          <a:p>
            <a:endParaRPr lang="en-US"/>
          </a:p>
        </p:txBody>
      </p:sp>
      <p:sp>
        <p:nvSpPr>
          <p:cNvPr id="27" name="Shape 25"/>
          <p:cNvSpPr/>
          <p:nvPr/>
        </p:nvSpPr>
        <p:spPr>
          <a:xfrm>
            <a:off x="4114800" y="2697480"/>
            <a:ext cx="320040" cy="320040"/>
          </a:xfrm>
          <a:prstGeom prst="ellipse">
            <a:avLst/>
          </a:prstGeom>
          <a:solidFill>
            <a:srgbClr val="00BCD4">
              <a:alpha val="80000"/>
            </a:srgbClr>
          </a:solidFill>
          <a:ln w="12700">
            <a:solidFill>
              <a:srgbClr val="00BCD4"/>
            </a:solidFill>
            <a:prstDash val="solid"/>
          </a:ln>
        </p:spPr>
        <p:txBody>
          <a:bodyPr/>
          <a:lstStyle/>
          <a:p>
            <a:endParaRPr lang="en-US"/>
          </a:p>
        </p:txBody>
      </p:sp>
      <p:sp>
        <p:nvSpPr>
          <p:cNvPr id="28" name="Text 26"/>
          <p:cNvSpPr/>
          <p:nvPr/>
        </p:nvSpPr>
        <p:spPr>
          <a:xfrm>
            <a:off x="4114800" y="2697480"/>
            <a:ext cx="320040" cy="320040"/>
          </a:xfrm>
          <a:prstGeom prst="rect">
            <a:avLst/>
          </a:prstGeom>
          <a:noFill/>
          <a:ln/>
        </p:spPr>
        <p:txBody>
          <a:bodyPr wrap="square"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3</a:t>
            </a:r>
            <a:endParaRPr lang="en-US" sz="1000" dirty="0"/>
          </a:p>
        </p:txBody>
      </p:sp>
      <p:sp>
        <p:nvSpPr>
          <p:cNvPr id="29" name="Shape 27"/>
          <p:cNvSpPr/>
          <p:nvPr/>
        </p:nvSpPr>
        <p:spPr>
          <a:xfrm>
            <a:off x="5166360" y="1143000"/>
            <a:ext cx="1508760" cy="155448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0" name="Shape 28"/>
          <p:cNvSpPr/>
          <p:nvPr/>
        </p:nvSpPr>
        <p:spPr>
          <a:xfrm>
            <a:off x="5166360" y="1143000"/>
            <a:ext cx="1508760" cy="109728"/>
          </a:xfrm>
          <a:prstGeom prst="rect">
            <a:avLst/>
          </a:prstGeom>
          <a:solidFill>
            <a:srgbClr val="7B1FA2"/>
          </a:solidFill>
          <a:ln w="12700">
            <a:solidFill>
              <a:srgbClr val="7B1FA2">
                <a:alpha val="0"/>
              </a:srgbClr>
            </a:solidFill>
            <a:prstDash val="solid"/>
          </a:ln>
        </p:spPr>
        <p:txBody>
          <a:bodyPr/>
          <a:lstStyle/>
          <a:p>
            <a:endParaRPr lang="en-US"/>
          </a:p>
        </p:txBody>
      </p:sp>
      <p:sp>
        <p:nvSpPr>
          <p:cNvPr id="31" name="Text 29"/>
          <p:cNvSpPr/>
          <p:nvPr/>
        </p:nvSpPr>
        <p:spPr>
          <a:xfrm>
            <a:off x="5212080" y="1261872"/>
            <a:ext cx="1417320" cy="1371600"/>
          </a:xfrm>
          <a:prstGeom prst="rect">
            <a:avLst/>
          </a:prstGeom>
          <a:noFill/>
          <a:ln/>
        </p:spPr>
        <p:txBody>
          <a:bodyPr wrap="square" rtlCol="0" anchor="ctr"/>
          <a:lstStyle/>
          <a:p>
            <a:pPr marL="0" indent="0" algn="ctr">
              <a:buNone/>
            </a:pP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MobileNetV2</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Model</a:t>
            </a:r>
            <a:endParaRPr lang="en-US" sz="1400" dirty="0"/>
          </a:p>
        </p:txBody>
      </p:sp>
      <p:sp>
        <p:nvSpPr>
          <p:cNvPr id="32" name="Shape 30"/>
          <p:cNvSpPr/>
          <p:nvPr/>
        </p:nvSpPr>
        <p:spPr>
          <a:xfrm>
            <a:off x="6675120" y="1810512"/>
            <a:ext cx="320040" cy="36576"/>
          </a:xfrm>
          <a:prstGeom prst="rect">
            <a:avLst/>
          </a:prstGeom>
          <a:solidFill>
            <a:srgbClr val="7B1FA2"/>
          </a:solidFill>
          <a:ln w="12700">
            <a:solidFill>
              <a:srgbClr val="7B1FA2">
                <a:alpha val="0"/>
              </a:srgbClr>
            </a:solidFill>
            <a:prstDash val="solid"/>
          </a:ln>
        </p:spPr>
        <p:txBody>
          <a:bodyPr/>
          <a:lstStyle/>
          <a:p>
            <a:endParaRPr lang="en-US"/>
          </a:p>
        </p:txBody>
      </p:sp>
      <p:sp>
        <p:nvSpPr>
          <p:cNvPr id="33" name="Shape 31"/>
          <p:cNvSpPr/>
          <p:nvPr/>
        </p:nvSpPr>
        <p:spPr>
          <a:xfrm>
            <a:off x="6949440" y="1737360"/>
            <a:ext cx="45720" cy="182880"/>
          </a:xfrm>
          <a:prstGeom prst="rect">
            <a:avLst/>
          </a:prstGeom>
          <a:solidFill>
            <a:srgbClr val="7B1FA2"/>
          </a:solidFill>
          <a:ln w="12700">
            <a:solidFill>
              <a:srgbClr val="7B1FA2">
                <a:alpha val="0"/>
              </a:srgbClr>
            </a:solidFill>
            <a:prstDash val="solid"/>
          </a:ln>
        </p:spPr>
        <p:txBody>
          <a:bodyPr/>
          <a:lstStyle/>
          <a:p>
            <a:endParaRPr lang="en-US"/>
          </a:p>
        </p:txBody>
      </p:sp>
      <p:sp>
        <p:nvSpPr>
          <p:cNvPr id="34" name="Shape 32"/>
          <p:cNvSpPr/>
          <p:nvPr/>
        </p:nvSpPr>
        <p:spPr>
          <a:xfrm>
            <a:off x="5760720" y="2697480"/>
            <a:ext cx="320040" cy="320040"/>
          </a:xfrm>
          <a:prstGeom prst="ellipse">
            <a:avLst/>
          </a:prstGeom>
          <a:solidFill>
            <a:srgbClr val="7B1FA2">
              <a:alpha val="80000"/>
            </a:srgbClr>
          </a:solidFill>
          <a:ln w="12700">
            <a:solidFill>
              <a:srgbClr val="7B1FA2"/>
            </a:solidFill>
            <a:prstDash val="solid"/>
          </a:ln>
        </p:spPr>
        <p:txBody>
          <a:bodyPr/>
          <a:lstStyle/>
          <a:p>
            <a:endParaRPr lang="en-US"/>
          </a:p>
        </p:txBody>
      </p:sp>
      <p:sp>
        <p:nvSpPr>
          <p:cNvPr id="35" name="Text 33"/>
          <p:cNvSpPr/>
          <p:nvPr/>
        </p:nvSpPr>
        <p:spPr>
          <a:xfrm>
            <a:off x="5760720" y="2697480"/>
            <a:ext cx="320040" cy="320040"/>
          </a:xfrm>
          <a:prstGeom prst="rect">
            <a:avLst/>
          </a:prstGeom>
          <a:noFill/>
          <a:ln/>
        </p:spPr>
        <p:txBody>
          <a:bodyPr wrap="square"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4</a:t>
            </a:r>
            <a:endParaRPr lang="en-US" sz="1000" dirty="0"/>
          </a:p>
        </p:txBody>
      </p:sp>
      <p:sp>
        <p:nvSpPr>
          <p:cNvPr id="36" name="Shape 34"/>
          <p:cNvSpPr/>
          <p:nvPr/>
        </p:nvSpPr>
        <p:spPr>
          <a:xfrm>
            <a:off x="6812280" y="1143000"/>
            <a:ext cx="1508760" cy="1554480"/>
          </a:xfrm>
          <a:prstGeom prst="roundRect">
            <a:avLst>
              <a:gd name="adj" fmla="val 727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7" name="Shape 35"/>
          <p:cNvSpPr/>
          <p:nvPr/>
        </p:nvSpPr>
        <p:spPr>
          <a:xfrm>
            <a:off x="6812280" y="1143000"/>
            <a:ext cx="1508760" cy="109728"/>
          </a:xfrm>
          <a:prstGeom prst="rect">
            <a:avLst/>
          </a:prstGeom>
          <a:solidFill>
            <a:srgbClr val="00C853"/>
          </a:solidFill>
          <a:ln w="12700">
            <a:solidFill>
              <a:srgbClr val="00C853">
                <a:alpha val="0"/>
              </a:srgbClr>
            </a:solidFill>
            <a:prstDash val="solid"/>
          </a:ln>
        </p:spPr>
        <p:txBody>
          <a:bodyPr/>
          <a:lstStyle/>
          <a:p>
            <a:endParaRPr lang="en-US"/>
          </a:p>
        </p:txBody>
      </p:sp>
      <p:sp>
        <p:nvSpPr>
          <p:cNvPr id="38" name="Text 36"/>
          <p:cNvSpPr/>
          <p:nvPr/>
        </p:nvSpPr>
        <p:spPr>
          <a:xfrm>
            <a:off x="6858000" y="1261872"/>
            <a:ext cx="1417320" cy="1371600"/>
          </a:xfrm>
          <a:prstGeom prst="rect">
            <a:avLst/>
          </a:prstGeom>
          <a:noFill/>
          <a:ln/>
        </p:spPr>
        <p:txBody>
          <a:bodyPr wrap="square" rtlCol="0" anchor="ctr"/>
          <a:lstStyle/>
          <a:p>
            <a:pPr marL="0" indent="0" algn="ctr">
              <a:buNone/>
            </a:pP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Emotion</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Prediction</a:t>
            </a:r>
            <a:endParaRPr lang="en-US" sz="1400" dirty="0"/>
          </a:p>
        </p:txBody>
      </p:sp>
      <p:sp>
        <p:nvSpPr>
          <p:cNvPr id="39" name="Shape 37"/>
          <p:cNvSpPr/>
          <p:nvPr/>
        </p:nvSpPr>
        <p:spPr>
          <a:xfrm>
            <a:off x="7406640" y="2697480"/>
            <a:ext cx="320040" cy="32004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40" name="Text 38"/>
          <p:cNvSpPr/>
          <p:nvPr/>
        </p:nvSpPr>
        <p:spPr>
          <a:xfrm>
            <a:off x="7406640" y="2697480"/>
            <a:ext cx="320040" cy="320040"/>
          </a:xfrm>
          <a:prstGeom prst="rect">
            <a:avLst/>
          </a:prstGeom>
          <a:noFill/>
          <a:ln/>
        </p:spPr>
        <p:txBody>
          <a:bodyPr wrap="square"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5</a:t>
            </a:r>
            <a:endParaRPr lang="en-US" sz="1000" dirty="0"/>
          </a:p>
        </p:txBody>
      </p:sp>
      <p:sp>
        <p:nvSpPr>
          <p:cNvPr id="41" name="Shape 39"/>
          <p:cNvSpPr/>
          <p:nvPr/>
        </p:nvSpPr>
        <p:spPr>
          <a:xfrm>
            <a:off x="274320" y="3154680"/>
            <a:ext cx="1965960" cy="1691640"/>
          </a:xfrm>
          <a:prstGeom prst="roundRect">
            <a:avLst>
              <a:gd name="adj" fmla="val 6486"/>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2" name="Shape 40"/>
          <p:cNvSpPr/>
          <p:nvPr/>
        </p:nvSpPr>
        <p:spPr>
          <a:xfrm>
            <a:off x="274320" y="3154680"/>
            <a:ext cx="1965960" cy="45720"/>
          </a:xfrm>
          <a:prstGeom prst="rect">
            <a:avLst/>
          </a:prstGeom>
          <a:solidFill>
            <a:srgbClr val="1E88E5"/>
          </a:solidFill>
          <a:ln w="12700">
            <a:solidFill>
              <a:srgbClr val="1E88E5">
                <a:alpha val="0"/>
              </a:srgbClr>
            </a:solidFill>
            <a:prstDash val="solid"/>
          </a:ln>
        </p:spPr>
        <p:txBody>
          <a:bodyPr/>
          <a:lstStyle/>
          <a:p>
            <a:endParaRPr lang="en-US"/>
          </a:p>
        </p:txBody>
      </p:sp>
      <p:sp>
        <p:nvSpPr>
          <p:cNvPr id="43" name="Text 41"/>
          <p:cNvSpPr/>
          <p:nvPr/>
        </p:nvSpPr>
        <p:spPr>
          <a:xfrm>
            <a:off x="365760" y="3218688"/>
            <a:ext cx="1783080" cy="274320"/>
          </a:xfrm>
          <a:prstGeom prst="rect">
            <a:avLst/>
          </a:prstGeom>
          <a:noFill/>
          <a:ln/>
        </p:spPr>
        <p:txBody>
          <a:bodyPr wrap="square" rtlCol="0" anchor="ctr"/>
          <a:lstStyle/>
          <a:p>
            <a:pPr marL="0" indent="0">
              <a:buNone/>
            </a:pPr>
            <a:r>
              <a:rPr lang="en-US" sz="1000" b="1" dirty="0">
                <a:solidFill>
                  <a:srgbClr val="1E88E5"/>
                </a:solidFill>
                <a:latin typeface="Calibri" pitchFamily="34" charset="0"/>
                <a:ea typeface="Calibri" pitchFamily="34" charset="-122"/>
                <a:cs typeface="Calibri" pitchFamily="34" charset="-120"/>
              </a:rPr>
              <a:t>Face Detection</a:t>
            </a:r>
            <a:endParaRPr lang="en-US" sz="1000" dirty="0"/>
          </a:p>
        </p:txBody>
      </p:sp>
      <p:sp>
        <p:nvSpPr>
          <p:cNvPr id="44" name="Text 42"/>
          <p:cNvSpPr/>
          <p:nvPr/>
        </p:nvSpPr>
        <p:spPr>
          <a:xfrm>
            <a:off x="365760" y="3520440"/>
            <a:ext cx="1783080" cy="12344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OpenCV Haar Cascade detects and crops face regions with bounding boxes</a:t>
            </a:r>
            <a:endParaRPr lang="en-US" sz="1100" dirty="0"/>
          </a:p>
        </p:txBody>
      </p:sp>
      <p:sp>
        <p:nvSpPr>
          <p:cNvPr id="45" name="Shape 43"/>
          <p:cNvSpPr/>
          <p:nvPr/>
        </p:nvSpPr>
        <p:spPr>
          <a:xfrm>
            <a:off x="2468880" y="3154680"/>
            <a:ext cx="1965960" cy="1691640"/>
          </a:xfrm>
          <a:prstGeom prst="roundRect">
            <a:avLst>
              <a:gd name="adj" fmla="val 6486"/>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6" name="Shape 44"/>
          <p:cNvSpPr/>
          <p:nvPr/>
        </p:nvSpPr>
        <p:spPr>
          <a:xfrm>
            <a:off x="2468880" y="3154680"/>
            <a:ext cx="1965960" cy="45720"/>
          </a:xfrm>
          <a:prstGeom prst="rect">
            <a:avLst/>
          </a:prstGeom>
          <a:solidFill>
            <a:srgbClr val="00BCD4"/>
          </a:solidFill>
          <a:ln w="12700">
            <a:solidFill>
              <a:srgbClr val="00BCD4">
                <a:alpha val="0"/>
              </a:srgbClr>
            </a:solidFill>
            <a:prstDash val="solid"/>
          </a:ln>
        </p:spPr>
        <p:txBody>
          <a:bodyPr/>
          <a:lstStyle/>
          <a:p>
            <a:endParaRPr lang="en-US"/>
          </a:p>
        </p:txBody>
      </p:sp>
      <p:sp>
        <p:nvSpPr>
          <p:cNvPr id="47" name="Text 45"/>
          <p:cNvSpPr/>
          <p:nvPr/>
        </p:nvSpPr>
        <p:spPr>
          <a:xfrm>
            <a:off x="2560320" y="3218688"/>
            <a:ext cx="1783080" cy="274320"/>
          </a:xfrm>
          <a:prstGeom prst="rect">
            <a:avLst/>
          </a:prstGeom>
          <a:noFill/>
          <a:ln/>
        </p:spPr>
        <p:txBody>
          <a:bodyPr wrap="square" rtlCol="0" anchor="ctr"/>
          <a:lstStyle/>
          <a:p>
            <a:pPr marL="0" indent="0">
              <a:buNone/>
            </a:pPr>
            <a:r>
              <a:rPr lang="en-US" sz="1000" b="1" dirty="0">
                <a:solidFill>
                  <a:srgbClr val="00BCD4"/>
                </a:solidFill>
                <a:latin typeface="Calibri" pitchFamily="34" charset="0"/>
                <a:ea typeface="Calibri" pitchFamily="34" charset="-122"/>
                <a:cs typeface="Calibri" pitchFamily="34" charset="-120"/>
              </a:rPr>
              <a:t>Preprocessing</a:t>
            </a:r>
            <a:endParaRPr lang="en-US" sz="1000" dirty="0"/>
          </a:p>
        </p:txBody>
      </p:sp>
      <p:sp>
        <p:nvSpPr>
          <p:cNvPr id="48" name="Text 46"/>
          <p:cNvSpPr/>
          <p:nvPr/>
        </p:nvSpPr>
        <p:spPr>
          <a:xfrm>
            <a:off x="2560320" y="3520440"/>
            <a:ext cx="1783080" cy="12344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Resize to 48x48px, grayscale conversion, pixel normalization [0,1]</a:t>
            </a:r>
            <a:endParaRPr lang="en-US" sz="1100" dirty="0"/>
          </a:p>
        </p:txBody>
      </p:sp>
      <p:sp>
        <p:nvSpPr>
          <p:cNvPr id="49" name="Shape 47"/>
          <p:cNvSpPr/>
          <p:nvPr/>
        </p:nvSpPr>
        <p:spPr>
          <a:xfrm>
            <a:off x="4663440" y="3154680"/>
            <a:ext cx="1965960" cy="1691640"/>
          </a:xfrm>
          <a:prstGeom prst="roundRect">
            <a:avLst>
              <a:gd name="adj" fmla="val 6486"/>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0" name="Shape 48"/>
          <p:cNvSpPr/>
          <p:nvPr/>
        </p:nvSpPr>
        <p:spPr>
          <a:xfrm>
            <a:off x="4663440" y="3154680"/>
            <a:ext cx="1965960" cy="45720"/>
          </a:xfrm>
          <a:prstGeom prst="rect">
            <a:avLst/>
          </a:prstGeom>
          <a:solidFill>
            <a:srgbClr val="7B1FA2"/>
          </a:solidFill>
          <a:ln w="12700">
            <a:solidFill>
              <a:srgbClr val="7B1FA2">
                <a:alpha val="0"/>
              </a:srgbClr>
            </a:solidFill>
            <a:prstDash val="solid"/>
          </a:ln>
        </p:spPr>
        <p:txBody>
          <a:bodyPr/>
          <a:lstStyle/>
          <a:p>
            <a:endParaRPr lang="en-US"/>
          </a:p>
        </p:txBody>
      </p:sp>
      <p:sp>
        <p:nvSpPr>
          <p:cNvPr id="51" name="Text 49"/>
          <p:cNvSpPr/>
          <p:nvPr/>
        </p:nvSpPr>
        <p:spPr>
          <a:xfrm>
            <a:off x="4754880" y="3218688"/>
            <a:ext cx="1783080" cy="274320"/>
          </a:xfrm>
          <a:prstGeom prst="rect">
            <a:avLst/>
          </a:prstGeom>
          <a:noFill/>
          <a:ln/>
        </p:spPr>
        <p:txBody>
          <a:bodyPr wrap="square" rtlCol="0" anchor="ctr"/>
          <a:lstStyle/>
          <a:p>
            <a:pPr marL="0" indent="0">
              <a:buNone/>
            </a:pPr>
            <a:r>
              <a:rPr lang="en-US" sz="1000" b="1" dirty="0">
                <a:solidFill>
                  <a:srgbClr val="7B1FA2"/>
                </a:solidFill>
                <a:latin typeface="Calibri" pitchFamily="34" charset="0"/>
                <a:ea typeface="Calibri" pitchFamily="34" charset="-122"/>
                <a:cs typeface="Calibri" pitchFamily="34" charset="-120"/>
              </a:rPr>
              <a:t>Feature Extraction</a:t>
            </a:r>
            <a:endParaRPr lang="en-US" sz="1000" dirty="0"/>
          </a:p>
        </p:txBody>
      </p:sp>
      <p:sp>
        <p:nvSpPr>
          <p:cNvPr id="52" name="Text 50"/>
          <p:cNvSpPr/>
          <p:nvPr/>
        </p:nvSpPr>
        <p:spPr>
          <a:xfrm>
            <a:off x="4754880" y="3520440"/>
            <a:ext cx="1783080" cy="12344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MobileNetV2 depthwise separable convolutions extract rich feature maps</a:t>
            </a:r>
            <a:endParaRPr lang="en-US" sz="1100" dirty="0"/>
          </a:p>
        </p:txBody>
      </p:sp>
      <p:sp>
        <p:nvSpPr>
          <p:cNvPr id="53" name="Shape 51"/>
          <p:cNvSpPr/>
          <p:nvPr/>
        </p:nvSpPr>
        <p:spPr>
          <a:xfrm>
            <a:off x="6858000" y="3154680"/>
            <a:ext cx="1965960" cy="1691640"/>
          </a:xfrm>
          <a:prstGeom prst="roundRect">
            <a:avLst>
              <a:gd name="adj" fmla="val 6486"/>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4" name="Shape 52"/>
          <p:cNvSpPr/>
          <p:nvPr/>
        </p:nvSpPr>
        <p:spPr>
          <a:xfrm>
            <a:off x="6858000" y="3154680"/>
            <a:ext cx="1965960" cy="45720"/>
          </a:xfrm>
          <a:prstGeom prst="rect">
            <a:avLst/>
          </a:prstGeom>
          <a:solidFill>
            <a:srgbClr val="00C853"/>
          </a:solidFill>
          <a:ln w="12700">
            <a:solidFill>
              <a:srgbClr val="00C853">
                <a:alpha val="0"/>
              </a:srgbClr>
            </a:solidFill>
            <a:prstDash val="solid"/>
          </a:ln>
        </p:spPr>
        <p:txBody>
          <a:bodyPr/>
          <a:lstStyle/>
          <a:p>
            <a:endParaRPr lang="en-US"/>
          </a:p>
        </p:txBody>
      </p:sp>
      <p:sp>
        <p:nvSpPr>
          <p:cNvPr id="55" name="Text 53"/>
          <p:cNvSpPr/>
          <p:nvPr/>
        </p:nvSpPr>
        <p:spPr>
          <a:xfrm>
            <a:off x="6949440" y="3218688"/>
            <a:ext cx="1783080" cy="274320"/>
          </a:xfrm>
          <a:prstGeom prst="rect">
            <a:avLst/>
          </a:prstGeom>
          <a:noFill/>
          <a:ln/>
        </p:spPr>
        <p:txBody>
          <a:bodyPr wrap="square" rtlCol="0" anchor="ctr"/>
          <a:lstStyle/>
          <a:p>
            <a:pPr marL="0" indent="0">
              <a:buNone/>
            </a:pPr>
            <a:r>
              <a:rPr lang="en-US" sz="1000" b="1" dirty="0">
                <a:solidFill>
                  <a:srgbClr val="00C853"/>
                </a:solidFill>
                <a:latin typeface="Calibri" pitchFamily="34" charset="0"/>
                <a:ea typeface="Calibri" pitchFamily="34" charset="-122"/>
                <a:cs typeface="Calibri" pitchFamily="34" charset="-120"/>
              </a:rPr>
              <a:t>Classification</a:t>
            </a:r>
            <a:endParaRPr lang="en-US" sz="1000" dirty="0"/>
          </a:p>
        </p:txBody>
      </p:sp>
      <p:sp>
        <p:nvSpPr>
          <p:cNvPr id="56" name="Text 54"/>
          <p:cNvSpPr/>
          <p:nvPr/>
        </p:nvSpPr>
        <p:spPr>
          <a:xfrm>
            <a:off x="6949440" y="3520440"/>
            <a:ext cx="1783080" cy="12344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Softmax output layer predicts probability distribution over 7 emotions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a:effectLst/>
      </p:bgPr>
    </p:bg>
    <p:spTree>
      <p:nvGrpSpPr>
        <p:cNvPr id="1" name=""/>
        <p:cNvGrpSpPr/>
        <p:nvPr/>
      </p:nvGrpSpPr>
      <p:grpSpPr>
        <a:xfrm>
          <a:off x="0" y="0"/>
          <a:ext cx="0" cy="0"/>
          <a:chOff x="0" y="0"/>
          <a:chExt cx="0" cy="0"/>
        </a:xfrm>
      </p:grpSpPr>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System </a:t>
            </a:r>
            <a:r>
              <a:rPr lang="en-US" sz="2800" b="1" dirty="0">
                <a:solidFill>
                  <a:srgbClr val="FFFFFF"/>
                </a:solidFill>
                <a:latin typeface="Sitka Display Semibold" pitchFamily="2" charset="0"/>
                <a:ea typeface="Trebuchet MS" pitchFamily="34" charset="-122"/>
                <a:cs typeface="Trebuchet MS" pitchFamily="34" charset="-120"/>
              </a:rPr>
              <a:t>Architecture</a:t>
            </a:r>
            <a:endParaRPr lang="en-US" sz="2800" dirty="0">
              <a:latin typeface="Sitka Display Semibold" pitchFamily="2" charset="0"/>
            </a:endParaRPr>
          </a:p>
        </p:txBody>
      </p:sp>
      <p:sp>
        <p:nvSpPr>
          <p:cNvPr id="5" name="Shape 3"/>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6" name="Shape 4"/>
          <p:cNvSpPr/>
          <p:nvPr/>
        </p:nvSpPr>
        <p:spPr>
          <a:xfrm>
            <a:off x="320040" y="868680"/>
            <a:ext cx="2743200" cy="2933700"/>
          </a:xfrm>
          <a:prstGeom prst="roundRect">
            <a:avLst>
              <a:gd name="adj" fmla="val 4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320040" y="868680"/>
            <a:ext cx="2743200" cy="73152"/>
          </a:xfrm>
          <a:prstGeom prst="rect">
            <a:avLst/>
          </a:prstGeom>
          <a:solidFill>
            <a:srgbClr val="00BCD4"/>
          </a:solidFill>
          <a:ln w="12700">
            <a:solidFill>
              <a:srgbClr val="00BCD4">
                <a:alpha val="0"/>
              </a:srgbClr>
            </a:solidFill>
            <a:prstDash val="solid"/>
          </a:ln>
        </p:spPr>
        <p:txBody>
          <a:bodyPr/>
          <a:lstStyle/>
          <a:p>
            <a:endParaRPr lang="en-US"/>
          </a:p>
        </p:txBody>
      </p:sp>
      <p:sp>
        <p:nvSpPr>
          <p:cNvPr id="8" name="Text 6"/>
          <p:cNvSpPr/>
          <p:nvPr/>
        </p:nvSpPr>
        <p:spPr>
          <a:xfrm>
            <a:off x="320040" y="960120"/>
            <a:ext cx="2743200" cy="457200"/>
          </a:xfrm>
          <a:prstGeom prst="rect">
            <a:avLst/>
          </a:prstGeom>
          <a:noFill/>
          <a:ln/>
        </p:spPr>
        <p:txBody>
          <a:bodyPr wrap="square" rtlCol="0" anchor="ctr"/>
          <a:lstStyle/>
          <a:p>
            <a:pPr marL="0" indent="0" algn="ctr">
              <a:buNone/>
            </a:pPr>
            <a:endParaRPr lang="en-US" sz="2000" dirty="0"/>
          </a:p>
        </p:txBody>
      </p:sp>
      <p:sp>
        <p:nvSpPr>
          <p:cNvPr id="9" name="Text 7"/>
          <p:cNvSpPr/>
          <p:nvPr/>
        </p:nvSpPr>
        <p:spPr>
          <a:xfrm>
            <a:off x="320040" y="1417320"/>
            <a:ext cx="2743200" cy="292608"/>
          </a:xfrm>
          <a:prstGeom prst="rect">
            <a:avLst/>
          </a:prstGeom>
          <a:noFill/>
          <a:ln/>
        </p:spPr>
        <p:txBody>
          <a:bodyPr wrap="square" rtlCol="0" anchor="ctr"/>
          <a:lstStyle/>
          <a:p>
            <a:pPr marL="0" indent="0" algn="ctr">
              <a:buNone/>
            </a:pPr>
            <a:r>
              <a:rPr lang="en-US" sz="1000" b="1" dirty="0">
                <a:solidFill>
                  <a:srgbClr val="00BCD4"/>
                </a:solidFill>
                <a:latin typeface="Calibri" pitchFamily="34" charset="0"/>
                <a:ea typeface="Calibri" pitchFamily="34" charset="-122"/>
                <a:cs typeface="Calibri" pitchFamily="34" charset="-120"/>
              </a:rPr>
              <a:t>FRONTEND LAYER</a:t>
            </a:r>
            <a:endParaRPr lang="en-US" sz="1000" dirty="0"/>
          </a:p>
        </p:txBody>
      </p:sp>
      <p:sp>
        <p:nvSpPr>
          <p:cNvPr id="10" name="Text 8"/>
          <p:cNvSpPr/>
          <p:nvPr/>
        </p:nvSpPr>
        <p:spPr>
          <a:xfrm>
            <a:off x="320040" y="1709928"/>
            <a:ext cx="2743200" cy="256032"/>
          </a:xfrm>
          <a:prstGeom prst="rect">
            <a:avLst/>
          </a:prstGeom>
          <a:noFill/>
          <a:ln/>
        </p:spPr>
        <p:txBody>
          <a:bodyPr wrap="square" rtlCol="0" anchor="ctr"/>
          <a:lstStyle/>
          <a:p>
            <a:pPr marL="0" indent="0" algn="ctr">
              <a:buNone/>
            </a:pPr>
            <a:r>
              <a:rPr lang="en-US" sz="900" i="1" dirty="0">
                <a:solidFill>
                  <a:srgbClr val="90A4AE"/>
                </a:solidFill>
                <a:latin typeface="Calibri" pitchFamily="34" charset="0"/>
                <a:ea typeface="Calibri" pitchFamily="34" charset="-122"/>
                <a:cs typeface="Calibri" pitchFamily="34" charset="-120"/>
              </a:rPr>
              <a:t>React.js Application</a:t>
            </a:r>
            <a:endParaRPr lang="en-US" sz="900" dirty="0"/>
          </a:p>
        </p:txBody>
      </p:sp>
      <p:sp>
        <p:nvSpPr>
          <p:cNvPr id="11" name="Shape 9"/>
          <p:cNvSpPr/>
          <p:nvPr/>
        </p:nvSpPr>
        <p:spPr>
          <a:xfrm>
            <a:off x="502920" y="2011680"/>
            <a:ext cx="237744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12" name="Shape 10"/>
          <p:cNvSpPr/>
          <p:nvPr/>
        </p:nvSpPr>
        <p:spPr>
          <a:xfrm>
            <a:off x="521208" y="2121408"/>
            <a:ext cx="109728" cy="109728"/>
          </a:xfrm>
          <a:prstGeom prst="ellipse">
            <a:avLst/>
          </a:prstGeom>
          <a:solidFill>
            <a:srgbClr val="00BCD4"/>
          </a:solidFill>
          <a:ln w="12700">
            <a:solidFill>
              <a:srgbClr val="00BCD4">
                <a:alpha val="0"/>
              </a:srgbClr>
            </a:solidFill>
            <a:prstDash val="solid"/>
          </a:ln>
        </p:spPr>
        <p:txBody>
          <a:bodyPr/>
          <a:lstStyle/>
          <a:p>
            <a:endParaRPr lang="en-US"/>
          </a:p>
        </p:txBody>
      </p:sp>
      <p:sp>
        <p:nvSpPr>
          <p:cNvPr id="13" name="Text 11"/>
          <p:cNvSpPr/>
          <p:nvPr/>
        </p:nvSpPr>
        <p:spPr>
          <a:xfrm>
            <a:off x="685800" y="2093976"/>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Webcam Interface</a:t>
            </a:r>
            <a:endParaRPr lang="en-US" sz="1100" dirty="0"/>
          </a:p>
        </p:txBody>
      </p:sp>
      <p:sp>
        <p:nvSpPr>
          <p:cNvPr id="14" name="Shape 12"/>
          <p:cNvSpPr/>
          <p:nvPr/>
        </p:nvSpPr>
        <p:spPr>
          <a:xfrm>
            <a:off x="521208" y="2468880"/>
            <a:ext cx="109728" cy="109728"/>
          </a:xfrm>
          <a:prstGeom prst="ellipse">
            <a:avLst/>
          </a:prstGeom>
          <a:solidFill>
            <a:srgbClr val="00BCD4"/>
          </a:solidFill>
          <a:ln w="12700">
            <a:solidFill>
              <a:srgbClr val="00BCD4">
                <a:alpha val="0"/>
              </a:srgbClr>
            </a:solidFill>
            <a:prstDash val="solid"/>
          </a:ln>
        </p:spPr>
        <p:txBody>
          <a:bodyPr/>
          <a:lstStyle/>
          <a:p>
            <a:endParaRPr lang="en-US"/>
          </a:p>
        </p:txBody>
      </p:sp>
      <p:sp>
        <p:nvSpPr>
          <p:cNvPr id="15" name="Text 13"/>
          <p:cNvSpPr/>
          <p:nvPr/>
        </p:nvSpPr>
        <p:spPr>
          <a:xfrm>
            <a:off x="685800" y="2441448"/>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Image Upload</a:t>
            </a:r>
            <a:endParaRPr lang="en-US" sz="1100" dirty="0"/>
          </a:p>
        </p:txBody>
      </p:sp>
      <p:sp>
        <p:nvSpPr>
          <p:cNvPr id="16" name="Shape 14"/>
          <p:cNvSpPr/>
          <p:nvPr/>
        </p:nvSpPr>
        <p:spPr>
          <a:xfrm>
            <a:off x="521208" y="2816352"/>
            <a:ext cx="109728" cy="109728"/>
          </a:xfrm>
          <a:prstGeom prst="ellipse">
            <a:avLst/>
          </a:prstGeom>
          <a:solidFill>
            <a:srgbClr val="00BCD4"/>
          </a:solidFill>
          <a:ln w="12700">
            <a:solidFill>
              <a:srgbClr val="00BCD4">
                <a:alpha val="0"/>
              </a:srgbClr>
            </a:solidFill>
            <a:prstDash val="solid"/>
          </a:ln>
        </p:spPr>
        <p:txBody>
          <a:bodyPr/>
          <a:lstStyle/>
          <a:p>
            <a:endParaRPr lang="en-US"/>
          </a:p>
        </p:txBody>
      </p:sp>
      <p:sp>
        <p:nvSpPr>
          <p:cNvPr id="17" name="Text 15"/>
          <p:cNvSpPr/>
          <p:nvPr/>
        </p:nvSpPr>
        <p:spPr>
          <a:xfrm>
            <a:off x="685800" y="2788920"/>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Emotion Display</a:t>
            </a:r>
            <a:endParaRPr lang="en-US" sz="1100" dirty="0"/>
          </a:p>
        </p:txBody>
      </p:sp>
      <p:sp>
        <p:nvSpPr>
          <p:cNvPr id="18" name="Shape 16"/>
          <p:cNvSpPr/>
          <p:nvPr/>
        </p:nvSpPr>
        <p:spPr>
          <a:xfrm>
            <a:off x="521208" y="3163824"/>
            <a:ext cx="109728" cy="109728"/>
          </a:xfrm>
          <a:prstGeom prst="ellipse">
            <a:avLst/>
          </a:prstGeom>
          <a:solidFill>
            <a:srgbClr val="00BCD4"/>
          </a:solidFill>
          <a:ln w="12700">
            <a:solidFill>
              <a:srgbClr val="00BCD4">
                <a:alpha val="0"/>
              </a:srgbClr>
            </a:solidFill>
            <a:prstDash val="solid"/>
          </a:ln>
        </p:spPr>
        <p:txBody>
          <a:bodyPr/>
          <a:lstStyle/>
          <a:p>
            <a:endParaRPr lang="en-US"/>
          </a:p>
        </p:txBody>
      </p:sp>
      <p:sp>
        <p:nvSpPr>
          <p:cNvPr id="19" name="Text 17"/>
          <p:cNvSpPr/>
          <p:nvPr/>
        </p:nvSpPr>
        <p:spPr>
          <a:xfrm>
            <a:off x="685800" y="3136392"/>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Results Dashboard</a:t>
            </a:r>
            <a:endParaRPr lang="en-US" sz="1100" dirty="0"/>
          </a:p>
        </p:txBody>
      </p:sp>
      <p:sp>
        <p:nvSpPr>
          <p:cNvPr id="20" name="Text 18"/>
          <p:cNvSpPr/>
          <p:nvPr/>
        </p:nvSpPr>
        <p:spPr>
          <a:xfrm>
            <a:off x="274320" y="3593592"/>
            <a:ext cx="2743200" cy="137160"/>
          </a:xfrm>
          <a:prstGeom prst="rect">
            <a:avLst/>
          </a:prstGeom>
          <a:noFill/>
          <a:ln/>
        </p:spPr>
        <p:txBody>
          <a:bodyPr wrap="square" rtlCol="0" anchor="ctr"/>
          <a:lstStyle/>
          <a:p>
            <a:pPr marL="0" indent="0" algn="ctr">
              <a:buNone/>
            </a:pPr>
            <a:r>
              <a:rPr lang="en-US" sz="800" dirty="0">
                <a:solidFill>
                  <a:srgbClr val="90A4AE"/>
                </a:solidFill>
                <a:latin typeface="Consolas" pitchFamily="34" charset="0"/>
                <a:ea typeface="Consolas" pitchFamily="34" charset="-122"/>
                <a:cs typeface="Consolas" pitchFamily="34" charset="-120"/>
              </a:rPr>
              <a:t>Port: 3000</a:t>
            </a:r>
            <a:endParaRPr lang="en-US" sz="800" dirty="0"/>
          </a:p>
        </p:txBody>
      </p:sp>
      <p:sp>
        <p:nvSpPr>
          <p:cNvPr id="21" name="Shape 19"/>
          <p:cNvSpPr/>
          <p:nvPr/>
        </p:nvSpPr>
        <p:spPr>
          <a:xfrm>
            <a:off x="3246120" y="868680"/>
            <a:ext cx="2743200" cy="2933700"/>
          </a:xfrm>
          <a:prstGeom prst="roundRect">
            <a:avLst>
              <a:gd name="adj" fmla="val 4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2" name="Shape 20"/>
          <p:cNvSpPr/>
          <p:nvPr/>
        </p:nvSpPr>
        <p:spPr>
          <a:xfrm>
            <a:off x="3246120" y="868680"/>
            <a:ext cx="2743200" cy="73152"/>
          </a:xfrm>
          <a:prstGeom prst="rect">
            <a:avLst/>
          </a:prstGeom>
          <a:solidFill>
            <a:srgbClr val="7B1FA2"/>
          </a:solidFill>
          <a:ln w="12700">
            <a:solidFill>
              <a:srgbClr val="7B1FA2">
                <a:alpha val="0"/>
              </a:srgbClr>
            </a:solidFill>
            <a:prstDash val="solid"/>
          </a:ln>
        </p:spPr>
        <p:txBody>
          <a:bodyPr/>
          <a:lstStyle/>
          <a:p>
            <a:endParaRPr lang="en-US"/>
          </a:p>
        </p:txBody>
      </p:sp>
      <p:sp>
        <p:nvSpPr>
          <p:cNvPr id="23" name="Text 21"/>
          <p:cNvSpPr/>
          <p:nvPr/>
        </p:nvSpPr>
        <p:spPr>
          <a:xfrm>
            <a:off x="3246120" y="960120"/>
            <a:ext cx="2743200" cy="457200"/>
          </a:xfrm>
          <a:prstGeom prst="rect">
            <a:avLst/>
          </a:prstGeom>
          <a:noFill/>
          <a:ln/>
        </p:spPr>
        <p:txBody>
          <a:bodyPr wrap="square" rtlCol="0" anchor="ctr"/>
          <a:lstStyle/>
          <a:p>
            <a:pPr marL="0" indent="0" algn="ctr">
              <a:buNone/>
            </a:pPr>
            <a:endParaRPr lang="en-US" sz="2000" dirty="0"/>
          </a:p>
        </p:txBody>
      </p:sp>
      <p:sp>
        <p:nvSpPr>
          <p:cNvPr id="24" name="Text 22"/>
          <p:cNvSpPr/>
          <p:nvPr/>
        </p:nvSpPr>
        <p:spPr>
          <a:xfrm>
            <a:off x="3246120" y="1417320"/>
            <a:ext cx="2743200" cy="292608"/>
          </a:xfrm>
          <a:prstGeom prst="rect">
            <a:avLst/>
          </a:prstGeom>
          <a:noFill/>
          <a:ln/>
        </p:spPr>
        <p:txBody>
          <a:bodyPr wrap="square" rtlCol="0" anchor="ctr"/>
          <a:lstStyle/>
          <a:p>
            <a:pPr marL="0" indent="0" algn="ctr">
              <a:buNone/>
            </a:pPr>
            <a:r>
              <a:rPr lang="en-US" sz="1000" b="1" dirty="0">
                <a:solidFill>
                  <a:srgbClr val="7B1FA2"/>
                </a:solidFill>
                <a:latin typeface="Calibri" pitchFamily="34" charset="0"/>
                <a:ea typeface="Calibri" pitchFamily="34" charset="-122"/>
                <a:cs typeface="Calibri" pitchFamily="34" charset="-120"/>
              </a:rPr>
              <a:t>BACKEND LAYER</a:t>
            </a:r>
            <a:endParaRPr lang="en-US" sz="1000" dirty="0"/>
          </a:p>
        </p:txBody>
      </p:sp>
      <p:sp>
        <p:nvSpPr>
          <p:cNvPr id="25" name="Text 23"/>
          <p:cNvSpPr/>
          <p:nvPr/>
        </p:nvSpPr>
        <p:spPr>
          <a:xfrm>
            <a:off x="3246120" y="1709928"/>
            <a:ext cx="2743200" cy="256032"/>
          </a:xfrm>
          <a:prstGeom prst="rect">
            <a:avLst/>
          </a:prstGeom>
          <a:noFill/>
          <a:ln/>
        </p:spPr>
        <p:txBody>
          <a:bodyPr wrap="square" rtlCol="0" anchor="ctr"/>
          <a:lstStyle/>
          <a:p>
            <a:pPr marL="0" indent="0" algn="ctr">
              <a:buNone/>
            </a:pPr>
            <a:r>
              <a:rPr lang="en-US" sz="900" i="1" dirty="0">
                <a:solidFill>
                  <a:srgbClr val="90A4AE"/>
                </a:solidFill>
                <a:latin typeface="Calibri" pitchFamily="34" charset="0"/>
                <a:ea typeface="Calibri" pitchFamily="34" charset="-122"/>
                <a:cs typeface="Calibri" pitchFamily="34" charset="-120"/>
              </a:rPr>
              <a:t>Flask REST API</a:t>
            </a:r>
            <a:endParaRPr lang="en-US" sz="900" dirty="0"/>
          </a:p>
        </p:txBody>
      </p:sp>
      <p:sp>
        <p:nvSpPr>
          <p:cNvPr id="26" name="Shape 24"/>
          <p:cNvSpPr/>
          <p:nvPr/>
        </p:nvSpPr>
        <p:spPr>
          <a:xfrm>
            <a:off x="3429000" y="2011680"/>
            <a:ext cx="2377440" cy="27432"/>
          </a:xfrm>
          <a:prstGeom prst="rect">
            <a:avLst/>
          </a:prstGeom>
          <a:solidFill>
            <a:srgbClr val="7B1FA2"/>
          </a:solidFill>
          <a:ln w="12700">
            <a:solidFill>
              <a:srgbClr val="7B1FA2">
                <a:alpha val="0"/>
              </a:srgbClr>
            </a:solidFill>
            <a:prstDash val="solid"/>
          </a:ln>
        </p:spPr>
        <p:txBody>
          <a:bodyPr/>
          <a:lstStyle/>
          <a:p>
            <a:endParaRPr lang="en-US"/>
          </a:p>
        </p:txBody>
      </p:sp>
      <p:sp>
        <p:nvSpPr>
          <p:cNvPr id="27" name="Shape 25"/>
          <p:cNvSpPr/>
          <p:nvPr/>
        </p:nvSpPr>
        <p:spPr>
          <a:xfrm>
            <a:off x="3447288" y="2121408"/>
            <a:ext cx="109728" cy="109728"/>
          </a:xfrm>
          <a:prstGeom prst="ellipse">
            <a:avLst/>
          </a:prstGeom>
          <a:solidFill>
            <a:srgbClr val="7B1FA2"/>
          </a:solidFill>
          <a:ln w="12700">
            <a:solidFill>
              <a:srgbClr val="7B1FA2">
                <a:alpha val="0"/>
              </a:srgbClr>
            </a:solidFill>
            <a:prstDash val="solid"/>
          </a:ln>
        </p:spPr>
        <p:txBody>
          <a:bodyPr/>
          <a:lstStyle/>
          <a:p>
            <a:endParaRPr lang="en-US"/>
          </a:p>
        </p:txBody>
      </p:sp>
      <p:sp>
        <p:nvSpPr>
          <p:cNvPr id="28" name="Text 26"/>
          <p:cNvSpPr/>
          <p:nvPr/>
        </p:nvSpPr>
        <p:spPr>
          <a:xfrm>
            <a:off x="3611880" y="2093976"/>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API Endpoints</a:t>
            </a:r>
            <a:endParaRPr lang="en-US" sz="1100" dirty="0"/>
          </a:p>
        </p:txBody>
      </p:sp>
      <p:sp>
        <p:nvSpPr>
          <p:cNvPr id="29" name="Shape 27"/>
          <p:cNvSpPr/>
          <p:nvPr/>
        </p:nvSpPr>
        <p:spPr>
          <a:xfrm>
            <a:off x="3447288" y="2468880"/>
            <a:ext cx="109728" cy="109728"/>
          </a:xfrm>
          <a:prstGeom prst="ellipse">
            <a:avLst/>
          </a:prstGeom>
          <a:solidFill>
            <a:srgbClr val="7B1FA2"/>
          </a:solidFill>
          <a:ln w="12700">
            <a:solidFill>
              <a:srgbClr val="7B1FA2">
                <a:alpha val="0"/>
              </a:srgbClr>
            </a:solidFill>
            <a:prstDash val="solid"/>
          </a:ln>
        </p:spPr>
        <p:txBody>
          <a:bodyPr/>
          <a:lstStyle/>
          <a:p>
            <a:endParaRPr lang="en-US"/>
          </a:p>
        </p:txBody>
      </p:sp>
      <p:sp>
        <p:nvSpPr>
          <p:cNvPr id="30" name="Text 28"/>
          <p:cNvSpPr/>
          <p:nvPr/>
        </p:nvSpPr>
        <p:spPr>
          <a:xfrm>
            <a:off x="3611880" y="2441448"/>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Request Processing</a:t>
            </a:r>
            <a:endParaRPr lang="en-US" sz="1100" dirty="0"/>
          </a:p>
        </p:txBody>
      </p:sp>
      <p:sp>
        <p:nvSpPr>
          <p:cNvPr id="31" name="Shape 29"/>
          <p:cNvSpPr/>
          <p:nvPr/>
        </p:nvSpPr>
        <p:spPr>
          <a:xfrm>
            <a:off x="3447288" y="2816352"/>
            <a:ext cx="109728" cy="109728"/>
          </a:xfrm>
          <a:prstGeom prst="ellipse">
            <a:avLst/>
          </a:prstGeom>
          <a:solidFill>
            <a:srgbClr val="7B1FA2"/>
          </a:solidFill>
          <a:ln w="12700">
            <a:solidFill>
              <a:srgbClr val="7B1FA2">
                <a:alpha val="0"/>
              </a:srgbClr>
            </a:solidFill>
            <a:prstDash val="solid"/>
          </a:ln>
        </p:spPr>
        <p:txBody>
          <a:bodyPr/>
          <a:lstStyle/>
          <a:p>
            <a:endParaRPr lang="en-US"/>
          </a:p>
        </p:txBody>
      </p:sp>
      <p:sp>
        <p:nvSpPr>
          <p:cNvPr id="32" name="Text 30"/>
          <p:cNvSpPr/>
          <p:nvPr/>
        </p:nvSpPr>
        <p:spPr>
          <a:xfrm>
            <a:off x="3611880" y="2788920"/>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Response Formatting</a:t>
            </a:r>
            <a:endParaRPr lang="en-US" sz="1100" dirty="0"/>
          </a:p>
        </p:txBody>
      </p:sp>
      <p:sp>
        <p:nvSpPr>
          <p:cNvPr id="33" name="Shape 31"/>
          <p:cNvSpPr/>
          <p:nvPr/>
        </p:nvSpPr>
        <p:spPr>
          <a:xfrm>
            <a:off x="3447288" y="3163824"/>
            <a:ext cx="109728" cy="109728"/>
          </a:xfrm>
          <a:prstGeom prst="ellipse">
            <a:avLst/>
          </a:prstGeom>
          <a:solidFill>
            <a:srgbClr val="7B1FA2"/>
          </a:solidFill>
          <a:ln w="12700">
            <a:solidFill>
              <a:srgbClr val="7B1FA2">
                <a:alpha val="0"/>
              </a:srgbClr>
            </a:solidFill>
            <a:prstDash val="solid"/>
          </a:ln>
        </p:spPr>
        <p:txBody>
          <a:bodyPr/>
          <a:lstStyle/>
          <a:p>
            <a:endParaRPr lang="en-US"/>
          </a:p>
        </p:txBody>
      </p:sp>
      <p:sp>
        <p:nvSpPr>
          <p:cNvPr id="34" name="Text 32"/>
          <p:cNvSpPr/>
          <p:nvPr/>
        </p:nvSpPr>
        <p:spPr>
          <a:xfrm>
            <a:off x="3611880" y="3136392"/>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Authentication</a:t>
            </a:r>
            <a:endParaRPr lang="en-US" sz="1100" dirty="0"/>
          </a:p>
        </p:txBody>
      </p:sp>
      <p:sp>
        <p:nvSpPr>
          <p:cNvPr id="35" name="Text 33"/>
          <p:cNvSpPr/>
          <p:nvPr/>
        </p:nvSpPr>
        <p:spPr>
          <a:xfrm>
            <a:off x="3200400" y="3593592"/>
            <a:ext cx="2743200" cy="137160"/>
          </a:xfrm>
          <a:prstGeom prst="rect">
            <a:avLst/>
          </a:prstGeom>
          <a:noFill/>
          <a:ln/>
        </p:spPr>
        <p:txBody>
          <a:bodyPr wrap="square" rtlCol="0" anchor="ctr"/>
          <a:lstStyle/>
          <a:p>
            <a:pPr marL="0" indent="0" algn="ctr">
              <a:buNone/>
            </a:pPr>
            <a:r>
              <a:rPr lang="en-US" sz="800" dirty="0">
                <a:solidFill>
                  <a:srgbClr val="90A4AE"/>
                </a:solidFill>
                <a:latin typeface="Consolas" pitchFamily="34" charset="0"/>
                <a:ea typeface="Consolas" pitchFamily="34" charset="-122"/>
                <a:cs typeface="Consolas" pitchFamily="34" charset="-120"/>
              </a:rPr>
              <a:t>Port: 5000</a:t>
            </a:r>
            <a:endParaRPr lang="en-US" sz="800" dirty="0"/>
          </a:p>
        </p:txBody>
      </p:sp>
      <p:sp>
        <p:nvSpPr>
          <p:cNvPr id="36" name="Shape 34"/>
          <p:cNvSpPr/>
          <p:nvPr/>
        </p:nvSpPr>
        <p:spPr>
          <a:xfrm>
            <a:off x="6172200" y="868680"/>
            <a:ext cx="2743200" cy="2933700"/>
          </a:xfrm>
          <a:prstGeom prst="roundRect">
            <a:avLst>
              <a:gd name="adj" fmla="val 4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7" name="Shape 35"/>
          <p:cNvSpPr/>
          <p:nvPr/>
        </p:nvSpPr>
        <p:spPr>
          <a:xfrm>
            <a:off x="6172200" y="868680"/>
            <a:ext cx="2743200" cy="73152"/>
          </a:xfrm>
          <a:prstGeom prst="rect">
            <a:avLst/>
          </a:prstGeom>
          <a:solidFill>
            <a:srgbClr val="00C853"/>
          </a:solidFill>
          <a:ln w="12700">
            <a:solidFill>
              <a:srgbClr val="00C853">
                <a:alpha val="0"/>
              </a:srgbClr>
            </a:solidFill>
            <a:prstDash val="solid"/>
          </a:ln>
        </p:spPr>
        <p:txBody>
          <a:bodyPr/>
          <a:lstStyle/>
          <a:p>
            <a:endParaRPr lang="en-US"/>
          </a:p>
        </p:txBody>
      </p:sp>
      <p:sp>
        <p:nvSpPr>
          <p:cNvPr id="38" name="Text 36"/>
          <p:cNvSpPr/>
          <p:nvPr/>
        </p:nvSpPr>
        <p:spPr>
          <a:xfrm>
            <a:off x="6172200" y="960120"/>
            <a:ext cx="2743200" cy="457200"/>
          </a:xfrm>
          <a:prstGeom prst="rect">
            <a:avLst/>
          </a:prstGeom>
          <a:noFill/>
          <a:ln/>
        </p:spPr>
        <p:txBody>
          <a:bodyPr wrap="square" rtlCol="0" anchor="ctr"/>
          <a:lstStyle/>
          <a:p>
            <a:pPr marL="0" indent="0" algn="ctr">
              <a:buNone/>
            </a:pPr>
            <a:endParaRPr lang="en-US" sz="2000" dirty="0"/>
          </a:p>
        </p:txBody>
      </p:sp>
      <p:sp>
        <p:nvSpPr>
          <p:cNvPr id="39" name="Text 37"/>
          <p:cNvSpPr/>
          <p:nvPr/>
        </p:nvSpPr>
        <p:spPr>
          <a:xfrm>
            <a:off x="6172200" y="1417320"/>
            <a:ext cx="2743200" cy="292608"/>
          </a:xfrm>
          <a:prstGeom prst="rect">
            <a:avLst/>
          </a:prstGeom>
          <a:noFill/>
          <a:ln/>
        </p:spPr>
        <p:txBody>
          <a:bodyPr wrap="square" rtlCol="0" anchor="ctr"/>
          <a:lstStyle/>
          <a:p>
            <a:pPr marL="0" indent="0" algn="ctr">
              <a:buNone/>
            </a:pPr>
            <a:r>
              <a:rPr lang="en-US" sz="1000" b="1" dirty="0">
                <a:solidFill>
                  <a:srgbClr val="00C853"/>
                </a:solidFill>
                <a:latin typeface="Calibri" pitchFamily="34" charset="0"/>
                <a:ea typeface="Calibri" pitchFamily="34" charset="-122"/>
                <a:cs typeface="Calibri" pitchFamily="34" charset="-120"/>
              </a:rPr>
              <a:t>AI MODEL LAYER</a:t>
            </a:r>
            <a:endParaRPr lang="en-US" sz="1000" dirty="0"/>
          </a:p>
        </p:txBody>
      </p:sp>
      <p:sp>
        <p:nvSpPr>
          <p:cNvPr id="40" name="Text 38"/>
          <p:cNvSpPr/>
          <p:nvPr/>
        </p:nvSpPr>
        <p:spPr>
          <a:xfrm>
            <a:off x="6172200" y="1709928"/>
            <a:ext cx="2743200" cy="256032"/>
          </a:xfrm>
          <a:prstGeom prst="rect">
            <a:avLst/>
          </a:prstGeom>
          <a:noFill/>
          <a:ln/>
        </p:spPr>
        <p:txBody>
          <a:bodyPr wrap="square" rtlCol="0" anchor="ctr"/>
          <a:lstStyle/>
          <a:p>
            <a:pPr marL="0" indent="0" algn="ctr">
              <a:buNone/>
            </a:pPr>
            <a:r>
              <a:rPr lang="en-US" sz="900" i="1" dirty="0">
                <a:solidFill>
                  <a:srgbClr val="90A4AE"/>
                </a:solidFill>
                <a:latin typeface="Calibri" pitchFamily="34" charset="0"/>
                <a:ea typeface="Calibri" pitchFamily="34" charset="-122"/>
                <a:cs typeface="Calibri" pitchFamily="34" charset="-120"/>
              </a:rPr>
              <a:t>TensorFlow / MobileNetV2</a:t>
            </a:r>
            <a:endParaRPr lang="en-US" sz="900" dirty="0"/>
          </a:p>
        </p:txBody>
      </p:sp>
      <p:sp>
        <p:nvSpPr>
          <p:cNvPr id="41" name="Shape 39"/>
          <p:cNvSpPr/>
          <p:nvPr/>
        </p:nvSpPr>
        <p:spPr>
          <a:xfrm>
            <a:off x="6355080" y="2011680"/>
            <a:ext cx="2377440" cy="27432"/>
          </a:xfrm>
          <a:prstGeom prst="rect">
            <a:avLst/>
          </a:prstGeom>
          <a:solidFill>
            <a:srgbClr val="00C853"/>
          </a:solidFill>
          <a:ln w="12700">
            <a:solidFill>
              <a:srgbClr val="00C853">
                <a:alpha val="0"/>
              </a:srgbClr>
            </a:solidFill>
            <a:prstDash val="solid"/>
          </a:ln>
        </p:spPr>
        <p:txBody>
          <a:bodyPr/>
          <a:lstStyle/>
          <a:p>
            <a:endParaRPr lang="en-US"/>
          </a:p>
        </p:txBody>
      </p:sp>
      <p:sp>
        <p:nvSpPr>
          <p:cNvPr id="42" name="Shape 40"/>
          <p:cNvSpPr/>
          <p:nvPr/>
        </p:nvSpPr>
        <p:spPr>
          <a:xfrm>
            <a:off x="6373368" y="2121408"/>
            <a:ext cx="109728" cy="109728"/>
          </a:xfrm>
          <a:prstGeom prst="ellipse">
            <a:avLst/>
          </a:prstGeom>
          <a:solidFill>
            <a:srgbClr val="00C853"/>
          </a:solidFill>
          <a:ln w="12700">
            <a:solidFill>
              <a:srgbClr val="00C853">
                <a:alpha val="0"/>
              </a:srgbClr>
            </a:solidFill>
            <a:prstDash val="solid"/>
          </a:ln>
        </p:spPr>
        <p:txBody>
          <a:bodyPr/>
          <a:lstStyle/>
          <a:p>
            <a:endParaRPr lang="en-US"/>
          </a:p>
        </p:txBody>
      </p:sp>
      <p:sp>
        <p:nvSpPr>
          <p:cNvPr id="43" name="Text 41"/>
          <p:cNvSpPr/>
          <p:nvPr/>
        </p:nvSpPr>
        <p:spPr>
          <a:xfrm>
            <a:off x="6537960" y="2093976"/>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Model Loading</a:t>
            </a:r>
            <a:endParaRPr lang="en-US" sz="1100" dirty="0"/>
          </a:p>
        </p:txBody>
      </p:sp>
      <p:sp>
        <p:nvSpPr>
          <p:cNvPr id="44" name="Shape 42"/>
          <p:cNvSpPr/>
          <p:nvPr/>
        </p:nvSpPr>
        <p:spPr>
          <a:xfrm>
            <a:off x="6373368" y="2468880"/>
            <a:ext cx="109728" cy="109728"/>
          </a:xfrm>
          <a:prstGeom prst="ellipse">
            <a:avLst/>
          </a:prstGeom>
          <a:solidFill>
            <a:srgbClr val="00C853"/>
          </a:solidFill>
          <a:ln w="12700">
            <a:solidFill>
              <a:srgbClr val="00C853">
                <a:alpha val="0"/>
              </a:srgbClr>
            </a:solidFill>
            <a:prstDash val="solid"/>
          </a:ln>
        </p:spPr>
        <p:txBody>
          <a:bodyPr/>
          <a:lstStyle/>
          <a:p>
            <a:endParaRPr lang="en-US"/>
          </a:p>
        </p:txBody>
      </p:sp>
      <p:sp>
        <p:nvSpPr>
          <p:cNvPr id="45" name="Text 43"/>
          <p:cNvSpPr/>
          <p:nvPr/>
        </p:nvSpPr>
        <p:spPr>
          <a:xfrm>
            <a:off x="6537960" y="2441448"/>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Preprocessing</a:t>
            </a:r>
            <a:endParaRPr lang="en-US" sz="1100" dirty="0"/>
          </a:p>
        </p:txBody>
      </p:sp>
      <p:sp>
        <p:nvSpPr>
          <p:cNvPr id="46" name="Shape 44"/>
          <p:cNvSpPr/>
          <p:nvPr/>
        </p:nvSpPr>
        <p:spPr>
          <a:xfrm>
            <a:off x="6373368" y="2816352"/>
            <a:ext cx="109728" cy="109728"/>
          </a:xfrm>
          <a:prstGeom prst="ellipse">
            <a:avLst/>
          </a:prstGeom>
          <a:solidFill>
            <a:srgbClr val="00C853"/>
          </a:solidFill>
          <a:ln w="12700">
            <a:solidFill>
              <a:srgbClr val="00C853">
                <a:alpha val="0"/>
              </a:srgbClr>
            </a:solidFill>
            <a:prstDash val="solid"/>
          </a:ln>
        </p:spPr>
        <p:txBody>
          <a:bodyPr/>
          <a:lstStyle/>
          <a:p>
            <a:endParaRPr lang="en-US"/>
          </a:p>
        </p:txBody>
      </p:sp>
      <p:sp>
        <p:nvSpPr>
          <p:cNvPr id="47" name="Text 45"/>
          <p:cNvSpPr/>
          <p:nvPr/>
        </p:nvSpPr>
        <p:spPr>
          <a:xfrm>
            <a:off x="6537960" y="2788920"/>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Inference Engine</a:t>
            </a:r>
            <a:endParaRPr lang="en-US" sz="1100" dirty="0"/>
          </a:p>
        </p:txBody>
      </p:sp>
      <p:sp>
        <p:nvSpPr>
          <p:cNvPr id="48" name="Shape 46"/>
          <p:cNvSpPr/>
          <p:nvPr/>
        </p:nvSpPr>
        <p:spPr>
          <a:xfrm>
            <a:off x="6373368" y="3163824"/>
            <a:ext cx="109728" cy="109728"/>
          </a:xfrm>
          <a:prstGeom prst="ellipse">
            <a:avLst/>
          </a:prstGeom>
          <a:solidFill>
            <a:srgbClr val="00C853"/>
          </a:solidFill>
          <a:ln w="12700">
            <a:solidFill>
              <a:srgbClr val="00C853">
                <a:alpha val="0"/>
              </a:srgbClr>
            </a:solidFill>
            <a:prstDash val="solid"/>
          </a:ln>
        </p:spPr>
        <p:txBody>
          <a:bodyPr/>
          <a:lstStyle/>
          <a:p>
            <a:endParaRPr lang="en-US"/>
          </a:p>
        </p:txBody>
      </p:sp>
      <p:sp>
        <p:nvSpPr>
          <p:cNvPr id="49" name="Text 47"/>
          <p:cNvSpPr/>
          <p:nvPr/>
        </p:nvSpPr>
        <p:spPr>
          <a:xfrm>
            <a:off x="6537960" y="3136392"/>
            <a:ext cx="2286000" cy="25603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Prediction Output</a:t>
            </a:r>
            <a:endParaRPr lang="en-US" sz="1100" dirty="0"/>
          </a:p>
        </p:txBody>
      </p:sp>
      <p:sp>
        <p:nvSpPr>
          <p:cNvPr id="50" name="Text 48"/>
          <p:cNvSpPr/>
          <p:nvPr/>
        </p:nvSpPr>
        <p:spPr>
          <a:xfrm>
            <a:off x="6126480" y="3593592"/>
            <a:ext cx="2743200" cy="137160"/>
          </a:xfrm>
          <a:prstGeom prst="rect">
            <a:avLst/>
          </a:prstGeom>
          <a:noFill/>
          <a:ln/>
        </p:spPr>
        <p:txBody>
          <a:bodyPr wrap="square" rtlCol="0" anchor="ctr"/>
          <a:lstStyle/>
          <a:p>
            <a:pPr marL="0" indent="0" algn="ctr">
              <a:buNone/>
            </a:pPr>
            <a:r>
              <a:rPr lang="en-US" sz="800" dirty="0">
                <a:solidFill>
                  <a:srgbClr val="90A4AE"/>
                </a:solidFill>
                <a:latin typeface="Consolas" pitchFamily="34" charset="0"/>
                <a:ea typeface="Consolas" pitchFamily="34" charset="-122"/>
                <a:cs typeface="Consolas" pitchFamily="34" charset="-120"/>
              </a:rPr>
              <a:t>TF 2.20 / Python 3.10</a:t>
            </a:r>
            <a:endParaRPr lang="en-US" sz="800" dirty="0"/>
          </a:p>
        </p:txBody>
      </p:sp>
      <p:sp>
        <p:nvSpPr>
          <p:cNvPr id="51" name="Shape 49"/>
          <p:cNvSpPr/>
          <p:nvPr/>
        </p:nvSpPr>
        <p:spPr>
          <a:xfrm>
            <a:off x="3063240" y="2578608"/>
            <a:ext cx="137160" cy="45720"/>
          </a:xfrm>
          <a:prstGeom prst="rect">
            <a:avLst/>
          </a:prstGeom>
          <a:solidFill>
            <a:srgbClr val="00BCD4"/>
          </a:solidFill>
          <a:ln w="12700">
            <a:solidFill>
              <a:srgbClr val="00BCD4">
                <a:alpha val="0"/>
              </a:srgbClr>
            </a:solidFill>
            <a:prstDash val="solid"/>
          </a:ln>
        </p:spPr>
        <p:txBody>
          <a:bodyPr/>
          <a:lstStyle/>
          <a:p>
            <a:endParaRPr lang="en-US"/>
          </a:p>
        </p:txBody>
      </p:sp>
      <p:sp>
        <p:nvSpPr>
          <p:cNvPr id="52" name="Shape 50"/>
          <p:cNvSpPr/>
          <p:nvPr/>
        </p:nvSpPr>
        <p:spPr>
          <a:xfrm>
            <a:off x="3154680" y="2514600"/>
            <a:ext cx="45720" cy="164592"/>
          </a:xfrm>
          <a:prstGeom prst="rect">
            <a:avLst/>
          </a:prstGeom>
          <a:solidFill>
            <a:srgbClr val="00BCD4"/>
          </a:solidFill>
          <a:ln w="12700">
            <a:solidFill>
              <a:srgbClr val="00BCD4">
                <a:alpha val="0"/>
              </a:srgbClr>
            </a:solidFill>
            <a:prstDash val="solid"/>
          </a:ln>
        </p:spPr>
        <p:txBody>
          <a:bodyPr/>
          <a:lstStyle/>
          <a:p>
            <a:endParaRPr lang="en-US"/>
          </a:p>
        </p:txBody>
      </p:sp>
      <p:sp>
        <p:nvSpPr>
          <p:cNvPr id="53" name="Text 51"/>
          <p:cNvSpPr/>
          <p:nvPr/>
        </p:nvSpPr>
        <p:spPr>
          <a:xfrm>
            <a:off x="3063240" y="2423160"/>
            <a:ext cx="182880" cy="164592"/>
          </a:xfrm>
          <a:prstGeom prst="rect">
            <a:avLst/>
          </a:prstGeom>
          <a:noFill/>
          <a:ln/>
        </p:spPr>
        <p:txBody>
          <a:bodyPr wrap="square" rtlCol="0" anchor="ctr"/>
          <a:lstStyle/>
          <a:p>
            <a:pPr marL="0" indent="0" algn="ctr">
              <a:buNone/>
            </a:pPr>
            <a:r>
              <a:rPr lang="en-US" sz="700" dirty="0">
                <a:solidFill>
                  <a:srgbClr val="90A4AE"/>
                </a:solidFill>
                <a:latin typeface="Consolas" pitchFamily="34" charset="0"/>
                <a:ea typeface="Consolas" pitchFamily="34" charset="-122"/>
                <a:cs typeface="Consolas" pitchFamily="34" charset="-120"/>
              </a:rPr>
              <a:t>HTTP/JSON</a:t>
            </a:r>
            <a:endParaRPr lang="en-US" sz="700" dirty="0"/>
          </a:p>
        </p:txBody>
      </p:sp>
      <p:sp>
        <p:nvSpPr>
          <p:cNvPr id="54" name="Shape 52"/>
          <p:cNvSpPr/>
          <p:nvPr/>
        </p:nvSpPr>
        <p:spPr>
          <a:xfrm>
            <a:off x="5989320" y="2578608"/>
            <a:ext cx="137160" cy="45720"/>
          </a:xfrm>
          <a:prstGeom prst="rect">
            <a:avLst/>
          </a:prstGeom>
          <a:solidFill>
            <a:srgbClr val="00BCD4"/>
          </a:solidFill>
          <a:ln w="12700">
            <a:solidFill>
              <a:srgbClr val="00BCD4">
                <a:alpha val="0"/>
              </a:srgbClr>
            </a:solidFill>
            <a:prstDash val="solid"/>
          </a:ln>
        </p:spPr>
        <p:txBody>
          <a:bodyPr/>
          <a:lstStyle/>
          <a:p>
            <a:endParaRPr lang="en-US"/>
          </a:p>
        </p:txBody>
      </p:sp>
      <p:sp>
        <p:nvSpPr>
          <p:cNvPr id="55" name="Shape 53"/>
          <p:cNvSpPr/>
          <p:nvPr/>
        </p:nvSpPr>
        <p:spPr>
          <a:xfrm>
            <a:off x="6080760" y="2514600"/>
            <a:ext cx="45720" cy="164592"/>
          </a:xfrm>
          <a:prstGeom prst="rect">
            <a:avLst/>
          </a:prstGeom>
          <a:solidFill>
            <a:srgbClr val="00BCD4"/>
          </a:solidFill>
          <a:ln w="12700">
            <a:solidFill>
              <a:srgbClr val="00BCD4">
                <a:alpha val="0"/>
              </a:srgbClr>
            </a:solidFill>
            <a:prstDash val="solid"/>
          </a:ln>
        </p:spPr>
        <p:txBody>
          <a:bodyPr/>
          <a:lstStyle/>
          <a:p>
            <a:endParaRPr lang="en-US"/>
          </a:p>
        </p:txBody>
      </p:sp>
      <p:sp>
        <p:nvSpPr>
          <p:cNvPr id="56" name="Text 54"/>
          <p:cNvSpPr/>
          <p:nvPr/>
        </p:nvSpPr>
        <p:spPr>
          <a:xfrm>
            <a:off x="5989320" y="2423160"/>
            <a:ext cx="182880" cy="164592"/>
          </a:xfrm>
          <a:prstGeom prst="rect">
            <a:avLst/>
          </a:prstGeom>
          <a:noFill/>
          <a:ln/>
        </p:spPr>
        <p:txBody>
          <a:bodyPr wrap="square" rtlCol="0" anchor="ctr"/>
          <a:lstStyle/>
          <a:p>
            <a:pPr marL="0" indent="0" algn="ctr">
              <a:buNone/>
            </a:pPr>
            <a:r>
              <a:rPr lang="en-US" sz="700" dirty="0">
                <a:solidFill>
                  <a:srgbClr val="90A4AE"/>
                </a:solidFill>
                <a:latin typeface="Consolas" pitchFamily="34" charset="0"/>
                <a:ea typeface="Consolas" pitchFamily="34" charset="-122"/>
                <a:cs typeface="Consolas" pitchFamily="34" charset="-120"/>
              </a:rPr>
              <a:t>HTTP/JSON</a:t>
            </a:r>
            <a:endParaRPr lang="en-US" sz="700" dirty="0"/>
          </a:p>
        </p:txBody>
      </p:sp>
      <p:sp>
        <p:nvSpPr>
          <p:cNvPr id="57" name="Shape 55"/>
          <p:cNvSpPr/>
          <p:nvPr/>
        </p:nvSpPr>
        <p:spPr>
          <a:xfrm>
            <a:off x="411480" y="4115294"/>
            <a:ext cx="8503920" cy="566928"/>
          </a:xfrm>
          <a:prstGeom prst="roundRect">
            <a:avLst>
              <a:gd name="adj" fmla="val 19355"/>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8" name="Text 56"/>
          <p:cNvSpPr/>
          <p:nvPr/>
        </p:nvSpPr>
        <p:spPr>
          <a:xfrm>
            <a:off x="444596" y="4133088"/>
            <a:ext cx="8229600" cy="502920"/>
          </a:xfrm>
          <a:prstGeom prst="rect">
            <a:avLst/>
          </a:prstGeom>
          <a:noFill/>
          <a:ln/>
        </p:spPr>
        <p:txBody>
          <a:bodyPr wrap="square" rtlCol="0" anchor="ctr"/>
          <a:lstStyle/>
          <a:p>
            <a:pPr marL="0" indent="0" algn="ctr">
              <a:buNone/>
            </a:pPr>
            <a:r>
              <a:rPr lang="en-US" sz="1200" b="1" dirty="0">
                <a:solidFill>
                  <a:srgbClr val="FFD54F"/>
                </a:solidFill>
                <a:latin typeface="Calibri" pitchFamily="34" charset="0"/>
                <a:ea typeface="Calibri" pitchFamily="34" charset="-122"/>
                <a:cs typeface="Calibri" pitchFamily="34" charset="-120"/>
              </a:rPr>
              <a:t>🗄️  DATA LAYER  —  SQLite Database  |  User Sessions  |  Emotion Logs  |  Analytics Storage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a:effectLst/>
      </p:bgPr>
    </p:bg>
    <p:spTree>
      <p:nvGrpSpPr>
        <p:cNvPr id="1" name=""/>
        <p:cNvGrpSpPr/>
        <p:nvPr/>
      </p:nvGrpSpPr>
      <p:grpSpPr>
        <a:xfrm>
          <a:off x="0" y="0"/>
          <a:ext cx="0" cy="0"/>
          <a:chOff x="0" y="0"/>
          <a:chExt cx="0" cy="0"/>
        </a:xfrm>
      </p:grpSpPr>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Dataset: FER2013</a:t>
            </a:r>
            <a:endParaRPr lang="en-US" sz="2800" dirty="0"/>
          </a:p>
        </p:txBody>
      </p:sp>
      <p:sp>
        <p:nvSpPr>
          <p:cNvPr id="6" name="Shape 4"/>
          <p:cNvSpPr/>
          <p:nvPr/>
        </p:nvSpPr>
        <p:spPr>
          <a:xfrm>
            <a:off x="365760" y="713232"/>
            <a:ext cx="8412480" cy="27432"/>
          </a:xfrm>
          <a:prstGeom prst="rect">
            <a:avLst/>
          </a:prstGeom>
          <a:solidFill>
            <a:srgbClr val="FFD54F"/>
          </a:solidFill>
          <a:ln w="12700">
            <a:solidFill>
              <a:srgbClr val="FFD54F">
                <a:alpha val="0"/>
              </a:srgbClr>
            </a:solidFill>
            <a:prstDash val="solid"/>
          </a:ln>
        </p:spPr>
        <p:txBody>
          <a:bodyPr/>
          <a:lstStyle/>
          <a:p>
            <a:endParaRPr lang="en-US"/>
          </a:p>
        </p:txBody>
      </p:sp>
      <p:sp>
        <p:nvSpPr>
          <p:cNvPr id="7" name="Shape 5"/>
          <p:cNvSpPr/>
          <p:nvPr/>
        </p:nvSpPr>
        <p:spPr>
          <a:xfrm>
            <a:off x="320040" y="868680"/>
            <a:ext cx="1920240" cy="1097280"/>
          </a:xfrm>
          <a:prstGeom prst="roundRect">
            <a:avLst>
              <a:gd name="adj" fmla="val 10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8" name="Text 6"/>
          <p:cNvSpPr/>
          <p:nvPr/>
        </p:nvSpPr>
        <p:spPr>
          <a:xfrm>
            <a:off x="320040" y="914400"/>
            <a:ext cx="1920240" cy="548640"/>
          </a:xfrm>
          <a:prstGeom prst="rect">
            <a:avLst/>
          </a:prstGeom>
          <a:noFill/>
          <a:ln/>
        </p:spPr>
        <p:txBody>
          <a:bodyPr wrap="square" rtlCol="0" anchor="ctr"/>
          <a:lstStyle/>
          <a:p>
            <a:pPr marL="0" indent="0" algn="ctr">
              <a:buNone/>
            </a:pPr>
            <a:r>
              <a:rPr lang="en-US" sz="2000" b="1" dirty="0">
                <a:solidFill>
                  <a:srgbClr val="00BCD4"/>
                </a:solidFill>
                <a:latin typeface="Trebuchet MS" pitchFamily="34" charset="0"/>
                <a:ea typeface="Trebuchet MS" pitchFamily="34" charset="-122"/>
                <a:cs typeface="Trebuchet MS" pitchFamily="34" charset="-120"/>
              </a:rPr>
              <a:t>35,887</a:t>
            </a:r>
            <a:endParaRPr lang="en-US" sz="2000" dirty="0"/>
          </a:p>
        </p:txBody>
      </p:sp>
      <p:sp>
        <p:nvSpPr>
          <p:cNvPr id="9" name="Text 7"/>
          <p:cNvSpPr/>
          <p:nvPr/>
        </p:nvSpPr>
        <p:spPr>
          <a:xfrm>
            <a:off x="320040" y="1463040"/>
            <a:ext cx="1920240" cy="36576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Total Images</a:t>
            </a:r>
            <a:endParaRPr lang="en-US" sz="1000" dirty="0"/>
          </a:p>
        </p:txBody>
      </p:sp>
      <p:sp>
        <p:nvSpPr>
          <p:cNvPr id="10" name="Shape 8"/>
          <p:cNvSpPr/>
          <p:nvPr/>
        </p:nvSpPr>
        <p:spPr>
          <a:xfrm>
            <a:off x="2468880" y="868680"/>
            <a:ext cx="1920240" cy="1097280"/>
          </a:xfrm>
          <a:prstGeom prst="roundRect">
            <a:avLst>
              <a:gd name="adj" fmla="val 10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1" name="Text 9"/>
          <p:cNvSpPr/>
          <p:nvPr/>
        </p:nvSpPr>
        <p:spPr>
          <a:xfrm>
            <a:off x="2468880" y="914400"/>
            <a:ext cx="1920240" cy="548640"/>
          </a:xfrm>
          <a:prstGeom prst="rect">
            <a:avLst/>
          </a:prstGeom>
          <a:noFill/>
          <a:ln/>
        </p:spPr>
        <p:txBody>
          <a:bodyPr wrap="square" rtlCol="0" anchor="ctr"/>
          <a:lstStyle/>
          <a:p>
            <a:pPr marL="0" indent="0" algn="ctr">
              <a:buNone/>
            </a:pPr>
            <a:r>
              <a:rPr lang="en-US" sz="2000" b="1" dirty="0">
                <a:solidFill>
                  <a:srgbClr val="7B1FA2"/>
                </a:solidFill>
                <a:latin typeface="Trebuchet MS" pitchFamily="34" charset="0"/>
                <a:ea typeface="Trebuchet MS" pitchFamily="34" charset="-122"/>
                <a:cs typeface="Trebuchet MS" pitchFamily="34" charset="-120"/>
              </a:rPr>
              <a:t>48×48</a:t>
            </a:r>
            <a:endParaRPr lang="en-US" sz="2000" dirty="0"/>
          </a:p>
        </p:txBody>
      </p:sp>
      <p:sp>
        <p:nvSpPr>
          <p:cNvPr id="12" name="Text 10"/>
          <p:cNvSpPr/>
          <p:nvPr/>
        </p:nvSpPr>
        <p:spPr>
          <a:xfrm>
            <a:off x="2468880" y="1463040"/>
            <a:ext cx="1920240" cy="36576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Pixel Size</a:t>
            </a:r>
            <a:endParaRPr lang="en-US" sz="1000" dirty="0"/>
          </a:p>
        </p:txBody>
      </p:sp>
      <p:sp>
        <p:nvSpPr>
          <p:cNvPr id="13" name="Shape 11"/>
          <p:cNvSpPr/>
          <p:nvPr/>
        </p:nvSpPr>
        <p:spPr>
          <a:xfrm>
            <a:off x="4617720" y="868680"/>
            <a:ext cx="1920240" cy="1097280"/>
          </a:xfrm>
          <a:prstGeom prst="roundRect">
            <a:avLst>
              <a:gd name="adj" fmla="val 10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4" name="Text 12"/>
          <p:cNvSpPr/>
          <p:nvPr/>
        </p:nvSpPr>
        <p:spPr>
          <a:xfrm>
            <a:off x="4617720" y="914400"/>
            <a:ext cx="1920240" cy="548640"/>
          </a:xfrm>
          <a:prstGeom prst="rect">
            <a:avLst/>
          </a:prstGeom>
          <a:noFill/>
          <a:ln/>
        </p:spPr>
        <p:txBody>
          <a:bodyPr wrap="square" rtlCol="0" anchor="ctr"/>
          <a:lstStyle/>
          <a:p>
            <a:pPr marL="0" indent="0" algn="ctr">
              <a:buNone/>
            </a:pPr>
            <a:r>
              <a:rPr lang="en-US" sz="2000" b="1" dirty="0">
                <a:solidFill>
                  <a:srgbClr val="00C853"/>
                </a:solidFill>
                <a:latin typeface="Trebuchet MS" pitchFamily="34" charset="0"/>
                <a:ea typeface="Trebuchet MS" pitchFamily="34" charset="-122"/>
                <a:cs typeface="Trebuchet MS" pitchFamily="34" charset="-120"/>
              </a:rPr>
              <a:t>7</a:t>
            </a:r>
            <a:endParaRPr lang="en-US" sz="2000" dirty="0"/>
          </a:p>
        </p:txBody>
      </p:sp>
      <p:sp>
        <p:nvSpPr>
          <p:cNvPr id="15" name="Text 13"/>
          <p:cNvSpPr/>
          <p:nvPr/>
        </p:nvSpPr>
        <p:spPr>
          <a:xfrm>
            <a:off x="4617720" y="1463040"/>
            <a:ext cx="1920240" cy="36576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Emotion Classes</a:t>
            </a:r>
            <a:endParaRPr lang="en-US" sz="1000" dirty="0"/>
          </a:p>
        </p:txBody>
      </p:sp>
      <p:sp>
        <p:nvSpPr>
          <p:cNvPr id="16" name="Shape 14"/>
          <p:cNvSpPr/>
          <p:nvPr/>
        </p:nvSpPr>
        <p:spPr>
          <a:xfrm>
            <a:off x="6766560" y="868680"/>
            <a:ext cx="1920240" cy="1097280"/>
          </a:xfrm>
          <a:prstGeom prst="roundRect">
            <a:avLst>
              <a:gd name="adj" fmla="val 10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7" name="Text 15"/>
          <p:cNvSpPr/>
          <p:nvPr/>
        </p:nvSpPr>
        <p:spPr>
          <a:xfrm>
            <a:off x="6766560" y="914400"/>
            <a:ext cx="1920240" cy="548640"/>
          </a:xfrm>
          <a:prstGeom prst="rect">
            <a:avLst/>
          </a:prstGeom>
          <a:noFill/>
          <a:ln/>
        </p:spPr>
        <p:txBody>
          <a:bodyPr wrap="square" rtlCol="0" anchor="ctr"/>
          <a:lstStyle/>
          <a:p>
            <a:pPr marL="0" indent="0" algn="ctr">
              <a:buNone/>
            </a:pPr>
            <a:r>
              <a:rPr lang="en-US" sz="2000" b="1" dirty="0">
                <a:solidFill>
                  <a:srgbClr val="FFD54F"/>
                </a:solidFill>
                <a:latin typeface="Trebuchet MS" pitchFamily="34" charset="0"/>
                <a:ea typeface="Trebuchet MS" pitchFamily="34" charset="-122"/>
                <a:cs typeface="Trebuchet MS" pitchFamily="34" charset="-120"/>
              </a:rPr>
              <a:t>Grayscale</a:t>
            </a:r>
            <a:endParaRPr lang="en-US" sz="2000" dirty="0"/>
          </a:p>
        </p:txBody>
      </p:sp>
      <p:sp>
        <p:nvSpPr>
          <p:cNvPr id="18" name="Text 16"/>
          <p:cNvSpPr/>
          <p:nvPr/>
        </p:nvSpPr>
        <p:spPr>
          <a:xfrm>
            <a:off x="6766560" y="1463040"/>
            <a:ext cx="1920240" cy="36576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Color Mode</a:t>
            </a:r>
            <a:endParaRPr lang="en-US" sz="1000" dirty="0"/>
          </a:p>
        </p:txBody>
      </p:sp>
      <p:graphicFrame>
        <p:nvGraphicFramePr>
          <p:cNvPr id="19" name="Chart 0"/>
          <p:cNvGraphicFramePr/>
          <p:nvPr/>
        </p:nvGraphicFramePr>
        <p:xfrm>
          <a:off x="365760" y="2103120"/>
          <a:ext cx="5029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577840" y="2103120"/>
            <a:ext cx="3291840" cy="2834640"/>
          </a:xfrm>
          <a:prstGeom prst="roundRect">
            <a:avLst>
              <a:gd name="adj" fmla="val 3871"/>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1" name="Text 18"/>
          <p:cNvSpPr/>
          <p:nvPr/>
        </p:nvSpPr>
        <p:spPr>
          <a:xfrm>
            <a:off x="5577840" y="2148840"/>
            <a:ext cx="3291840" cy="274320"/>
          </a:xfrm>
          <a:prstGeom prst="rect">
            <a:avLst/>
          </a:prstGeom>
          <a:noFill/>
          <a:ln/>
        </p:spPr>
        <p:txBody>
          <a:bodyPr wrap="square" rtlCol="0" anchor="ctr"/>
          <a:lstStyle/>
          <a:p>
            <a:pPr marL="0" indent="0" algn="ctr">
              <a:buNone/>
            </a:pPr>
            <a:r>
              <a:rPr lang="en-US" sz="1000" b="1" dirty="0">
                <a:solidFill>
                  <a:srgbClr val="00BCD4"/>
                </a:solidFill>
                <a:latin typeface="Calibri" pitchFamily="34" charset="0"/>
                <a:ea typeface="Calibri" pitchFamily="34" charset="-122"/>
                <a:cs typeface="Calibri" pitchFamily="34" charset="-120"/>
              </a:rPr>
              <a:t>Emotion Class Breakdown</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2986012739"/>
              </p:ext>
            </p:extLst>
          </p:nvPr>
        </p:nvGraphicFramePr>
        <p:xfrm>
          <a:off x="5623560" y="2487168"/>
          <a:ext cx="3200400" cy="233172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291465">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Emotion</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37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Images</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37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A237E"/>
                    </a:solidFill>
                  </a:tcPr>
                </a:tc>
                <a:extLst>
                  <a:ext uri="{0D108BD9-81ED-4DB2-BD59-A6C34878D82A}">
                    <a16:rowId xmlns:a16="http://schemas.microsoft.com/office/drawing/2014/main" val="10000"/>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Happy</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8,989</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25.1%</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1"/>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Neutral</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6,198</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17.3%</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2"/>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Sad</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6,077</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16.9%</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3"/>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Fear</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5,121</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4"/>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Angry</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4,953</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13.8%</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5"/>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Surprise</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4,002</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6"/>
                  </a:ext>
                </a:extLst>
              </a:tr>
              <a:tr h="291465">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Disgust</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E3F2FD"/>
                          </a:solidFill>
                          <a:latin typeface="Calibri" pitchFamily="34" charset="0"/>
                          <a:ea typeface="Calibri" pitchFamily="34" charset="-122"/>
                          <a:cs typeface="Calibri" pitchFamily="34" charset="-120"/>
                        </a:rPr>
                        <a:t>547</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tc>
                  <a:txBody>
                    <a:bodyPr/>
                    <a:lstStyle/>
                    <a:p>
                      <a:pPr marL="0" indent="0">
                        <a:buNone/>
                      </a:pPr>
                      <a:r>
                        <a:rPr lang="en-US" sz="1000" dirty="0">
                          <a:solidFill>
                            <a:srgbClr val="00BCD4"/>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0D213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a:effectLst/>
      </p:bgPr>
    </p:bg>
    <p:spTree>
      <p:nvGrpSpPr>
        <p:cNvPr id="1" name=""/>
        <p:cNvGrpSpPr/>
        <p:nvPr/>
      </p:nvGrpSpPr>
      <p:grpSpPr>
        <a:xfrm>
          <a:off x="0" y="0"/>
          <a:ext cx="0" cy="0"/>
          <a:chOff x="0" y="0"/>
          <a:chExt cx="0" cy="0"/>
        </a:xfrm>
      </p:grpSpPr>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Image Preprocessing Pipeline</a:t>
            </a:r>
            <a:endParaRPr lang="en-US" sz="2800" dirty="0"/>
          </a:p>
        </p:txBody>
      </p:sp>
      <p:sp>
        <p:nvSpPr>
          <p:cNvPr id="5" name="Shape 3"/>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6" name="Shape 4"/>
          <p:cNvSpPr/>
          <p:nvPr/>
        </p:nvSpPr>
        <p:spPr>
          <a:xfrm>
            <a:off x="274320" y="868680"/>
            <a:ext cx="1965960" cy="2103120"/>
          </a:xfrm>
          <a:prstGeom prst="roundRect">
            <a:avLst>
              <a:gd name="adj" fmla="val 5581"/>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960120" y="914400"/>
            <a:ext cx="594360" cy="594360"/>
          </a:xfrm>
          <a:prstGeom prst="ellipse">
            <a:avLst/>
          </a:prstGeom>
          <a:solidFill>
            <a:srgbClr val="1E88E5">
              <a:alpha val="80000"/>
            </a:srgbClr>
          </a:solidFill>
          <a:ln w="25400">
            <a:solidFill>
              <a:srgbClr val="1E88E5"/>
            </a:solidFill>
            <a:prstDash val="solid"/>
          </a:ln>
        </p:spPr>
        <p:txBody>
          <a:bodyPr/>
          <a:lstStyle/>
          <a:p>
            <a:endParaRPr lang="en-US"/>
          </a:p>
        </p:txBody>
      </p:sp>
      <p:sp>
        <p:nvSpPr>
          <p:cNvPr id="8" name="Text 6"/>
          <p:cNvSpPr/>
          <p:nvPr/>
        </p:nvSpPr>
        <p:spPr>
          <a:xfrm>
            <a:off x="960120" y="914400"/>
            <a:ext cx="594360" cy="594360"/>
          </a:xfrm>
          <a:prstGeom prst="rect">
            <a:avLst/>
          </a:prstGeom>
          <a:noFill/>
          <a:ln/>
        </p:spPr>
        <p:txBody>
          <a:bodyPr wrap="square" rtlCol="0" anchor="ctr"/>
          <a:lstStyle/>
          <a:p>
            <a:pPr marL="0" indent="0" algn="ctr">
              <a:buNone/>
            </a:pPr>
            <a:r>
              <a:rPr lang="en-US" sz="1800" b="1" dirty="0">
                <a:solidFill>
                  <a:srgbClr val="1E88E5"/>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274320" y="1572768"/>
            <a:ext cx="1965960" cy="274320"/>
          </a:xfrm>
          <a:prstGeom prst="rect">
            <a:avLst/>
          </a:prstGeom>
          <a:noFill/>
          <a:ln/>
        </p:spPr>
        <p:txBody>
          <a:bodyPr wrap="square" rtlCol="0" anchor="ctr"/>
          <a:lstStyle/>
          <a:p>
            <a:pPr marL="0" indent="0" algn="ctr">
              <a:buNone/>
            </a:pPr>
            <a:r>
              <a:rPr lang="en-US" sz="1050" b="1" dirty="0">
                <a:solidFill>
                  <a:srgbClr val="1E88E5"/>
                </a:solidFill>
                <a:latin typeface="Calibri" pitchFamily="34" charset="0"/>
                <a:ea typeface="Calibri" pitchFamily="34" charset="-122"/>
                <a:cs typeface="Calibri" pitchFamily="34" charset="-120"/>
              </a:rPr>
              <a:t>Face Detection</a:t>
            </a:r>
            <a:endParaRPr lang="en-US" sz="1050" dirty="0"/>
          </a:p>
        </p:txBody>
      </p:sp>
      <p:sp>
        <p:nvSpPr>
          <p:cNvPr id="10" name="Text 8"/>
          <p:cNvSpPr/>
          <p:nvPr/>
        </p:nvSpPr>
        <p:spPr>
          <a:xfrm>
            <a:off x="365760" y="1874520"/>
            <a:ext cx="178308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OpenCV Haar Cascade locates face region and extracts bounding box</a:t>
            </a:r>
            <a:endParaRPr lang="en-US" sz="1050" dirty="0"/>
          </a:p>
        </p:txBody>
      </p:sp>
      <p:sp>
        <p:nvSpPr>
          <p:cNvPr id="11" name="Shape 9"/>
          <p:cNvSpPr/>
          <p:nvPr/>
        </p:nvSpPr>
        <p:spPr>
          <a:xfrm>
            <a:off x="365760" y="2542032"/>
            <a:ext cx="1783080" cy="347472"/>
          </a:xfrm>
          <a:prstGeom prst="rect">
            <a:avLst/>
          </a:prstGeom>
          <a:solidFill>
            <a:srgbClr val="0A0E20"/>
          </a:solidFill>
          <a:ln w="12700">
            <a:solidFill>
              <a:srgbClr val="1E88E5">
                <a:alpha val="50000"/>
              </a:srgbClr>
            </a:solidFill>
            <a:prstDash val="solid"/>
          </a:ln>
        </p:spPr>
        <p:txBody>
          <a:bodyPr/>
          <a:lstStyle/>
          <a:p>
            <a:endParaRPr lang="en-US"/>
          </a:p>
        </p:txBody>
      </p:sp>
      <p:sp>
        <p:nvSpPr>
          <p:cNvPr id="12" name="Text 10"/>
          <p:cNvSpPr/>
          <p:nvPr/>
        </p:nvSpPr>
        <p:spPr>
          <a:xfrm>
            <a:off x="411480" y="2560320"/>
            <a:ext cx="1691640" cy="310896"/>
          </a:xfrm>
          <a:prstGeom prst="rect">
            <a:avLst/>
          </a:prstGeom>
          <a:noFill/>
          <a:ln/>
        </p:spPr>
        <p:txBody>
          <a:bodyPr wrap="square" rtlCol="0" anchor="ctr"/>
          <a:lstStyle/>
          <a:p>
            <a:pPr marL="0" indent="0">
              <a:buNone/>
            </a:pPr>
            <a:r>
              <a:rPr lang="en-US" sz="800" dirty="0">
                <a:solidFill>
                  <a:srgbClr val="1E88E5"/>
                </a:solidFill>
                <a:latin typeface="Consolas" pitchFamily="34" charset="0"/>
                <a:ea typeface="Consolas" pitchFamily="34" charset="-122"/>
                <a:cs typeface="Consolas" pitchFamily="34" charset="-120"/>
              </a:rPr>
              <a:t>cv2.CascadeClassifier()</a:t>
            </a:r>
            <a:endParaRPr lang="en-US" sz="800" dirty="0"/>
          </a:p>
          <a:p>
            <a:pPr marL="0" indent="0">
              <a:buNone/>
            </a:pPr>
            <a:r>
              <a:rPr lang="en-US" sz="800" dirty="0">
                <a:solidFill>
                  <a:srgbClr val="1E88E5"/>
                </a:solidFill>
                <a:latin typeface="Consolas" pitchFamily="34" charset="0"/>
                <a:ea typeface="Consolas" pitchFamily="34" charset="-122"/>
                <a:cs typeface="Consolas" pitchFamily="34" charset="-120"/>
              </a:rPr>
              <a:t>detectMultiScale()</a:t>
            </a:r>
            <a:endParaRPr lang="en-US" sz="800" dirty="0"/>
          </a:p>
        </p:txBody>
      </p:sp>
      <p:sp>
        <p:nvSpPr>
          <p:cNvPr id="13" name="Shape 11"/>
          <p:cNvSpPr/>
          <p:nvPr/>
        </p:nvSpPr>
        <p:spPr>
          <a:xfrm>
            <a:off x="2423160" y="868680"/>
            <a:ext cx="1965960" cy="2103120"/>
          </a:xfrm>
          <a:prstGeom prst="roundRect">
            <a:avLst>
              <a:gd name="adj" fmla="val 5581"/>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3108960" y="914400"/>
            <a:ext cx="594360" cy="594360"/>
          </a:xfrm>
          <a:prstGeom prst="ellipse">
            <a:avLst/>
          </a:prstGeom>
          <a:solidFill>
            <a:srgbClr val="00BCD4">
              <a:alpha val="80000"/>
            </a:srgbClr>
          </a:solidFill>
          <a:ln w="25400">
            <a:solidFill>
              <a:srgbClr val="00BCD4"/>
            </a:solidFill>
            <a:prstDash val="solid"/>
          </a:ln>
        </p:spPr>
        <p:txBody>
          <a:bodyPr/>
          <a:lstStyle/>
          <a:p>
            <a:endParaRPr lang="en-US"/>
          </a:p>
        </p:txBody>
      </p:sp>
      <p:sp>
        <p:nvSpPr>
          <p:cNvPr id="15" name="Text 13"/>
          <p:cNvSpPr/>
          <p:nvPr/>
        </p:nvSpPr>
        <p:spPr>
          <a:xfrm>
            <a:off x="3108960" y="914400"/>
            <a:ext cx="594360" cy="594360"/>
          </a:xfrm>
          <a:prstGeom prst="rect">
            <a:avLst/>
          </a:prstGeom>
          <a:noFill/>
          <a:ln/>
        </p:spPr>
        <p:txBody>
          <a:bodyPr wrap="square" rtlCol="0" anchor="ctr"/>
          <a:lstStyle/>
          <a:p>
            <a:pPr marL="0" indent="0" algn="ctr">
              <a:buNone/>
            </a:pPr>
            <a:r>
              <a:rPr lang="en-US" sz="1800" b="1" dirty="0">
                <a:solidFill>
                  <a:srgbClr val="00BCD4"/>
                </a:solidFill>
                <a:latin typeface="Trebuchet MS" pitchFamily="34" charset="0"/>
                <a:ea typeface="Trebuchet MS" pitchFamily="34" charset="-122"/>
                <a:cs typeface="Trebuchet MS" pitchFamily="34" charset="-120"/>
              </a:rPr>
              <a:t>2</a:t>
            </a:r>
            <a:endParaRPr lang="en-US" sz="1800" dirty="0"/>
          </a:p>
        </p:txBody>
      </p:sp>
      <p:sp>
        <p:nvSpPr>
          <p:cNvPr id="16" name="Text 14"/>
          <p:cNvSpPr/>
          <p:nvPr/>
        </p:nvSpPr>
        <p:spPr>
          <a:xfrm>
            <a:off x="2423160" y="1572768"/>
            <a:ext cx="1965960" cy="274320"/>
          </a:xfrm>
          <a:prstGeom prst="rect">
            <a:avLst/>
          </a:prstGeom>
          <a:noFill/>
          <a:ln/>
        </p:spPr>
        <p:txBody>
          <a:bodyPr wrap="square" rtlCol="0" anchor="ctr"/>
          <a:lstStyle/>
          <a:p>
            <a:pPr marL="0" indent="0" algn="ctr">
              <a:buNone/>
            </a:pPr>
            <a:r>
              <a:rPr lang="en-US" sz="1050" b="1" dirty="0">
                <a:solidFill>
                  <a:srgbClr val="00BCD4"/>
                </a:solidFill>
                <a:latin typeface="Calibri" pitchFamily="34" charset="0"/>
                <a:ea typeface="Calibri" pitchFamily="34" charset="-122"/>
                <a:cs typeface="Calibri" pitchFamily="34" charset="-120"/>
              </a:rPr>
              <a:t>Grayscale Convert</a:t>
            </a:r>
            <a:endParaRPr lang="en-US" sz="1050" dirty="0"/>
          </a:p>
        </p:txBody>
      </p:sp>
      <p:sp>
        <p:nvSpPr>
          <p:cNvPr id="17" name="Text 15"/>
          <p:cNvSpPr/>
          <p:nvPr/>
        </p:nvSpPr>
        <p:spPr>
          <a:xfrm>
            <a:off x="2514600" y="1874520"/>
            <a:ext cx="178308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Convert RGB image to grayscale to match FER2013 training format</a:t>
            </a:r>
            <a:endParaRPr lang="en-US" sz="1050" dirty="0"/>
          </a:p>
        </p:txBody>
      </p:sp>
      <p:sp>
        <p:nvSpPr>
          <p:cNvPr id="18" name="Shape 16"/>
          <p:cNvSpPr/>
          <p:nvPr/>
        </p:nvSpPr>
        <p:spPr>
          <a:xfrm>
            <a:off x="2514600" y="2542032"/>
            <a:ext cx="1783080" cy="347472"/>
          </a:xfrm>
          <a:prstGeom prst="rect">
            <a:avLst/>
          </a:prstGeom>
          <a:solidFill>
            <a:srgbClr val="0A0E20"/>
          </a:solidFill>
          <a:ln w="12700">
            <a:solidFill>
              <a:srgbClr val="00BCD4">
                <a:alpha val="50000"/>
              </a:srgbClr>
            </a:solidFill>
            <a:prstDash val="solid"/>
          </a:ln>
        </p:spPr>
        <p:txBody>
          <a:bodyPr/>
          <a:lstStyle/>
          <a:p>
            <a:endParaRPr lang="en-US"/>
          </a:p>
        </p:txBody>
      </p:sp>
      <p:sp>
        <p:nvSpPr>
          <p:cNvPr id="19" name="Text 17"/>
          <p:cNvSpPr/>
          <p:nvPr/>
        </p:nvSpPr>
        <p:spPr>
          <a:xfrm>
            <a:off x="2560320" y="2560320"/>
            <a:ext cx="1691640" cy="310896"/>
          </a:xfrm>
          <a:prstGeom prst="rect">
            <a:avLst/>
          </a:prstGeom>
          <a:noFill/>
          <a:ln/>
        </p:spPr>
        <p:txBody>
          <a:bodyPr wrap="square" rtlCol="0" anchor="ctr"/>
          <a:lstStyle/>
          <a:p>
            <a:pPr marL="0" indent="0">
              <a:buNone/>
            </a:pPr>
            <a:r>
              <a:rPr lang="en-US" sz="800" dirty="0">
                <a:solidFill>
                  <a:srgbClr val="00BCD4"/>
                </a:solidFill>
                <a:latin typeface="Consolas" pitchFamily="34" charset="0"/>
                <a:ea typeface="Consolas" pitchFamily="34" charset="-122"/>
                <a:cs typeface="Consolas" pitchFamily="34" charset="-120"/>
              </a:rPr>
              <a:t>cv2.cvtColor(img,</a:t>
            </a:r>
            <a:endParaRPr lang="en-US" sz="800" dirty="0"/>
          </a:p>
          <a:p>
            <a:pPr marL="0" indent="0">
              <a:buNone/>
            </a:pPr>
            <a:r>
              <a:rPr lang="en-US" sz="800" dirty="0">
                <a:solidFill>
                  <a:srgbClr val="00BCD4"/>
                </a:solidFill>
                <a:latin typeface="Consolas" pitchFamily="34" charset="0"/>
                <a:ea typeface="Consolas" pitchFamily="34" charset="-122"/>
                <a:cs typeface="Consolas" pitchFamily="34" charset="-120"/>
              </a:rPr>
              <a:t>COLOR_BGR2GRAY)</a:t>
            </a:r>
            <a:endParaRPr lang="en-US" sz="800" dirty="0"/>
          </a:p>
        </p:txBody>
      </p:sp>
      <p:sp>
        <p:nvSpPr>
          <p:cNvPr id="20" name="Shape 18"/>
          <p:cNvSpPr/>
          <p:nvPr/>
        </p:nvSpPr>
        <p:spPr>
          <a:xfrm>
            <a:off x="4572000" y="868680"/>
            <a:ext cx="1965960" cy="2103120"/>
          </a:xfrm>
          <a:prstGeom prst="roundRect">
            <a:avLst>
              <a:gd name="adj" fmla="val 5581"/>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1" name="Shape 19"/>
          <p:cNvSpPr/>
          <p:nvPr/>
        </p:nvSpPr>
        <p:spPr>
          <a:xfrm>
            <a:off x="5257800" y="914400"/>
            <a:ext cx="594360" cy="594360"/>
          </a:xfrm>
          <a:prstGeom prst="ellipse">
            <a:avLst/>
          </a:prstGeom>
          <a:solidFill>
            <a:srgbClr val="7B1FA2">
              <a:alpha val="80000"/>
            </a:srgbClr>
          </a:solidFill>
          <a:ln w="25400">
            <a:solidFill>
              <a:srgbClr val="7B1FA2"/>
            </a:solidFill>
            <a:prstDash val="solid"/>
          </a:ln>
        </p:spPr>
        <p:txBody>
          <a:bodyPr/>
          <a:lstStyle/>
          <a:p>
            <a:endParaRPr lang="en-US"/>
          </a:p>
        </p:txBody>
      </p:sp>
      <p:sp>
        <p:nvSpPr>
          <p:cNvPr id="22" name="Text 20"/>
          <p:cNvSpPr/>
          <p:nvPr/>
        </p:nvSpPr>
        <p:spPr>
          <a:xfrm>
            <a:off x="5257800" y="914400"/>
            <a:ext cx="594360" cy="594360"/>
          </a:xfrm>
          <a:prstGeom prst="rect">
            <a:avLst/>
          </a:prstGeom>
          <a:noFill/>
          <a:ln/>
        </p:spPr>
        <p:txBody>
          <a:bodyPr wrap="square" rtlCol="0" anchor="ctr"/>
          <a:lstStyle/>
          <a:p>
            <a:pPr marL="0" indent="0" algn="ctr">
              <a:buNone/>
            </a:pPr>
            <a:r>
              <a:rPr lang="en-US" sz="1800" b="1" dirty="0">
                <a:solidFill>
                  <a:srgbClr val="7B1FA2"/>
                </a:solidFill>
                <a:latin typeface="Trebuchet MS" pitchFamily="34" charset="0"/>
                <a:ea typeface="Trebuchet MS" pitchFamily="34" charset="-122"/>
                <a:cs typeface="Trebuchet MS" pitchFamily="34" charset="-120"/>
              </a:rPr>
              <a:t>3</a:t>
            </a:r>
            <a:endParaRPr lang="en-US" sz="1800" dirty="0"/>
          </a:p>
        </p:txBody>
      </p:sp>
      <p:sp>
        <p:nvSpPr>
          <p:cNvPr id="23" name="Text 21"/>
          <p:cNvSpPr/>
          <p:nvPr/>
        </p:nvSpPr>
        <p:spPr>
          <a:xfrm>
            <a:off x="4572000" y="1572768"/>
            <a:ext cx="1965960" cy="274320"/>
          </a:xfrm>
          <a:prstGeom prst="rect">
            <a:avLst/>
          </a:prstGeom>
          <a:noFill/>
          <a:ln/>
        </p:spPr>
        <p:txBody>
          <a:bodyPr wrap="square" rtlCol="0" anchor="ctr"/>
          <a:lstStyle/>
          <a:p>
            <a:pPr marL="0" indent="0" algn="ctr">
              <a:buNone/>
            </a:pPr>
            <a:r>
              <a:rPr lang="en-US" sz="1050" b="1" dirty="0">
                <a:solidFill>
                  <a:srgbClr val="7B1FA2"/>
                </a:solidFill>
                <a:latin typeface="Calibri" pitchFamily="34" charset="0"/>
                <a:ea typeface="Calibri" pitchFamily="34" charset="-122"/>
                <a:cs typeface="Calibri" pitchFamily="34" charset="-120"/>
              </a:rPr>
              <a:t>Resize to 48×48</a:t>
            </a:r>
            <a:endParaRPr lang="en-US" sz="1050" dirty="0"/>
          </a:p>
        </p:txBody>
      </p:sp>
      <p:sp>
        <p:nvSpPr>
          <p:cNvPr id="24" name="Text 22"/>
          <p:cNvSpPr/>
          <p:nvPr/>
        </p:nvSpPr>
        <p:spPr>
          <a:xfrm>
            <a:off x="4663440" y="1874520"/>
            <a:ext cx="178308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Standardize all face images to 48×48 pixels for model input</a:t>
            </a:r>
            <a:endParaRPr lang="en-US" sz="1050" dirty="0"/>
          </a:p>
        </p:txBody>
      </p:sp>
      <p:sp>
        <p:nvSpPr>
          <p:cNvPr id="25" name="Shape 23"/>
          <p:cNvSpPr/>
          <p:nvPr/>
        </p:nvSpPr>
        <p:spPr>
          <a:xfrm>
            <a:off x="4663440" y="2542032"/>
            <a:ext cx="1783080" cy="347472"/>
          </a:xfrm>
          <a:prstGeom prst="rect">
            <a:avLst/>
          </a:prstGeom>
          <a:solidFill>
            <a:srgbClr val="0A0E20"/>
          </a:solidFill>
          <a:ln w="12700">
            <a:solidFill>
              <a:srgbClr val="7B1FA2">
                <a:alpha val="50000"/>
              </a:srgbClr>
            </a:solidFill>
            <a:prstDash val="solid"/>
          </a:ln>
        </p:spPr>
        <p:txBody>
          <a:bodyPr/>
          <a:lstStyle/>
          <a:p>
            <a:endParaRPr lang="en-US"/>
          </a:p>
        </p:txBody>
      </p:sp>
      <p:sp>
        <p:nvSpPr>
          <p:cNvPr id="26" name="Text 24"/>
          <p:cNvSpPr/>
          <p:nvPr/>
        </p:nvSpPr>
        <p:spPr>
          <a:xfrm>
            <a:off x="4709160" y="2560320"/>
            <a:ext cx="1691640" cy="310896"/>
          </a:xfrm>
          <a:prstGeom prst="rect">
            <a:avLst/>
          </a:prstGeom>
          <a:noFill/>
          <a:ln/>
        </p:spPr>
        <p:txBody>
          <a:bodyPr wrap="square" rtlCol="0" anchor="ctr"/>
          <a:lstStyle/>
          <a:p>
            <a:pPr marL="0" indent="0">
              <a:buNone/>
            </a:pPr>
            <a:r>
              <a:rPr lang="en-US" sz="800" dirty="0">
                <a:solidFill>
                  <a:srgbClr val="7B1FA2"/>
                </a:solidFill>
                <a:latin typeface="Consolas" pitchFamily="34" charset="0"/>
                <a:ea typeface="Consolas" pitchFamily="34" charset="-122"/>
                <a:cs typeface="Consolas" pitchFamily="34" charset="-120"/>
              </a:rPr>
              <a:t>cv2.resize(face,</a:t>
            </a:r>
            <a:endParaRPr lang="en-US" sz="800" dirty="0"/>
          </a:p>
          <a:p>
            <a:pPr marL="0" indent="0">
              <a:buNone/>
            </a:pPr>
            <a:r>
              <a:rPr lang="en-US" sz="800" dirty="0">
                <a:solidFill>
                  <a:srgbClr val="7B1FA2"/>
                </a:solidFill>
                <a:latin typeface="Consolas" pitchFamily="34" charset="0"/>
                <a:ea typeface="Consolas" pitchFamily="34" charset="-122"/>
                <a:cs typeface="Consolas" pitchFamily="34" charset="-120"/>
              </a:rPr>
              <a:t>(48, 48))</a:t>
            </a:r>
            <a:endParaRPr lang="en-US" sz="800" dirty="0"/>
          </a:p>
        </p:txBody>
      </p:sp>
      <p:sp>
        <p:nvSpPr>
          <p:cNvPr id="27" name="Shape 25"/>
          <p:cNvSpPr/>
          <p:nvPr/>
        </p:nvSpPr>
        <p:spPr>
          <a:xfrm>
            <a:off x="6720840" y="868680"/>
            <a:ext cx="1965960" cy="2103120"/>
          </a:xfrm>
          <a:prstGeom prst="roundRect">
            <a:avLst>
              <a:gd name="adj" fmla="val 5581"/>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8" name="Shape 26"/>
          <p:cNvSpPr/>
          <p:nvPr/>
        </p:nvSpPr>
        <p:spPr>
          <a:xfrm>
            <a:off x="7406640" y="914400"/>
            <a:ext cx="594360" cy="594360"/>
          </a:xfrm>
          <a:prstGeom prst="ellipse">
            <a:avLst/>
          </a:prstGeom>
          <a:solidFill>
            <a:srgbClr val="00C853">
              <a:alpha val="80000"/>
            </a:srgbClr>
          </a:solidFill>
          <a:ln w="25400">
            <a:solidFill>
              <a:srgbClr val="00C853"/>
            </a:solidFill>
            <a:prstDash val="solid"/>
          </a:ln>
        </p:spPr>
        <p:txBody>
          <a:bodyPr/>
          <a:lstStyle/>
          <a:p>
            <a:endParaRPr lang="en-US"/>
          </a:p>
        </p:txBody>
      </p:sp>
      <p:sp>
        <p:nvSpPr>
          <p:cNvPr id="29" name="Text 27"/>
          <p:cNvSpPr/>
          <p:nvPr/>
        </p:nvSpPr>
        <p:spPr>
          <a:xfrm>
            <a:off x="7406640" y="914400"/>
            <a:ext cx="594360" cy="594360"/>
          </a:xfrm>
          <a:prstGeom prst="rect">
            <a:avLst/>
          </a:prstGeom>
          <a:noFill/>
          <a:ln/>
        </p:spPr>
        <p:txBody>
          <a:bodyPr wrap="square" rtlCol="0" anchor="ctr"/>
          <a:lstStyle/>
          <a:p>
            <a:pPr marL="0" indent="0" algn="ctr">
              <a:buNone/>
            </a:pPr>
            <a:r>
              <a:rPr lang="en-US" sz="1800" b="1" dirty="0">
                <a:solidFill>
                  <a:srgbClr val="00C853"/>
                </a:solidFill>
                <a:latin typeface="Trebuchet MS" pitchFamily="34" charset="0"/>
                <a:ea typeface="Trebuchet MS" pitchFamily="34" charset="-122"/>
                <a:cs typeface="Trebuchet MS" pitchFamily="34" charset="-120"/>
              </a:rPr>
              <a:t>4</a:t>
            </a:r>
            <a:endParaRPr lang="en-US" sz="1800" dirty="0"/>
          </a:p>
        </p:txBody>
      </p:sp>
      <p:sp>
        <p:nvSpPr>
          <p:cNvPr id="30" name="Text 28"/>
          <p:cNvSpPr/>
          <p:nvPr/>
        </p:nvSpPr>
        <p:spPr>
          <a:xfrm>
            <a:off x="6720840" y="1572768"/>
            <a:ext cx="1965960" cy="274320"/>
          </a:xfrm>
          <a:prstGeom prst="rect">
            <a:avLst/>
          </a:prstGeom>
          <a:noFill/>
          <a:ln/>
        </p:spPr>
        <p:txBody>
          <a:bodyPr wrap="square" rtlCol="0" anchor="ctr"/>
          <a:lstStyle/>
          <a:p>
            <a:pPr marL="0" indent="0" algn="ctr">
              <a:buNone/>
            </a:pPr>
            <a:r>
              <a:rPr lang="en-US" sz="1050" b="1" dirty="0">
                <a:solidFill>
                  <a:srgbClr val="00C853"/>
                </a:solidFill>
                <a:latin typeface="Calibri" pitchFamily="34" charset="0"/>
                <a:ea typeface="Calibri" pitchFamily="34" charset="-122"/>
                <a:cs typeface="Calibri" pitchFamily="34" charset="-120"/>
              </a:rPr>
              <a:t>Normalize [0,1]</a:t>
            </a:r>
            <a:endParaRPr lang="en-US" sz="1050" dirty="0"/>
          </a:p>
        </p:txBody>
      </p:sp>
      <p:sp>
        <p:nvSpPr>
          <p:cNvPr id="31" name="Text 29"/>
          <p:cNvSpPr/>
          <p:nvPr/>
        </p:nvSpPr>
        <p:spPr>
          <a:xfrm>
            <a:off x="6812280" y="1874520"/>
            <a:ext cx="178308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Scale pixel values from [0,255] to [0,1] for faster convergence</a:t>
            </a:r>
            <a:endParaRPr lang="en-US" sz="1050" dirty="0"/>
          </a:p>
        </p:txBody>
      </p:sp>
      <p:sp>
        <p:nvSpPr>
          <p:cNvPr id="32" name="Shape 30"/>
          <p:cNvSpPr/>
          <p:nvPr/>
        </p:nvSpPr>
        <p:spPr>
          <a:xfrm>
            <a:off x="6812280" y="2542032"/>
            <a:ext cx="1783080" cy="347472"/>
          </a:xfrm>
          <a:prstGeom prst="rect">
            <a:avLst/>
          </a:prstGeom>
          <a:solidFill>
            <a:srgbClr val="0A0E20"/>
          </a:solidFill>
          <a:ln w="12700">
            <a:solidFill>
              <a:srgbClr val="00C853">
                <a:alpha val="50000"/>
              </a:srgbClr>
            </a:solidFill>
            <a:prstDash val="solid"/>
          </a:ln>
        </p:spPr>
        <p:txBody>
          <a:bodyPr/>
          <a:lstStyle/>
          <a:p>
            <a:endParaRPr lang="en-US"/>
          </a:p>
        </p:txBody>
      </p:sp>
      <p:sp>
        <p:nvSpPr>
          <p:cNvPr id="33" name="Text 31"/>
          <p:cNvSpPr/>
          <p:nvPr/>
        </p:nvSpPr>
        <p:spPr>
          <a:xfrm>
            <a:off x="6858000" y="2560320"/>
            <a:ext cx="1691640" cy="310896"/>
          </a:xfrm>
          <a:prstGeom prst="rect">
            <a:avLst/>
          </a:prstGeom>
          <a:noFill/>
          <a:ln/>
        </p:spPr>
        <p:txBody>
          <a:bodyPr wrap="square" rtlCol="0" anchor="ctr"/>
          <a:lstStyle/>
          <a:p>
            <a:pPr marL="0" indent="0">
              <a:buNone/>
            </a:pPr>
            <a:r>
              <a:rPr lang="en-US" sz="800" dirty="0">
                <a:solidFill>
                  <a:srgbClr val="00C853"/>
                </a:solidFill>
                <a:latin typeface="Consolas" pitchFamily="34" charset="0"/>
                <a:ea typeface="Consolas" pitchFamily="34" charset="-122"/>
                <a:cs typeface="Consolas" pitchFamily="34" charset="-120"/>
              </a:rPr>
              <a:t>img_array / 255.0</a:t>
            </a:r>
            <a:endParaRPr lang="en-US" sz="800" dirty="0"/>
          </a:p>
        </p:txBody>
      </p:sp>
      <p:sp>
        <p:nvSpPr>
          <p:cNvPr id="34" name="Text 32"/>
          <p:cNvSpPr/>
          <p:nvPr/>
        </p:nvSpPr>
        <p:spPr>
          <a:xfrm>
            <a:off x="365760" y="3090672"/>
            <a:ext cx="8412480" cy="274320"/>
          </a:xfrm>
          <a:prstGeom prst="rect">
            <a:avLst/>
          </a:prstGeom>
          <a:noFill/>
          <a:ln/>
        </p:spPr>
        <p:txBody>
          <a:bodyPr wrap="square"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Data Augmentation Techniques</a:t>
            </a:r>
            <a:endParaRPr lang="en-US" sz="1200" dirty="0"/>
          </a:p>
        </p:txBody>
      </p:sp>
      <p:sp>
        <p:nvSpPr>
          <p:cNvPr id="35" name="Shape 33"/>
          <p:cNvSpPr/>
          <p:nvPr/>
        </p:nvSpPr>
        <p:spPr>
          <a:xfrm>
            <a:off x="274320" y="3429000"/>
            <a:ext cx="1600200" cy="1481328"/>
          </a:xfrm>
          <a:prstGeom prst="roundRect">
            <a:avLst>
              <a:gd name="adj" fmla="val 7407"/>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6" name="Shape 34"/>
          <p:cNvSpPr/>
          <p:nvPr/>
        </p:nvSpPr>
        <p:spPr>
          <a:xfrm>
            <a:off x="621792" y="3493008"/>
            <a:ext cx="896112" cy="594360"/>
          </a:xfrm>
          <a:prstGeom prst="ellipse">
            <a:avLst/>
          </a:prstGeom>
          <a:solidFill>
            <a:srgbClr val="1E88E5">
              <a:alpha val="40000"/>
            </a:srgbClr>
          </a:solidFill>
          <a:ln w="12700">
            <a:solidFill>
              <a:srgbClr val="1E88E5"/>
            </a:solidFill>
            <a:prstDash val="solid"/>
          </a:ln>
        </p:spPr>
        <p:txBody>
          <a:bodyPr/>
          <a:lstStyle/>
          <a:p>
            <a:endParaRPr lang="en-US"/>
          </a:p>
        </p:txBody>
      </p:sp>
      <p:sp>
        <p:nvSpPr>
          <p:cNvPr id="37" name="Text 35"/>
          <p:cNvSpPr/>
          <p:nvPr/>
        </p:nvSpPr>
        <p:spPr>
          <a:xfrm>
            <a:off x="621792" y="3493008"/>
            <a:ext cx="896112" cy="594360"/>
          </a:xfrm>
          <a:prstGeom prst="rect">
            <a:avLst/>
          </a:prstGeom>
          <a:noFill/>
          <a:ln/>
        </p:spPr>
        <p:txBody>
          <a:bodyPr wrap="square" rtlCol="0" anchor="ctr"/>
          <a:lstStyle/>
          <a:p>
            <a:pPr marL="0" indent="0" algn="ctr">
              <a:buNone/>
            </a:pPr>
            <a:r>
              <a:rPr lang="en-US" sz="2200" dirty="0">
                <a:solidFill>
                  <a:srgbClr val="1E88E5"/>
                </a:solidFill>
              </a:rPr>
              <a:t>↔</a:t>
            </a:r>
            <a:endParaRPr lang="en-US" sz="2200" dirty="0"/>
          </a:p>
        </p:txBody>
      </p:sp>
      <p:sp>
        <p:nvSpPr>
          <p:cNvPr id="38" name="Text 36"/>
          <p:cNvSpPr/>
          <p:nvPr/>
        </p:nvSpPr>
        <p:spPr>
          <a:xfrm>
            <a:off x="320040" y="4133088"/>
            <a:ext cx="150876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Horizontal Flip</a:t>
            </a:r>
            <a:endParaRPr lang="en-US" sz="1050" dirty="0"/>
          </a:p>
        </p:txBody>
      </p:sp>
      <p:sp>
        <p:nvSpPr>
          <p:cNvPr id="39" name="Shape 37"/>
          <p:cNvSpPr/>
          <p:nvPr/>
        </p:nvSpPr>
        <p:spPr>
          <a:xfrm>
            <a:off x="1984248" y="3429000"/>
            <a:ext cx="1600200" cy="1481328"/>
          </a:xfrm>
          <a:prstGeom prst="roundRect">
            <a:avLst>
              <a:gd name="adj" fmla="val 7407"/>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0" name="Shape 38"/>
          <p:cNvSpPr/>
          <p:nvPr/>
        </p:nvSpPr>
        <p:spPr>
          <a:xfrm>
            <a:off x="2331720" y="3493008"/>
            <a:ext cx="896112" cy="594360"/>
          </a:xfrm>
          <a:prstGeom prst="ellipse">
            <a:avLst/>
          </a:prstGeom>
          <a:solidFill>
            <a:srgbClr val="7B1FA2">
              <a:alpha val="40000"/>
            </a:srgbClr>
          </a:solidFill>
          <a:ln w="12700">
            <a:solidFill>
              <a:srgbClr val="7B1FA2"/>
            </a:solidFill>
            <a:prstDash val="solid"/>
          </a:ln>
        </p:spPr>
        <p:txBody>
          <a:bodyPr/>
          <a:lstStyle/>
          <a:p>
            <a:endParaRPr lang="en-US"/>
          </a:p>
        </p:txBody>
      </p:sp>
      <p:sp>
        <p:nvSpPr>
          <p:cNvPr id="41" name="Text 39"/>
          <p:cNvSpPr/>
          <p:nvPr/>
        </p:nvSpPr>
        <p:spPr>
          <a:xfrm>
            <a:off x="2331720" y="3493008"/>
            <a:ext cx="896112" cy="594360"/>
          </a:xfrm>
          <a:prstGeom prst="rect">
            <a:avLst/>
          </a:prstGeom>
          <a:noFill/>
          <a:ln/>
        </p:spPr>
        <p:txBody>
          <a:bodyPr wrap="square" rtlCol="0" anchor="ctr"/>
          <a:lstStyle/>
          <a:p>
            <a:pPr marL="0" indent="0" algn="ctr">
              <a:buNone/>
            </a:pPr>
            <a:r>
              <a:rPr lang="en-US" sz="2200" dirty="0">
                <a:solidFill>
                  <a:srgbClr val="7B1FA2"/>
                </a:solidFill>
              </a:rPr>
              <a:t>↻</a:t>
            </a:r>
            <a:endParaRPr lang="en-US" sz="2200" dirty="0"/>
          </a:p>
        </p:txBody>
      </p:sp>
      <p:sp>
        <p:nvSpPr>
          <p:cNvPr id="42" name="Text 40"/>
          <p:cNvSpPr/>
          <p:nvPr/>
        </p:nvSpPr>
        <p:spPr>
          <a:xfrm>
            <a:off x="2029968" y="4133088"/>
            <a:ext cx="150876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Random Rotation ±10°</a:t>
            </a:r>
            <a:endParaRPr lang="en-US" sz="1050" dirty="0"/>
          </a:p>
        </p:txBody>
      </p:sp>
      <p:sp>
        <p:nvSpPr>
          <p:cNvPr id="43" name="Shape 41"/>
          <p:cNvSpPr/>
          <p:nvPr/>
        </p:nvSpPr>
        <p:spPr>
          <a:xfrm>
            <a:off x="3694176" y="3429000"/>
            <a:ext cx="1600200" cy="1481328"/>
          </a:xfrm>
          <a:prstGeom prst="roundRect">
            <a:avLst>
              <a:gd name="adj" fmla="val 7407"/>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4" name="Shape 42"/>
          <p:cNvSpPr/>
          <p:nvPr/>
        </p:nvSpPr>
        <p:spPr>
          <a:xfrm>
            <a:off x="4041648" y="3493008"/>
            <a:ext cx="896112" cy="594360"/>
          </a:xfrm>
          <a:prstGeom prst="ellipse">
            <a:avLst/>
          </a:prstGeom>
          <a:solidFill>
            <a:srgbClr val="00BCD4">
              <a:alpha val="40000"/>
            </a:srgbClr>
          </a:solidFill>
          <a:ln w="12700">
            <a:solidFill>
              <a:srgbClr val="00BCD4"/>
            </a:solidFill>
            <a:prstDash val="solid"/>
          </a:ln>
        </p:spPr>
        <p:txBody>
          <a:bodyPr/>
          <a:lstStyle/>
          <a:p>
            <a:endParaRPr lang="en-US"/>
          </a:p>
        </p:txBody>
      </p:sp>
      <p:sp>
        <p:nvSpPr>
          <p:cNvPr id="45" name="Text 43"/>
          <p:cNvSpPr/>
          <p:nvPr/>
        </p:nvSpPr>
        <p:spPr>
          <a:xfrm>
            <a:off x="4041648" y="3493008"/>
            <a:ext cx="896112" cy="594360"/>
          </a:xfrm>
          <a:prstGeom prst="rect">
            <a:avLst/>
          </a:prstGeom>
          <a:noFill/>
          <a:ln/>
        </p:spPr>
        <p:txBody>
          <a:bodyPr wrap="square" rtlCol="0" anchor="ctr"/>
          <a:lstStyle/>
          <a:p>
            <a:pPr marL="0" indent="0" algn="ctr">
              <a:buNone/>
            </a:pPr>
            <a:r>
              <a:rPr lang="en-US" sz="2200" dirty="0">
                <a:solidFill>
                  <a:srgbClr val="00BCD4"/>
                </a:solidFill>
              </a:rPr>
              <a:t>⇔</a:t>
            </a:r>
            <a:endParaRPr lang="en-US" sz="2200" dirty="0"/>
          </a:p>
        </p:txBody>
      </p:sp>
      <p:sp>
        <p:nvSpPr>
          <p:cNvPr id="46" name="Text 44"/>
          <p:cNvSpPr/>
          <p:nvPr/>
        </p:nvSpPr>
        <p:spPr>
          <a:xfrm>
            <a:off x="3739896" y="4133088"/>
            <a:ext cx="150876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Width Shift ±10%</a:t>
            </a:r>
            <a:endParaRPr lang="en-US" sz="1050" dirty="0"/>
          </a:p>
        </p:txBody>
      </p:sp>
      <p:sp>
        <p:nvSpPr>
          <p:cNvPr id="47" name="Shape 45"/>
          <p:cNvSpPr/>
          <p:nvPr/>
        </p:nvSpPr>
        <p:spPr>
          <a:xfrm>
            <a:off x="5404104" y="3429000"/>
            <a:ext cx="1600200" cy="1481328"/>
          </a:xfrm>
          <a:prstGeom prst="roundRect">
            <a:avLst>
              <a:gd name="adj" fmla="val 7407"/>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8" name="Shape 46"/>
          <p:cNvSpPr/>
          <p:nvPr/>
        </p:nvSpPr>
        <p:spPr>
          <a:xfrm>
            <a:off x="5751576" y="3493008"/>
            <a:ext cx="896112" cy="594360"/>
          </a:xfrm>
          <a:prstGeom prst="ellipse">
            <a:avLst/>
          </a:prstGeom>
          <a:solidFill>
            <a:srgbClr val="00C853">
              <a:alpha val="40000"/>
            </a:srgbClr>
          </a:solidFill>
          <a:ln w="12700">
            <a:solidFill>
              <a:srgbClr val="00C853"/>
            </a:solidFill>
            <a:prstDash val="solid"/>
          </a:ln>
        </p:spPr>
        <p:txBody>
          <a:bodyPr/>
          <a:lstStyle/>
          <a:p>
            <a:endParaRPr lang="en-US"/>
          </a:p>
        </p:txBody>
      </p:sp>
      <p:sp>
        <p:nvSpPr>
          <p:cNvPr id="49" name="Text 47"/>
          <p:cNvSpPr/>
          <p:nvPr/>
        </p:nvSpPr>
        <p:spPr>
          <a:xfrm>
            <a:off x="5751576" y="3493008"/>
            <a:ext cx="896112" cy="594360"/>
          </a:xfrm>
          <a:prstGeom prst="rect">
            <a:avLst/>
          </a:prstGeom>
          <a:noFill/>
          <a:ln/>
        </p:spPr>
        <p:txBody>
          <a:bodyPr wrap="square" rtlCol="0" anchor="ctr"/>
          <a:lstStyle/>
          <a:p>
            <a:pPr marL="0" indent="0" algn="ctr">
              <a:buNone/>
            </a:pPr>
            <a:r>
              <a:rPr lang="en-US" sz="2200" dirty="0">
                <a:solidFill>
                  <a:srgbClr val="00C853"/>
                </a:solidFill>
              </a:rPr>
              <a:t>⇕</a:t>
            </a:r>
            <a:endParaRPr lang="en-US" sz="2200" dirty="0"/>
          </a:p>
        </p:txBody>
      </p:sp>
      <p:sp>
        <p:nvSpPr>
          <p:cNvPr id="50" name="Text 48"/>
          <p:cNvSpPr/>
          <p:nvPr/>
        </p:nvSpPr>
        <p:spPr>
          <a:xfrm>
            <a:off x="5449824" y="4133088"/>
            <a:ext cx="150876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Height Shift ±10%</a:t>
            </a:r>
            <a:endParaRPr lang="en-US" sz="1050" dirty="0"/>
          </a:p>
        </p:txBody>
      </p:sp>
      <p:sp>
        <p:nvSpPr>
          <p:cNvPr id="51" name="Shape 49"/>
          <p:cNvSpPr/>
          <p:nvPr/>
        </p:nvSpPr>
        <p:spPr>
          <a:xfrm>
            <a:off x="7114032" y="3429000"/>
            <a:ext cx="1600200" cy="1481328"/>
          </a:xfrm>
          <a:prstGeom prst="roundRect">
            <a:avLst>
              <a:gd name="adj" fmla="val 7407"/>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2" name="Shape 50"/>
          <p:cNvSpPr/>
          <p:nvPr/>
        </p:nvSpPr>
        <p:spPr>
          <a:xfrm>
            <a:off x="7461504" y="3493008"/>
            <a:ext cx="896112" cy="594360"/>
          </a:xfrm>
          <a:prstGeom prst="ellipse">
            <a:avLst/>
          </a:prstGeom>
          <a:solidFill>
            <a:srgbClr val="FFD54F">
              <a:alpha val="40000"/>
            </a:srgbClr>
          </a:solidFill>
          <a:ln w="12700">
            <a:solidFill>
              <a:srgbClr val="FFD54F"/>
            </a:solidFill>
            <a:prstDash val="solid"/>
          </a:ln>
        </p:spPr>
        <p:txBody>
          <a:bodyPr/>
          <a:lstStyle/>
          <a:p>
            <a:endParaRPr lang="en-US"/>
          </a:p>
        </p:txBody>
      </p:sp>
      <p:sp>
        <p:nvSpPr>
          <p:cNvPr id="53" name="Text 51"/>
          <p:cNvSpPr/>
          <p:nvPr/>
        </p:nvSpPr>
        <p:spPr>
          <a:xfrm>
            <a:off x="7461504" y="3493008"/>
            <a:ext cx="896112" cy="594360"/>
          </a:xfrm>
          <a:prstGeom prst="rect">
            <a:avLst/>
          </a:prstGeom>
          <a:noFill/>
          <a:ln/>
        </p:spPr>
        <p:txBody>
          <a:bodyPr wrap="square" rtlCol="0" anchor="ctr"/>
          <a:lstStyle/>
          <a:p>
            <a:pPr marL="0" indent="0" algn="ctr">
              <a:buNone/>
            </a:pPr>
            <a:r>
              <a:rPr lang="en-US" sz="2200" dirty="0">
                <a:solidFill>
                  <a:srgbClr val="FFD54F"/>
                </a:solidFill>
              </a:rPr>
              <a:t>⊕</a:t>
            </a:r>
            <a:endParaRPr lang="en-US" sz="2200" dirty="0"/>
          </a:p>
        </p:txBody>
      </p:sp>
      <p:sp>
        <p:nvSpPr>
          <p:cNvPr id="54" name="Text 52"/>
          <p:cNvSpPr/>
          <p:nvPr/>
        </p:nvSpPr>
        <p:spPr>
          <a:xfrm>
            <a:off x="7159752" y="4133088"/>
            <a:ext cx="1508760" cy="640080"/>
          </a:xfrm>
          <a:prstGeom prst="rect">
            <a:avLst/>
          </a:prstGeom>
          <a:noFill/>
          <a:ln/>
        </p:spPr>
        <p:txBody>
          <a:bodyPr wrap="square" rtlCol="0" anchor="ctr"/>
          <a:lstStyle/>
          <a:p>
            <a:pPr marL="0" indent="0" algn="ctr">
              <a:buNone/>
            </a:pPr>
            <a:r>
              <a:rPr lang="en-US" sz="1050" dirty="0">
                <a:solidFill>
                  <a:srgbClr val="E3F2FD"/>
                </a:solidFill>
                <a:latin typeface="Calibri" pitchFamily="34" charset="0"/>
                <a:ea typeface="Calibri" pitchFamily="34" charset="-122"/>
                <a:cs typeface="Calibri" pitchFamily="34" charset="-120"/>
              </a:rPr>
              <a:t>Zoom Range 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a:effectLst/>
      </p:bgPr>
    </p:bg>
    <p:spTree>
      <p:nvGrpSpPr>
        <p:cNvPr id="1" name=""/>
        <p:cNvGrpSpPr/>
        <p:nvPr/>
      </p:nvGrpSpPr>
      <p:grpSpPr>
        <a:xfrm>
          <a:off x="0" y="0"/>
          <a:ext cx="0" cy="0"/>
          <a:chOff x="0" y="0"/>
          <a:chExt cx="0" cy="0"/>
        </a:xfrm>
      </p:grpSpPr>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MobileNetV2 </a:t>
            </a:r>
            <a:r>
              <a:rPr lang="en-US" sz="2800" b="1" dirty="0">
                <a:solidFill>
                  <a:srgbClr val="FFFFFF"/>
                </a:solidFill>
                <a:latin typeface="Sitka Display Semibold" pitchFamily="2" charset="0"/>
                <a:ea typeface="Trebuchet MS" pitchFamily="34" charset="-122"/>
                <a:cs typeface="Trebuchet MS" pitchFamily="34" charset="-120"/>
              </a:rPr>
              <a:t>Architecture</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7B1FA2"/>
          </a:solidFill>
          <a:ln w="12700">
            <a:solidFill>
              <a:srgbClr val="7B1FA2">
                <a:alpha val="0"/>
              </a:srgbClr>
            </a:solidFill>
            <a:prstDash val="solid"/>
          </a:ln>
        </p:spPr>
        <p:txBody>
          <a:bodyPr/>
          <a:lstStyle/>
          <a:p>
            <a:endParaRPr lang="en-US"/>
          </a:p>
        </p:txBody>
      </p:sp>
      <p:sp>
        <p:nvSpPr>
          <p:cNvPr id="7" name="Text 5"/>
          <p:cNvSpPr/>
          <p:nvPr/>
        </p:nvSpPr>
        <p:spPr>
          <a:xfrm>
            <a:off x="365760" y="804672"/>
            <a:ext cx="5029200" cy="274320"/>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Network Architecture</a:t>
            </a:r>
            <a:endParaRPr lang="en-US" sz="1100" dirty="0"/>
          </a:p>
        </p:txBody>
      </p:sp>
      <p:pic>
        <p:nvPicPr>
          <p:cNvPr id="56" name="Picture 55">
            <a:extLst>
              <a:ext uri="{FF2B5EF4-FFF2-40B4-BE49-F238E27FC236}">
                <a16:creationId xmlns:a16="http://schemas.microsoft.com/office/drawing/2014/main" id="{F9F80DCD-C9E3-4AD4-A77C-41B7CDF5A2C5}"/>
              </a:ext>
            </a:extLst>
          </p:cNvPr>
          <p:cNvPicPr>
            <a:picLocks noChangeAspect="1"/>
          </p:cNvPicPr>
          <p:nvPr/>
        </p:nvPicPr>
        <p:blipFill rotWithShape="1">
          <a:blip r:embed="rId3"/>
          <a:srcRect t="8895"/>
          <a:stretch/>
        </p:blipFill>
        <p:spPr>
          <a:xfrm>
            <a:off x="233917" y="1078992"/>
            <a:ext cx="8197702" cy="39028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a:effectLst/>
      </p:bgPr>
    </p:bg>
    <p:spTree>
      <p:nvGrpSpPr>
        <p:cNvPr id="1" name=""/>
        <p:cNvGrpSpPr/>
        <p:nvPr/>
      </p:nvGrpSpPr>
      <p:grpSpPr>
        <a:xfrm>
          <a:off x="0" y="0"/>
          <a:ext cx="0" cy="0"/>
          <a:chOff x="0" y="0"/>
          <a:chExt cx="0" cy="0"/>
        </a:xfrm>
      </p:grpSpPr>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Training Process</a:t>
            </a:r>
            <a:endParaRPr lang="en-US" sz="2800" dirty="0"/>
          </a:p>
        </p:txBody>
      </p:sp>
      <p:sp>
        <p:nvSpPr>
          <p:cNvPr id="5" name="Shape 3"/>
          <p:cNvSpPr/>
          <p:nvPr/>
        </p:nvSpPr>
        <p:spPr>
          <a:xfrm>
            <a:off x="365760" y="713232"/>
            <a:ext cx="8412480" cy="27432"/>
          </a:xfrm>
          <a:prstGeom prst="rect">
            <a:avLst/>
          </a:prstGeom>
          <a:solidFill>
            <a:srgbClr val="00C853"/>
          </a:solidFill>
          <a:ln w="12700">
            <a:solidFill>
              <a:srgbClr val="00C853">
                <a:alpha val="0"/>
              </a:srgbClr>
            </a:solidFill>
            <a:prstDash val="solid"/>
          </a:ln>
        </p:spPr>
        <p:txBody>
          <a:bodyPr/>
          <a:lstStyle/>
          <a:p>
            <a:endParaRPr lang="en-US"/>
          </a:p>
        </p:txBody>
      </p:sp>
      <p:sp>
        <p:nvSpPr>
          <p:cNvPr id="6" name="Shape 4"/>
          <p:cNvSpPr/>
          <p:nvPr/>
        </p:nvSpPr>
        <p:spPr>
          <a:xfrm>
            <a:off x="320040" y="841248"/>
            <a:ext cx="1554480" cy="1005840"/>
          </a:xfrm>
          <a:prstGeom prst="roundRect">
            <a:avLst>
              <a:gd name="adj" fmla="val 10909"/>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7" name="Text 5"/>
          <p:cNvSpPr/>
          <p:nvPr/>
        </p:nvSpPr>
        <p:spPr>
          <a:xfrm>
            <a:off x="320040" y="886968"/>
            <a:ext cx="1554480" cy="530352"/>
          </a:xfrm>
          <a:prstGeom prst="rect">
            <a:avLst/>
          </a:prstGeom>
          <a:noFill/>
          <a:ln/>
        </p:spPr>
        <p:txBody>
          <a:bodyPr wrap="square" rtlCol="0" anchor="ctr"/>
          <a:lstStyle/>
          <a:p>
            <a:pPr marL="0" indent="0" algn="ctr">
              <a:buNone/>
            </a:pPr>
            <a:r>
              <a:rPr lang="en-US" sz="2000" b="1" dirty="0">
                <a:solidFill>
                  <a:srgbClr val="00BCD4"/>
                </a:solidFill>
                <a:latin typeface="Trebuchet MS" pitchFamily="34" charset="0"/>
                <a:ea typeface="Trebuchet MS" pitchFamily="34" charset="-122"/>
                <a:cs typeface="Trebuchet MS" pitchFamily="34" charset="-120"/>
              </a:rPr>
              <a:t>20</a:t>
            </a:r>
            <a:endParaRPr lang="en-US" sz="2000" dirty="0"/>
          </a:p>
        </p:txBody>
      </p:sp>
      <p:sp>
        <p:nvSpPr>
          <p:cNvPr id="8" name="Text 6"/>
          <p:cNvSpPr/>
          <p:nvPr/>
        </p:nvSpPr>
        <p:spPr>
          <a:xfrm>
            <a:off x="320040" y="1417320"/>
            <a:ext cx="1554480" cy="32004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Epochs</a:t>
            </a:r>
            <a:endParaRPr lang="en-US" sz="1000" dirty="0"/>
          </a:p>
        </p:txBody>
      </p:sp>
      <p:sp>
        <p:nvSpPr>
          <p:cNvPr id="9" name="Shape 7"/>
          <p:cNvSpPr/>
          <p:nvPr/>
        </p:nvSpPr>
        <p:spPr>
          <a:xfrm>
            <a:off x="2029968" y="841248"/>
            <a:ext cx="1554480" cy="1005840"/>
          </a:xfrm>
          <a:prstGeom prst="roundRect">
            <a:avLst>
              <a:gd name="adj" fmla="val 10909"/>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0" name="Text 8"/>
          <p:cNvSpPr/>
          <p:nvPr/>
        </p:nvSpPr>
        <p:spPr>
          <a:xfrm>
            <a:off x="2029968" y="886968"/>
            <a:ext cx="1554480" cy="530352"/>
          </a:xfrm>
          <a:prstGeom prst="rect">
            <a:avLst/>
          </a:prstGeom>
          <a:noFill/>
          <a:ln/>
        </p:spPr>
        <p:txBody>
          <a:bodyPr wrap="square" rtlCol="0" anchor="ctr"/>
          <a:lstStyle/>
          <a:p>
            <a:pPr marL="0" indent="0" algn="ctr">
              <a:buNone/>
            </a:pPr>
            <a:r>
              <a:rPr lang="en-US" sz="2000" b="1" dirty="0">
                <a:solidFill>
                  <a:srgbClr val="7B1FA2"/>
                </a:solidFill>
                <a:latin typeface="Trebuchet MS" pitchFamily="34" charset="0"/>
                <a:ea typeface="Trebuchet MS" pitchFamily="34" charset="-122"/>
                <a:cs typeface="Trebuchet MS" pitchFamily="34" charset="-120"/>
              </a:rPr>
              <a:t>32</a:t>
            </a:r>
            <a:endParaRPr lang="en-US" sz="2000" dirty="0"/>
          </a:p>
        </p:txBody>
      </p:sp>
      <p:sp>
        <p:nvSpPr>
          <p:cNvPr id="11" name="Text 9"/>
          <p:cNvSpPr/>
          <p:nvPr/>
        </p:nvSpPr>
        <p:spPr>
          <a:xfrm>
            <a:off x="2029968" y="1417320"/>
            <a:ext cx="1554480" cy="32004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Batch Size</a:t>
            </a:r>
            <a:endParaRPr lang="en-US" sz="1000" dirty="0"/>
          </a:p>
        </p:txBody>
      </p:sp>
      <p:sp>
        <p:nvSpPr>
          <p:cNvPr id="12" name="Shape 10"/>
          <p:cNvSpPr/>
          <p:nvPr/>
        </p:nvSpPr>
        <p:spPr>
          <a:xfrm>
            <a:off x="3739896" y="841248"/>
            <a:ext cx="1554480" cy="1005840"/>
          </a:xfrm>
          <a:prstGeom prst="roundRect">
            <a:avLst>
              <a:gd name="adj" fmla="val 10909"/>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3" name="Text 11"/>
          <p:cNvSpPr/>
          <p:nvPr/>
        </p:nvSpPr>
        <p:spPr>
          <a:xfrm>
            <a:off x="3739896" y="886968"/>
            <a:ext cx="1554480" cy="530352"/>
          </a:xfrm>
          <a:prstGeom prst="rect">
            <a:avLst/>
          </a:prstGeom>
          <a:noFill/>
          <a:ln/>
        </p:spPr>
        <p:txBody>
          <a:bodyPr wrap="square" rtlCol="0" anchor="ctr"/>
          <a:lstStyle/>
          <a:p>
            <a:pPr marL="0" indent="0" algn="ctr">
              <a:buNone/>
            </a:pPr>
            <a:r>
              <a:rPr lang="en-US" sz="2000" b="1" dirty="0">
                <a:solidFill>
                  <a:srgbClr val="00C853"/>
                </a:solidFill>
                <a:latin typeface="Trebuchet MS" pitchFamily="34" charset="0"/>
                <a:ea typeface="Trebuchet MS" pitchFamily="34" charset="-122"/>
                <a:cs typeface="Trebuchet MS" pitchFamily="34" charset="-120"/>
              </a:rPr>
              <a:t>Adam</a:t>
            </a:r>
            <a:endParaRPr lang="en-US" sz="2000" dirty="0"/>
          </a:p>
        </p:txBody>
      </p:sp>
      <p:sp>
        <p:nvSpPr>
          <p:cNvPr id="14" name="Text 12"/>
          <p:cNvSpPr/>
          <p:nvPr/>
        </p:nvSpPr>
        <p:spPr>
          <a:xfrm>
            <a:off x="3739896" y="1417320"/>
            <a:ext cx="1554480" cy="32004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Optimizer</a:t>
            </a:r>
            <a:endParaRPr lang="en-US" sz="1000" dirty="0"/>
          </a:p>
        </p:txBody>
      </p:sp>
      <p:sp>
        <p:nvSpPr>
          <p:cNvPr id="15" name="Shape 13"/>
          <p:cNvSpPr/>
          <p:nvPr/>
        </p:nvSpPr>
        <p:spPr>
          <a:xfrm>
            <a:off x="5449824" y="841248"/>
            <a:ext cx="1554480" cy="1005840"/>
          </a:xfrm>
          <a:prstGeom prst="roundRect">
            <a:avLst>
              <a:gd name="adj" fmla="val 10909"/>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6" name="Text 14"/>
          <p:cNvSpPr/>
          <p:nvPr/>
        </p:nvSpPr>
        <p:spPr>
          <a:xfrm>
            <a:off x="5449824" y="886968"/>
            <a:ext cx="1554480" cy="530352"/>
          </a:xfrm>
          <a:prstGeom prst="rect">
            <a:avLst/>
          </a:prstGeom>
          <a:noFill/>
          <a:ln/>
        </p:spPr>
        <p:txBody>
          <a:bodyPr wrap="square" rtlCol="0" anchor="ctr"/>
          <a:lstStyle/>
          <a:p>
            <a:pPr marL="0" indent="0" algn="ctr">
              <a:buNone/>
            </a:pPr>
            <a:r>
              <a:rPr lang="en-US" sz="2000" b="1" dirty="0">
                <a:solidFill>
                  <a:srgbClr val="FFD54F"/>
                </a:solidFill>
                <a:latin typeface="Trebuchet MS" pitchFamily="34" charset="0"/>
                <a:ea typeface="Trebuchet MS" pitchFamily="34" charset="-122"/>
                <a:cs typeface="Trebuchet MS" pitchFamily="34" charset="-120"/>
              </a:rPr>
              <a:t>0.001</a:t>
            </a:r>
            <a:endParaRPr lang="en-US" sz="2000" dirty="0"/>
          </a:p>
        </p:txBody>
      </p:sp>
      <p:sp>
        <p:nvSpPr>
          <p:cNvPr id="17" name="Text 15"/>
          <p:cNvSpPr/>
          <p:nvPr/>
        </p:nvSpPr>
        <p:spPr>
          <a:xfrm>
            <a:off x="5449824" y="1417320"/>
            <a:ext cx="1554480" cy="32004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LR</a:t>
            </a:r>
            <a:endParaRPr lang="en-US" sz="1000" dirty="0"/>
          </a:p>
        </p:txBody>
      </p:sp>
      <p:sp>
        <p:nvSpPr>
          <p:cNvPr id="18" name="Shape 16"/>
          <p:cNvSpPr/>
          <p:nvPr/>
        </p:nvSpPr>
        <p:spPr>
          <a:xfrm>
            <a:off x="7159752" y="841248"/>
            <a:ext cx="1554480" cy="1005840"/>
          </a:xfrm>
          <a:prstGeom prst="roundRect">
            <a:avLst>
              <a:gd name="adj" fmla="val 10909"/>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9" name="Text 17"/>
          <p:cNvSpPr/>
          <p:nvPr/>
        </p:nvSpPr>
        <p:spPr>
          <a:xfrm>
            <a:off x="7159752" y="886968"/>
            <a:ext cx="1554480" cy="530352"/>
          </a:xfrm>
          <a:prstGeom prst="rect">
            <a:avLst/>
          </a:prstGeom>
          <a:noFill/>
          <a:ln/>
        </p:spPr>
        <p:txBody>
          <a:bodyPr wrap="square" rtlCol="0" anchor="ctr"/>
          <a:lstStyle/>
          <a:p>
            <a:pPr marL="0" indent="0" algn="ctr">
              <a:buNone/>
            </a:pPr>
            <a:r>
              <a:rPr lang="en-US" sz="2000" b="1" dirty="0">
                <a:solidFill>
                  <a:srgbClr val="EF5350"/>
                </a:solidFill>
                <a:latin typeface="Trebuchet MS" pitchFamily="34" charset="0"/>
                <a:ea typeface="Trebuchet MS" pitchFamily="34" charset="-122"/>
                <a:cs typeface="Trebuchet MS" pitchFamily="34" charset="-120"/>
              </a:rPr>
              <a:t>Cat. CE</a:t>
            </a:r>
            <a:endParaRPr lang="en-US" sz="2000" dirty="0"/>
          </a:p>
        </p:txBody>
      </p:sp>
      <p:sp>
        <p:nvSpPr>
          <p:cNvPr id="20" name="Text 18"/>
          <p:cNvSpPr/>
          <p:nvPr/>
        </p:nvSpPr>
        <p:spPr>
          <a:xfrm>
            <a:off x="7159752" y="1417320"/>
            <a:ext cx="1554480" cy="320040"/>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Loss Fn</a:t>
            </a:r>
            <a:endParaRPr lang="en-US" sz="1000" dirty="0"/>
          </a:p>
        </p:txBody>
      </p:sp>
      <p:graphicFrame>
        <p:nvGraphicFramePr>
          <p:cNvPr id="22" name="Chart 1"/>
          <p:cNvGraphicFramePr/>
          <p:nvPr/>
        </p:nvGraphicFramePr>
        <p:xfrm>
          <a:off x="4800600" y="1965960"/>
          <a:ext cx="4023360" cy="2880360"/>
        </p:xfrm>
        <a:graphic>
          <a:graphicData uri="http://schemas.openxmlformats.org/drawingml/2006/chart">
            <c:chart xmlns:c="http://schemas.openxmlformats.org/drawingml/2006/chart" xmlns:r="http://schemas.openxmlformats.org/officeDocument/2006/relationships" r:id="rId3"/>
          </a:graphicData>
        </a:graphic>
      </p:graphicFrame>
      <p:pic>
        <p:nvPicPr>
          <p:cNvPr id="24" name="Picture 23">
            <a:extLst>
              <a:ext uri="{FF2B5EF4-FFF2-40B4-BE49-F238E27FC236}">
                <a16:creationId xmlns:a16="http://schemas.microsoft.com/office/drawing/2014/main" id="{16C6AE8F-8341-4BE6-9366-8EDA92044D88}"/>
              </a:ext>
            </a:extLst>
          </p:cNvPr>
          <p:cNvPicPr>
            <a:picLocks noChangeAspect="1"/>
          </p:cNvPicPr>
          <p:nvPr/>
        </p:nvPicPr>
        <p:blipFill>
          <a:blip r:embed="rId4"/>
          <a:stretch>
            <a:fillRect/>
          </a:stretch>
        </p:blipFill>
        <p:spPr>
          <a:xfrm>
            <a:off x="320040" y="2020684"/>
            <a:ext cx="4295219" cy="280809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a:effectLst/>
      </p:bgPr>
    </p:bg>
    <p:spTree>
      <p:nvGrpSpPr>
        <p:cNvPr id="1" name=""/>
        <p:cNvGrpSpPr/>
        <p:nvPr/>
      </p:nvGrpSpPr>
      <p:grpSpPr>
        <a:xfrm>
          <a:off x="0" y="0"/>
          <a:ext cx="0" cy="0"/>
          <a:chOff x="0" y="0"/>
          <a:chExt cx="0" cy="0"/>
        </a:xfrm>
      </p:grpSpPr>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Technologies Used</a:t>
            </a:r>
            <a:endParaRPr lang="en-US" sz="2800" dirty="0"/>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Shape 5"/>
          <p:cNvSpPr/>
          <p:nvPr/>
        </p:nvSpPr>
        <p:spPr>
          <a:xfrm>
            <a:off x="274320" y="868680"/>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274320" y="868680"/>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9" name="Text 7"/>
          <p:cNvSpPr/>
          <p:nvPr/>
        </p:nvSpPr>
        <p:spPr>
          <a:xfrm>
            <a:off x="274320" y="868680"/>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Frontend</a:t>
            </a:r>
            <a:endParaRPr lang="en-US" sz="750" dirty="0"/>
          </a:p>
        </p:txBody>
      </p:sp>
      <p:sp>
        <p:nvSpPr>
          <p:cNvPr id="10" name="Text 8"/>
          <p:cNvSpPr/>
          <p:nvPr/>
        </p:nvSpPr>
        <p:spPr>
          <a:xfrm>
            <a:off x="274320" y="1115568"/>
            <a:ext cx="54864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822960" y="1115568"/>
            <a:ext cx="2103120" cy="365760"/>
          </a:xfrm>
          <a:prstGeom prst="rect">
            <a:avLst/>
          </a:prstGeom>
          <a:noFill/>
          <a:ln/>
        </p:spPr>
        <p:txBody>
          <a:bodyPr wrap="square" rtlCol="0" anchor="ctr"/>
          <a:lstStyle/>
          <a:p>
            <a:pPr marL="0" indent="0">
              <a:buNone/>
            </a:pPr>
            <a:r>
              <a:rPr lang="en-US" sz="1200" b="1" dirty="0">
                <a:solidFill>
                  <a:srgbClr val="61DAFB"/>
                </a:solidFill>
                <a:latin typeface="Calibri" pitchFamily="34" charset="0"/>
                <a:ea typeface="Calibri" pitchFamily="34" charset="-122"/>
                <a:cs typeface="Calibri" pitchFamily="34" charset="-120"/>
              </a:rPr>
              <a:t>React.js</a:t>
            </a:r>
            <a:endParaRPr lang="en-US" sz="1200" dirty="0"/>
          </a:p>
        </p:txBody>
      </p:sp>
      <p:sp>
        <p:nvSpPr>
          <p:cNvPr id="12" name="Text 10"/>
          <p:cNvSpPr/>
          <p:nvPr/>
        </p:nvSpPr>
        <p:spPr>
          <a:xfrm>
            <a:off x="822960" y="135385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Frontend UI Framework</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Interactive webcam interface</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Component-based design</a:t>
            </a:r>
            <a:endParaRPr lang="en-US" sz="1100" dirty="0"/>
          </a:p>
        </p:txBody>
      </p:sp>
      <p:sp>
        <p:nvSpPr>
          <p:cNvPr id="13" name="Shape 11"/>
          <p:cNvSpPr/>
          <p:nvPr/>
        </p:nvSpPr>
        <p:spPr>
          <a:xfrm>
            <a:off x="3200400" y="868680"/>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3200400" y="868680"/>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15" name="Text 13"/>
          <p:cNvSpPr/>
          <p:nvPr/>
        </p:nvSpPr>
        <p:spPr>
          <a:xfrm>
            <a:off x="3200400" y="868680"/>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Backend</a:t>
            </a:r>
            <a:endParaRPr lang="en-US" sz="750" dirty="0"/>
          </a:p>
        </p:txBody>
      </p:sp>
      <p:sp>
        <p:nvSpPr>
          <p:cNvPr id="16" name="Text 14"/>
          <p:cNvSpPr/>
          <p:nvPr/>
        </p:nvSpPr>
        <p:spPr>
          <a:xfrm>
            <a:off x="3200400" y="1115568"/>
            <a:ext cx="548640" cy="502920"/>
          </a:xfrm>
          <a:prstGeom prst="rect">
            <a:avLst/>
          </a:prstGeom>
          <a:noFill/>
          <a:ln/>
        </p:spPr>
        <p:txBody>
          <a:bodyPr wrap="square" rtlCol="0" anchor="ctr"/>
          <a:lstStyle/>
          <a:p>
            <a:pPr marL="0" indent="0" algn="ctr">
              <a:buNone/>
            </a:pPr>
            <a:endParaRPr lang="en-US" sz="2000" dirty="0"/>
          </a:p>
        </p:txBody>
      </p:sp>
      <p:sp>
        <p:nvSpPr>
          <p:cNvPr id="17" name="Text 15"/>
          <p:cNvSpPr/>
          <p:nvPr/>
        </p:nvSpPr>
        <p:spPr>
          <a:xfrm>
            <a:off x="3749040" y="1115568"/>
            <a:ext cx="21031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Flask</a:t>
            </a:r>
            <a:endParaRPr lang="en-US" sz="1200" dirty="0"/>
          </a:p>
        </p:txBody>
      </p:sp>
      <p:sp>
        <p:nvSpPr>
          <p:cNvPr id="18" name="Text 16"/>
          <p:cNvSpPr/>
          <p:nvPr/>
        </p:nvSpPr>
        <p:spPr>
          <a:xfrm>
            <a:off x="3749040" y="135385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Python Web Framework</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REST API endpoints</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Lightweight &amp; flexible</a:t>
            </a:r>
            <a:endParaRPr lang="en-US" sz="1100" dirty="0"/>
          </a:p>
        </p:txBody>
      </p:sp>
      <p:sp>
        <p:nvSpPr>
          <p:cNvPr id="19" name="Shape 17"/>
          <p:cNvSpPr/>
          <p:nvPr/>
        </p:nvSpPr>
        <p:spPr>
          <a:xfrm>
            <a:off x="6126480" y="868680"/>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0" name="Shape 18"/>
          <p:cNvSpPr/>
          <p:nvPr/>
        </p:nvSpPr>
        <p:spPr>
          <a:xfrm>
            <a:off x="6126480" y="868680"/>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21" name="Text 19"/>
          <p:cNvSpPr/>
          <p:nvPr/>
        </p:nvSpPr>
        <p:spPr>
          <a:xfrm>
            <a:off x="6126480" y="868680"/>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ML</a:t>
            </a:r>
            <a:endParaRPr lang="en-US" sz="750" dirty="0"/>
          </a:p>
        </p:txBody>
      </p:sp>
      <p:sp>
        <p:nvSpPr>
          <p:cNvPr id="22" name="Text 20"/>
          <p:cNvSpPr/>
          <p:nvPr/>
        </p:nvSpPr>
        <p:spPr>
          <a:xfrm>
            <a:off x="6126480" y="1115568"/>
            <a:ext cx="548640" cy="502920"/>
          </a:xfrm>
          <a:prstGeom prst="rect">
            <a:avLst/>
          </a:prstGeom>
          <a:noFill/>
          <a:ln/>
        </p:spPr>
        <p:txBody>
          <a:bodyPr wrap="square" rtlCol="0" anchor="ctr"/>
          <a:lstStyle/>
          <a:p>
            <a:pPr marL="0" indent="0" algn="ctr">
              <a:buNone/>
            </a:pPr>
            <a:endParaRPr lang="en-US" sz="2000" dirty="0"/>
          </a:p>
        </p:txBody>
      </p:sp>
      <p:sp>
        <p:nvSpPr>
          <p:cNvPr id="23" name="Text 21"/>
          <p:cNvSpPr/>
          <p:nvPr/>
        </p:nvSpPr>
        <p:spPr>
          <a:xfrm>
            <a:off x="6675120" y="1115568"/>
            <a:ext cx="2103120" cy="365760"/>
          </a:xfrm>
          <a:prstGeom prst="rect">
            <a:avLst/>
          </a:prstGeom>
          <a:noFill/>
          <a:ln/>
        </p:spPr>
        <p:txBody>
          <a:bodyPr wrap="square" rtlCol="0" anchor="ctr"/>
          <a:lstStyle/>
          <a:p>
            <a:pPr marL="0" indent="0">
              <a:buNone/>
            </a:pPr>
            <a:r>
              <a:rPr lang="en-US" sz="1200" b="1" dirty="0">
                <a:solidFill>
                  <a:srgbClr val="FF6F00"/>
                </a:solidFill>
                <a:latin typeface="Calibri" pitchFamily="34" charset="0"/>
                <a:ea typeface="Calibri" pitchFamily="34" charset="-122"/>
                <a:cs typeface="Calibri" pitchFamily="34" charset="-120"/>
              </a:rPr>
              <a:t>TensorFlow 2.20</a:t>
            </a:r>
            <a:endParaRPr lang="en-US" sz="1200" dirty="0"/>
          </a:p>
        </p:txBody>
      </p:sp>
      <p:sp>
        <p:nvSpPr>
          <p:cNvPr id="24" name="Text 22"/>
          <p:cNvSpPr/>
          <p:nvPr/>
        </p:nvSpPr>
        <p:spPr>
          <a:xfrm>
            <a:off x="6675120" y="135385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ML Framework</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Model training &amp; inference</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Keras high-level API</a:t>
            </a:r>
            <a:endParaRPr lang="en-US" sz="1100" dirty="0"/>
          </a:p>
        </p:txBody>
      </p:sp>
      <p:sp>
        <p:nvSpPr>
          <p:cNvPr id="25" name="Shape 23"/>
          <p:cNvSpPr/>
          <p:nvPr/>
        </p:nvSpPr>
        <p:spPr>
          <a:xfrm>
            <a:off x="274320" y="2314112"/>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274320" y="2314112"/>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27" name="Text 25"/>
          <p:cNvSpPr/>
          <p:nvPr/>
        </p:nvSpPr>
        <p:spPr>
          <a:xfrm>
            <a:off x="274320" y="2314112"/>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Model</a:t>
            </a:r>
            <a:endParaRPr lang="en-US" sz="750" dirty="0"/>
          </a:p>
        </p:txBody>
      </p:sp>
      <p:sp>
        <p:nvSpPr>
          <p:cNvPr id="28" name="Text 26"/>
          <p:cNvSpPr/>
          <p:nvPr/>
        </p:nvSpPr>
        <p:spPr>
          <a:xfrm>
            <a:off x="274320" y="2561000"/>
            <a:ext cx="548640" cy="502920"/>
          </a:xfrm>
          <a:prstGeom prst="rect">
            <a:avLst/>
          </a:prstGeom>
          <a:noFill/>
          <a:ln/>
        </p:spPr>
        <p:txBody>
          <a:bodyPr wrap="square" rtlCol="0" anchor="ctr"/>
          <a:lstStyle/>
          <a:p>
            <a:pPr marL="0" indent="0" algn="ctr">
              <a:buNone/>
            </a:pPr>
            <a:endParaRPr lang="en-US" sz="2000" dirty="0"/>
          </a:p>
        </p:txBody>
      </p:sp>
      <p:sp>
        <p:nvSpPr>
          <p:cNvPr id="29" name="Text 27"/>
          <p:cNvSpPr/>
          <p:nvPr/>
        </p:nvSpPr>
        <p:spPr>
          <a:xfrm>
            <a:off x="822960" y="2561000"/>
            <a:ext cx="2103120" cy="365760"/>
          </a:xfrm>
          <a:prstGeom prst="rect">
            <a:avLst/>
          </a:prstGeom>
          <a:noFill/>
          <a:ln/>
        </p:spPr>
        <p:txBody>
          <a:bodyPr wrap="square" rtlCol="0" anchor="ctr"/>
          <a:lstStyle/>
          <a:p>
            <a:pPr marL="0" indent="0">
              <a:buNone/>
            </a:pPr>
            <a:r>
              <a:rPr lang="en-US" sz="1200" b="1" dirty="0">
                <a:solidFill>
                  <a:srgbClr val="7B1FA2"/>
                </a:solidFill>
                <a:latin typeface="Calibri" pitchFamily="34" charset="0"/>
                <a:ea typeface="Calibri" pitchFamily="34" charset="-122"/>
                <a:cs typeface="Calibri" pitchFamily="34" charset="-120"/>
              </a:rPr>
              <a:t>MobileNetV2</a:t>
            </a:r>
            <a:endParaRPr lang="en-US" sz="1200" dirty="0"/>
          </a:p>
        </p:txBody>
      </p:sp>
      <p:sp>
        <p:nvSpPr>
          <p:cNvPr id="30" name="Text 28"/>
          <p:cNvSpPr/>
          <p:nvPr/>
        </p:nvSpPr>
        <p:spPr>
          <a:xfrm>
            <a:off x="822960" y="274469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CNN Architecture</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Pre-trained weights</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Transfer learning</a:t>
            </a:r>
            <a:endParaRPr lang="en-US" sz="1100" dirty="0"/>
          </a:p>
        </p:txBody>
      </p:sp>
      <p:sp>
        <p:nvSpPr>
          <p:cNvPr id="31" name="Shape 29"/>
          <p:cNvSpPr/>
          <p:nvPr/>
        </p:nvSpPr>
        <p:spPr>
          <a:xfrm>
            <a:off x="3200400" y="2314112"/>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2" name="Shape 30"/>
          <p:cNvSpPr/>
          <p:nvPr/>
        </p:nvSpPr>
        <p:spPr>
          <a:xfrm>
            <a:off x="3200400" y="2314112"/>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33" name="Text 31"/>
          <p:cNvSpPr/>
          <p:nvPr/>
        </p:nvSpPr>
        <p:spPr>
          <a:xfrm>
            <a:off x="3200400" y="2314112"/>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Vision</a:t>
            </a:r>
            <a:endParaRPr lang="en-US" sz="750" dirty="0"/>
          </a:p>
        </p:txBody>
      </p:sp>
      <p:sp>
        <p:nvSpPr>
          <p:cNvPr id="34" name="Text 32"/>
          <p:cNvSpPr/>
          <p:nvPr/>
        </p:nvSpPr>
        <p:spPr>
          <a:xfrm>
            <a:off x="3200400" y="2561000"/>
            <a:ext cx="548640" cy="502920"/>
          </a:xfrm>
          <a:prstGeom prst="rect">
            <a:avLst/>
          </a:prstGeom>
          <a:noFill/>
          <a:ln/>
        </p:spPr>
        <p:txBody>
          <a:bodyPr wrap="square" rtlCol="0" anchor="ctr"/>
          <a:lstStyle/>
          <a:p>
            <a:pPr marL="0" indent="0" algn="ctr">
              <a:buNone/>
            </a:pPr>
            <a:endParaRPr lang="en-US" sz="2000" dirty="0"/>
          </a:p>
        </p:txBody>
      </p:sp>
      <p:sp>
        <p:nvSpPr>
          <p:cNvPr id="35" name="Text 33"/>
          <p:cNvSpPr/>
          <p:nvPr/>
        </p:nvSpPr>
        <p:spPr>
          <a:xfrm>
            <a:off x="3749040" y="2561000"/>
            <a:ext cx="2103120" cy="365760"/>
          </a:xfrm>
          <a:prstGeom prst="rect">
            <a:avLst/>
          </a:prstGeom>
          <a:noFill/>
          <a:ln/>
        </p:spPr>
        <p:txBody>
          <a:bodyPr wrap="square" rtlCol="0" anchor="ctr"/>
          <a:lstStyle/>
          <a:p>
            <a:pPr marL="0" indent="0">
              <a:buNone/>
            </a:pPr>
            <a:r>
              <a:rPr lang="en-US" sz="1200" b="1" dirty="0">
                <a:solidFill>
                  <a:srgbClr val="5C3EE8"/>
                </a:solidFill>
                <a:latin typeface="Calibri" pitchFamily="34" charset="0"/>
                <a:ea typeface="Calibri" pitchFamily="34" charset="-122"/>
                <a:cs typeface="Calibri" pitchFamily="34" charset="-120"/>
              </a:rPr>
              <a:t>OpenCV</a:t>
            </a:r>
            <a:endParaRPr lang="en-US" sz="1200" dirty="0"/>
          </a:p>
        </p:txBody>
      </p:sp>
      <p:sp>
        <p:nvSpPr>
          <p:cNvPr id="36" name="Text 34"/>
          <p:cNvSpPr/>
          <p:nvPr/>
        </p:nvSpPr>
        <p:spPr>
          <a:xfrm>
            <a:off x="3749040" y="274469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Computer Vision Library</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Face detection</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Image processing</a:t>
            </a:r>
            <a:endParaRPr lang="en-US" sz="1100" dirty="0"/>
          </a:p>
        </p:txBody>
      </p:sp>
      <p:sp>
        <p:nvSpPr>
          <p:cNvPr id="37" name="Shape 35"/>
          <p:cNvSpPr/>
          <p:nvPr/>
        </p:nvSpPr>
        <p:spPr>
          <a:xfrm>
            <a:off x="6126480" y="2314112"/>
            <a:ext cx="2743200" cy="1262416"/>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8" name="Shape 36"/>
          <p:cNvSpPr/>
          <p:nvPr/>
        </p:nvSpPr>
        <p:spPr>
          <a:xfrm>
            <a:off x="6126480" y="2314112"/>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39" name="Text 37"/>
          <p:cNvSpPr/>
          <p:nvPr/>
        </p:nvSpPr>
        <p:spPr>
          <a:xfrm>
            <a:off x="6126480" y="2314112"/>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Language</a:t>
            </a:r>
            <a:endParaRPr lang="en-US" sz="750" dirty="0"/>
          </a:p>
        </p:txBody>
      </p:sp>
      <p:sp>
        <p:nvSpPr>
          <p:cNvPr id="40" name="Text 38"/>
          <p:cNvSpPr/>
          <p:nvPr/>
        </p:nvSpPr>
        <p:spPr>
          <a:xfrm>
            <a:off x="6126480" y="2561000"/>
            <a:ext cx="548640" cy="502920"/>
          </a:xfrm>
          <a:prstGeom prst="rect">
            <a:avLst/>
          </a:prstGeom>
          <a:noFill/>
          <a:ln/>
        </p:spPr>
        <p:txBody>
          <a:bodyPr wrap="square" rtlCol="0" anchor="ctr"/>
          <a:lstStyle/>
          <a:p>
            <a:pPr marL="0" indent="0" algn="ctr">
              <a:buNone/>
            </a:pPr>
            <a:endParaRPr lang="en-US" sz="2000" dirty="0"/>
          </a:p>
        </p:txBody>
      </p:sp>
      <p:sp>
        <p:nvSpPr>
          <p:cNvPr id="41" name="Text 39"/>
          <p:cNvSpPr/>
          <p:nvPr/>
        </p:nvSpPr>
        <p:spPr>
          <a:xfrm>
            <a:off x="6675120" y="2561000"/>
            <a:ext cx="2103120" cy="365760"/>
          </a:xfrm>
          <a:prstGeom prst="rect">
            <a:avLst/>
          </a:prstGeom>
          <a:noFill/>
          <a:ln/>
        </p:spPr>
        <p:txBody>
          <a:bodyPr wrap="square" rtlCol="0" anchor="ctr"/>
          <a:lstStyle/>
          <a:p>
            <a:pPr marL="0" indent="0">
              <a:buNone/>
            </a:pPr>
            <a:r>
              <a:rPr lang="en-US" sz="1200" b="1" dirty="0">
                <a:solidFill>
                  <a:srgbClr val="3776AB"/>
                </a:solidFill>
                <a:latin typeface="Calibri" pitchFamily="34" charset="0"/>
                <a:ea typeface="Calibri" pitchFamily="34" charset="-122"/>
                <a:cs typeface="Calibri" pitchFamily="34" charset="-120"/>
              </a:rPr>
              <a:t>Python 3.10</a:t>
            </a:r>
            <a:endParaRPr lang="en-US" sz="1200" dirty="0"/>
          </a:p>
        </p:txBody>
      </p:sp>
      <p:sp>
        <p:nvSpPr>
          <p:cNvPr id="42" name="Text 40"/>
          <p:cNvSpPr/>
          <p:nvPr/>
        </p:nvSpPr>
        <p:spPr>
          <a:xfrm>
            <a:off x="6675120" y="2744696"/>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Core Language</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ML ecosystem</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Scientific computing</a:t>
            </a:r>
            <a:endParaRPr lang="en-US" sz="1100" dirty="0"/>
          </a:p>
        </p:txBody>
      </p:sp>
      <p:sp>
        <p:nvSpPr>
          <p:cNvPr id="43" name="Shape 41"/>
          <p:cNvSpPr/>
          <p:nvPr/>
        </p:nvSpPr>
        <p:spPr>
          <a:xfrm>
            <a:off x="274320" y="3764048"/>
            <a:ext cx="2743200" cy="1120140"/>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4" name="Shape 42"/>
          <p:cNvSpPr/>
          <p:nvPr/>
        </p:nvSpPr>
        <p:spPr>
          <a:xfrm>
            <a:off x="274320" y="3764048"/>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45" name="Text 43"/>
          <p:cNvSpPr/>
          <p:nvPr/>
        </p:nvSpPr>
        <p:spPr>
          <a:xfrm>
            <a:off x="274320" y="3764048"/>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Science</a:t>
            </a:r>
            <a:endParaRPr lang="en-US" sz="750" dirty="0"/>
          </a:p>
        </p:txBody>
      </p:sp>
      <p:sp>
        <p:nvSpPr>
          <p:cNvPr id="46" name="Text 44"/>
          <p:cNvSpPr/>
          <p:nvPr/>
        </p:nvSpPr>
        <p:spPr>
          <a:xfrm>
            <a:off x="274320" y="4010936"/>
            <a:ext cx="548640" cy="502920"/>
          </a:xfrm>
          <a:prstGeom prst="rect">
            <a:avLst/>
          </a:prstGeom>
          <a:noFill/>
          <a:ln/>
        </p:spPr>
        <p:txBody>
          <a:bodyPr wrap="square" rtlCol="0" anchor="ctr"/>
          <a:lstStyle/>
          <a:p>
            <a:pPr marL="0" indent="0" algn="ctr">
              <a:buNone/>
            </a:pPr>
            <a:endParaRPr lang="en-US" sz="2000" dirty="0"/>
          </a:p>
        </p:txBody>
      </p:sp>
      <p:sp>
        <p:nvSpPr>
          <p:cNvPr id="47" name="Text 45"/>
          <p:cNvSpPr/>
          <p:nvPr/>
        </p:nvSpPr>
        <p:spPr>
          <a:xfrm>
            <a:off x="822960" y="4010936"/>
            <a:ext cx="2103120" cy="365760"/>
          </a:xfrm>
          <a:prstGeom prst="rect">
            <a:avLst/>
          </a:prstGeom>
          <a:noFill/>
          <a:ln/>
        </p:spPr>
        <p:txBody>
          <a:bodyPr wrap="square"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NumPy</a:t>
            </a:r>
            <a:endParaRPr lang="en-US" sz="1200" dirty="0">
              <a:solidFill>
                <a:schemeClr val="bg1"/>
              </a:solidFill>
            </a:endParaRPr>
          </a:p>
        </p:txBody>
      </p:sp>
      <p:sp>
        <p:nvSpPr>
          <p:cNvPr id="48" name="Text 46"/>
          <p:cNvSpPr/>
          <p:nvPr/>
        </p:nvSpPr>
        <p:spPr>
          <a:xfrm>
            <a:off x="822960" y="4153688"/>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Array computing</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Matrix operations</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Fast numerical ops</a:t>
            </a:r>
            <a:endParaRPr lang="en-US" sz="1100" dirty="0"/>
          </a:p>
        </p:txBody>
      </p:sp>
      <p:sp>
        <p:nvSpPr>
          <p:cNvPr id="49" name="Shape 47"/>
          <p:cNvSpPr/>
          <p:nvPr/>
        </p:nvSpPr>
        <p:spPr>
          <a:xfrm>
            <a:off x="3200400" y="3764048"/>
            <a:ext cx="2743200" cy="1120140"/>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0" name="Shape 48"/>
          <p:cNvSpPr/>
          <p:nvPr/>
        </p:nvSpPr>
        <p:spPr>
          <a:xfrm>
            <a:off x="3200400" y="3764048"/>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51" name="Text 49"/>
          <p:cNvSpPr/>
          <p:nvPr/>
        </p:nvSpPr>
        <p:spPr>
          <a:xfrm>
            <a:off x="3200400" y="3764048"/>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Database</a:t>
            </a:r>
            <a:endParaRPr lang="en-US" sz="750" dirty="0"/>
          </a:p>
        </p:txBody>
      </p:sp>
      <p:sp>
        <p:nvSpPr>
          <p:cNvPr id="52" name="Text 50"/>
          <p:cNvSpPr/>
          <p:nvPr/>
        </p:nvSpPr>
        <p:spPr>
          <a:xfrm>
            <a:off x="3200400" y="4010936"/>
            <a:ext cx="548640" cy="502920"/>
          </a:xfrm>
          <a:prstGeom prst="rect">
            <a:avLst/>
          </a:prstGeom>
          <a:noFill/>
          <a:ln/>
        </p:spPr>
        <p:txBody>
          <a:bodyPr wrap="square" rtlCol="0" anchor="ctr"/>
          <a:lstStyle/>
          <a:p>
            <a:pPr marL="0" indent="0" algn="ctr">
              <a:buNone/>
            </a:pPr>
            <a:endParaRPr lang="en-US" sz="2000" dirty="0"/>
          </a:p>
        </p:txBody>
      </p:sp>
      <p:sp>
        <p:nvSpPr>
          <p:cNvPr id="53" name="Text 51"/>
          <p:cNvSpPr/>
          <p:nvPr/>
        </p:nvSpPr>
        <p:spPr>
          <a:xfrm>
            <a:off x="3749040" y="4010936"/>
            <a:ext cx="2103120" cy="365760"/>
          </a:xfrm>
          <a:prstGeom prst="rect">
            <a:avLst/>
          </a:prstGeom>
          <a:noFill/>
          <a:ln/>
        </p:spPr>
        <p:txBody>
          <a:bodyPr wrap="square"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SQLite</a:t>
            </a:r>
            <a:endParaRPr lang="en-US" sz="1200" dirty="0">
              <a:solidFill>
                <a:schemeClr val="bg1"/>
              </a:solidFill>
            </a:endParaRPr>
          </a:p>
        </p:txBody>
      </p:sp>
      <p:sp>
        <p:nvSpPr>
          <p:cNvPr id="54" name="Text 52"/>
          <p:cNvSpPr/>
          <p:nvPr/>
        </p:nvSpPr>
        <p:spPr>
          <a:xfrm>
            <a:off x="3749040" y="4153688"/>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Embedded Database</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User sessions &amp; logs</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Zero configuration</a:t>
            </a:r>
            <a:endParaRPr lang="en-US" sz="1100" dirty="0"/>
          </a:p>
        </p:txBody>
      </p:sp>
      <p:sp>
        <p:nvSpPr>
          <p:cNvPr id="55" name="Shape 53"/>
          <p:cNvSpPr/>
          <p:nvPr/>
        </p:nvSpPr>
        <p:spPr>
          <a:xfrm>
            <a:off x="6126480" y="3764048"/>
            <a:ext cx="2743200" cy="1120140"/>
          </a:xfrm>
          <a:prstGeom prst="roundRect">
            <a:avLst>
              <a:gd name="adj" fmla="val 75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6" name="Shape 54"/>
          <p:cNvSpPr/>
          <p:nvPr/>
        </p:nvSpPr>
        <p:spPr>
          <a:xfrm>
            <a:off x="6126480" y="3764048"/>
            <a:ext cx="914400" cy="228600"/>
          </a:xfrm>
          <a:prstGeom prst="rect">
            <a:avLst/>
          </a:prstGeom>
          <a:solidFill>
            <a:srgbClr val="1A237E">
              <a:alpha val="80000"/>
            </a:srgbClr>
          </a:solidFill>
          <a:ln w="12700">
            <a:solidFill>
              <a:srgbClr val="1A237E">
                <a:alpha val="0"/>
              </a:srgbClr>
            </a:solidFill>
            <a:prstDash val="solid"/>
          </a:ln>
        </p:spPr>
        <p:txBody>
          <a:bodyPr/>
          <a:lstStyle/>
          <a:p>
            <a:endParaRPr lang="en-US"/>
          </a:p>
        </p:txBody>
      </p:sp>
      <p:sp>
        <p:nvSpPr>
          <p:cNvPr id="57" name="Text 55"/>
          <p:cNvSpPr/>
          <p:nvPr/>
        </p:nvSpPr>
        <p:spPr>
          <a:xfrm>
            <a:off x="6126480" y="3764048"/>
            <a:ext cx="914400" cy="228600"/>
          </a:xfrm>
          <a:prstGeom prst="rect">
            <a:avLst/>
          </a:prstGeom>
          <a:noFill/>
          <a:ln/>
        </p:spPr>
        <p:txBody>
          <a:bodyPr wrap="square" rtlCol="0" anchor="ctr"/>
          <a:lstStyle/>
          <a:p>
            <a:pPr marL="0" indent="0" algn="ctr">
              <a:buNone/>
            </a:pPr>
            <a:r>
              <a:rPr lang="en-US" sz="750" dirty="0">
                <a:solidFill>
                  <a:srgbClr val="90A4AE"/>
                </a:solidFill>
                <a:latin typeface="Calibri" pitchFamily="34" charset="0"/>
                <a:ea typeface="Calibri" pitchFamily="34" charset="-122"/>
                <a:cs typeface="Calibri" pitchFamily="34" charset="-120"/>
              </a:rPr>
              <a:t>Analytics</a:t>
            </a:r>
            <a:endParaRPr lang="en-US" sz="750" dirty="0"/>
          </a:p>
        </p:txBody>
      </p:sp>
      <p:sp>
        <p:nvSpPr>
          <p:cNvPr id="58" name="Text 56"/>
          <p:cNvSpPr/>
          <p:nvPr/>
        </p:nvSpPr>
        <p:spPr>
          <a:xfrm>
            <a:off x="6126480" y="4010936"/>
            <a:ext cx="548640" cy="502920"/>
          </a:xfrm>
          <a:prstGeom prst="rect">
            <a:avLst/>
          </a:prstGeom>
          <a:noFill/>
          <a:ln/>
        </p:spPr>
        <p:txBody>
          <a:bodyPr wrap="square" rtlCol="0" anchor="ctr"/>
          <a:lstStyle/>
          <a:p>
            <a:pPr marL="0" indent="0" algn="ctr">
              <a:buNone/>
            </a:pPr>
            <a:endParaRPr lang="en-US" sz="2000" dirty="0"/>
          </a:p>
        </p:txBody>
      </p:sp>
      <p:sp>
        <p:nvSpPr>
          <p:cNvPr id="59" name="Text 57"/>
          <p:cNvSpPr/>
          <p:nvPr/>
        </p:nvSpPr>
        <p:spPr>
          <a:xfrm>
            <a:off x="6675120" y="4010936"/>
            <a:ext cx="2103120" cy="365760"/>
          </a:xfrm>
          <a:prstGeom prst="rect">
            <a:avLst/>
          </a:prstGeom>
          <a:noFill/>
          <a:ln/>
        </p:spPr>
        <p:txBody>
          <a:bodyPr wrap="square" rtlCol="0" anchor="ctr"/>
          <a:lstStyle/>
          <a:p>
            <a:pPr marL="0" indent="0">
              <a:buNone/>
            </a:pPr>
            <a:r>
              <a:rPr lang="en-US" sz="1200" b="1" dirty="0">
                <a:solidFill>
                  <a:srgbClr val="F89939"/>
                </a:solidFill>
                <a:latin typeface="Calibri" pitchFamily="34" charset="0"/>
                <a:ea typeface="Calibri" pitchFamily="34" charset="-122"/>
                <a:cs typeface="Calibri" pitchFamily="34" charset="-120"/>
              </a:rPr>
              <a:t>Scikit-learn</a:t>
            </a:r>
            <a:endParaRPr lang="en-US" sz="1200" dirty="0"/>
          </a:p>
        </p:txBody>
      </p:sp>
      <p:sp>
        <p:nvSpPr>
          <p:cNvPr id="60" name="Text 58"/>
          <p:cNvSpPr/>
          <p:nvPr/>
        </p:nvSpPr>
        <p:spPr>
          <a:xfrm>
            <a:off x="6675120" y="4153688"/>
            <a:ext cx="2103120" cy="77724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ML Utilities</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Metrics &amp; evaluation</a:t>
            </a:r>
            <a:endParaRPr lang="en-US" sz="1100" dirty="0"/>
          </a:p>
          <a:p>
            <a:pPr marL="0" indent="0">
              <a:buNone/>
            </a:pPr>
            <a:r>
              <a:rPr lang="en-US" sz="1100" dirty="0">
                <a:solidFill>
                  <a:srgbClr val="E3F2FD"/>
                </a:solidFill>
                <a:latin typeface="Calibri" pitchFamily="34" charset="0"/>
                <a:ea typeface="Calibri" pitchFamily="34" charset="-122"/>
                <a:cs typeface="Calibri" pitchFamily="34" charset="-120"/>
              </a:rPr>
              <a:t>Confusion matrix</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0A0E27"/>
        </a:solidFill>
        <a:effectLst/>
      </p:bgPr>
    </p:bg>
    <p:spTree>
      <p:nvGrpSpPr>
        <p:cNvPr id="1" name=""/>
        <p:cNvGrpSpPr/>
        <p:nvPr/>
      </p:nvGrpSpPr>
      <p:grpSpPr>
        <a:xfrm>
          <a:off x="0" y="0"/>
          <a:ext cx="0" cy="0"/>
          <a:chOff x="0" y="0"/>
          <a:chExt cx="0" cy="0"/>
        </a:xfrm>
      </p:grpSpPr>
      <p:sp>
        <p:nvSpPr>
          <p:cNvPr id="4" name="Shape 2"/>
          <p:cNvSpPr/>
          <p:nvPr/>
        </p:nvSpPr>
        <p:spPr>
          <a:xfrm>
            <a:off x="3657600" y="-914400"/>
            <a:ext cx="2743200" cy="2743200"/>
          </a:xfrm>
          <a:prstGeom prst="ellipse">
            <a:avLst/>
          </a:prstGeom>
          <a:solidFill>
            <a:srgbClr val="00BCD4">
              <a:alpha val="15000"/>
            </a:srgbClr>
          </a:solidFill>
          <a:ln w="12700">
            <a:solidFill>
              <a:srgbClr val="00BCD4">
                <a:alpha val="0"/>
              </a:srgbClr>
            </a:solidFill>
            <a:prstDash val="solid"/>
          </a:ln>
        </p:spPr>
        <p:txBody>
          <a:bodyPr/>
          <a:lstStyle/>
          <a:p>
            <a:endParaRPr lang="en-US"/>
          </a:p>
        </p:txBody>
      </p:sp>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Performance Analysis</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Text 5"/>
          <p:cNvSpPr/>
          <p:nvPr/>
        </p:nvSpPr>
        <p:spPr>
          <a:xfrm>
            <a:off x="320040" y="804672"/>
            <a:ext cx="5029200" cy="256032"/>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Confusion Matrix</a:t>
            </a:r>
            <a:endParaRPr lang="en-US" sz="1100" dirty="0"/>
          </a:p>
        </p:txBody>
      </p:sp>
      <p:sp>
        <p:nvSpPr>
          <p:cNvPr id="8" name="Text 6"/>
          <p:cNvSpPr/>
          <p:nvPr/>
        </p:nvSpPr>
        <p:spPr>
          <a:xfrm>
            <a:off x="731520"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AN</a:t>
            </a:r>
            <a:endParaRPr lang="en-US" sz="850" dirty="0"/>
          </a:p>
        </p:txBody>
      </p:sp>
      <p:sp>
        <p:nvSpPr>
          <p:cNvPr id="9" name="Text 7"/>
          <p:cNvSpPr/>
          <p:nvPr/>
        </p:nvSpPr>
        <p:spPr>
          <a:xfrm>
            <a:off x="320040" y="1252728"/>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AN</a:t>
            </a:r>
            <a:endParaRPr lang="en-US" sz="850" dirty="0"/>
          </a:p>
        </p:txBody>
      </p:sp>
      <p:sp>
        <p:nvSpPr>
          <p:cNvPr id="10" name="Text 8"/>
          <p:cNvSpPr/>
          <p:nvPr/>
        </p:nvSpPr>
        <p:spPr>
          <a:xfrm>
            <a:off x="1261872"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DI</a:t>
            </a:r>
            <a:endParaRPr lang="en-US" sz="850" dirty="0"/>
          </a:p>
        </p:txBody>
      </p:sp>
      <p:sp>
        <p:nvSpPr>
          <p:cNvPr id="11" name="Text 9"/>
          <p:cNvSpPr/>
          <p:nvPr/>
        </p:nvSpPr>
        <p:spPr>
          <a:xfrm>
            <a:off x="320040" y="1783080"/>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DI</a:t>
            </a:r>
            <a:endParaRPr lang="en-US" sz="850" dirty="0"/>
          </a:p>
        </p:txBody>
      </p:sp>
      <p:sp>
        <p:nvSpPr>
          <p:cNvPr id="12" name="Text 10"/>
          <p:cNvSpPr/>
          <p:nvPr/>
        </p:nvSpPr>
        <p:spPr>
          <a:xfrm>
            <a:off x="1792224"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FE</a:t>
            </a:r>
            <a:endParaRPr lang="en-US" sz="850" dirty="0"/>
          </a:p>
        </p:txBody>
      </p:sp>
      <p:sp>
        <p:nvSpPr>
          <p:cNvPr id="13" name="Text 11"/>
          <p:cNvSpPr/>
          <p:nvPr/>
        </p:nvSpPr>
        <p:spPr>
          <a:xfrm>
            <a:off x="320040" y="2313432"/>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FE</a:t>
            </a:r>
            <a:endParaRPr lang="en-US" sz="850" dirty="0"/>
          </a:p>
        </p:txBody>
      </p:sp>
      <p:sp>
        <p:nvSpPr>
          <p:cNvPr id="14" name="Text 12"/>
          <p:cNvSpPr/>
          <p:nvPr/>
        </p:nvSpPr>
        <p:spPr>
          <a:xfrm>
            <a:off x="2322576"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HA</a:t>
            </a:r>
            <a:endParaRPr lang="en-US" sz="850" dirty="0"/>
          </a:p>
        </p:txBody>
      </p:sp>
      <p:sp>
        <p:nvSpPr>
          <p:cNvPr id="15" name="Text 13"/>
          <p:cNvSpPr/>
          <p:nvPr/>
        </p:nvSpPr>
        <p:spPr>
          <a:xfrm>
            <a:off x="320040" y="2843784"/>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HA</a:t>
            </a:r>
            <a:endParaRPr lang="en-US" sz="850" dirty="0"/>
          </a:p>
        </p:txBody>
      </p:sp>
      <p:sp>
        <p:nvSpPr>
          <p:cNvPr id="16" name="Text 14"/>
          <p:cNvSpPr/>
          <p:nvPr/>
        </p:nvSpPr>
        <p:spPr>
          <a:xfrm>
            <a:off x="2852928"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SA</a:t>
            </a:r>
            <a:endParaRPr lang="en-US" sz="850" dirty="0"/>
          </a:p>
        </p:txBody>
      </p:sp>
      <p:sp>
        <p:nvSpPr>
          <p:cNvPr id="17" name="Text 15"/>
          <p:cNvSpPr/>
          <p:nvPr/>
        </p:nvSpPr>
        <p:spPr>
          <a:xfrm>
            <a:off x="320040" y="3374136"/>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SA</a:t>
            </a:r>
            <a:endParaRPr lang="en-US" sz="850" dirty="0"/>
          </a:p>
        </p:txBody>
      </p:sp>
      <p:sp>
        <p:nvSpPr>
          <p:cNvPr id="18" name="Text 16"/>
          <p:cNvSpPr/>
          <p:nvPr/>
        </p:nvSpPr>
        <p:spPr>
          <a:xfrm>
            <a:off x="3383280"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SU</a:t>
            </a:r>
            <a:endParaRPr lang="en-US" sz="850" dirty="0"/>
          </a:p>
        </p:txBody>
      </p:sp>
      <p:sp>
        <p:nvSpPr>
          <p:cNvPr id="19" name="Text 17"/>
          <p:cNvSpPr/>
          <p:nvPr/>
        </p:nvSpPr>
        <p:spPr>
          <a:xfrm>
            <a:off x="320040" y="3904488"/>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SU</a:t>
            </a:r>
            <a:endParaRPr lang="en-US" sz="850" dirty="0"/>
          </a:p>
        </p:txBody>
      </p:sp>
      <p:sp>
        <p:nvSpPr>
          <p:cNvPr id="20" name="Text 18"/>
          <p:cNvSpPr/>
          <p:nvPr/>
        </p:nvSpPr>
        <p:spPr>
          <a:xfrm>
            <a:off x="3913632" y="886968"/>
            <a:ext cx="484632" cy="201168"/>
          </a:xfrm>
          <a:prstGeom prst="rect">
            <a:avLst/>
          </a:prstGeom>
          <a:noFill/>
          <a:ln/>
        </p:spPr>
        <p:txBody>
          <a:bodyPr wrap="square" rtlCol="0" anchor="ctr"/>
          <a:lstStyle/>
          <a:p>
            <a:pPr marL="0" indent="0" algn="ctr">
              <a:buNone/>
            </a:pPr>
            <a:r>
              <a:rPr lang="en-US" sz="850" b="1" dirty="0">
                <a:solidFill>
                  <a:srgbClr val="90A4AE"/>
                </a:solidFill>
                <a:latin typeface="Calibri" pitchFamily="34" charset="0"/>
                <a:ea typeface="Calibri" pitchFamily="34" charset="-122"/>
                <a:cs typeface="Calibri" pitchFamily="34" charset="-120"/>
              </a:rPr>
              <a:t>NE</a:t>
            </a:r>
            <a:endParaRPr lang="en-US" sz="850" dirty="0"/>
          </a:p>
        </p:txBody>
      </p:sp>
      <p:sp>
        <p:nvSpPr>
          <p:cNvPr id="21" name="Text 19"/>
          <p:cNvSpPr/>
          <p:nvPr/>
        </p:nvSpPr>
        <p:spPr>
          <a:xfrm>
            <a:off x="320040" y="4434840"/>
            <a:ext cx="320040" cy="256032"/>
          </a:xfrm>
          <a:prstGeom prst="rect">
            <a:avLst/>
          </a:prstGeom>
          <a:noFill/>
          <a:ln/>
        </p:spPr>
        <p:txBody>
          <a:bodyPr wrap="square" rtlCol="0" anchor="ctr"/>
          <a:lstStyle/>
          <a:p>
            <a:pPr marL="0" indent="0" algn="r">
              <a:buNone/>
            </a:pPr>
            <a:r>
              <a:rPr lang="en-US" sz="850" b="1" dirty="0">
                <a:solidFill>
                  <a:srgbClr val="90A4AE"/>
                </a:solidFill>
                <a:latin typeface="Calibri" pitchFamily="34" charset="0"/>
                <a:ea typeface="Calibri" pitchFamily="34" charset="-122"/>
                <a:cs typeface="Calibri" pitchFamily="34" charset="-120"/>
              </a:rPr>
              <a:t>NE</a:t>
            </a:r>
            <a:endParaRPr lang="en-US" sz="850" dirty="0"/>
          </a:p>
        </p:txBody>
      </p:sp>
      <p:sp>
        <p:nvSpPr>
          <p:cNvPr id="22" name="Shape 20"/>
          <p:cNvSpPr/>
          <p:nvPr/>
        </p:nvSpPr>
        <p:spPr>
          <a:xfrm>
            <a:off x="640080" y="1115568"/>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23" name="Text 21"/>
          <p:cNvSpPr/>
          <p:nvPr/>
        </p:nvSpPr>
        <p:spPr>
          <a:xfrm>
            <a:off x="640080" y="1115568"/>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74%</a:t>
            </a:r>
            <a:endParaRPr lang="en-US" sz="950" dirty="0"/>
          </a:p>
        </p:txBody>
      </p:sp>
      <p:sp>
        <p:nvSpPr>
          <p:cNvPr id="24" name="Shape 22"/>
          <p:cNvSpPr/>
          <p:nvPr/>
        </p:nvSpPr>
        <p:spPr>
          <a:xfrm>
            <a:off x="1170432" y="1115568"/>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25" name="Text 23"/>
          <p:cNvSpPr/>
          <p:nvPr/>
        </p:nvSpPr>
        <p:spPr>
          <a:xfrm>
            <a:off x="1170432"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26" name="Shape 24"/>
          <p:cNvSpPr/>
          <p:nvPr/>
        </p:nvSpPr>
        <p:spPr>
          <a:xfrm>
            <a:off x="1700784" y="1115568"/>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27" name="Text 25"/>
          <p:cNvSpPr/>
          <p:nvPr/>
        </p:nvSpPr>
        <p:spPr>
          <a:xfrm>
            <a:off x="1700784"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6%</a:t>
            </a:r>
            <a:endParaRPr lang="en-US" sz="800" dirty="0"/>
          </a:p>
        </p:txBody>
      </p:sp>
      <p:sp>
        <p:nvSpPr>
          <p:cNvPr id="28" name="Shape 26"/>
          <p:cNvSpPr/>
          <p:nvPr/>
        </p:nvSpPr>
        <p:spPr>
          <a:xfrm>
            <a:off x="2231136" y="1115568"/>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29" name="Text 27"/>
          <p:cNvSpPr/>
          <p:nvPr/>
        </p:nvSpPr>
        <p:spPr>
          <a:xfrm>
            <a:off x="2231136"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30" name="Shape 28"/>
          <p:cNvSpPr/>
          <p:nvPr/>
        </p:nvSpPr>
        <p:spPr>
          <a:xfrm>
            <a:off x="2761488" y="1115568"/>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31" name="Text 29"/>
          <p:cNvSpPr/>
          <p:nvPr/>
        </p:nvSpPr>
        <p:spPr>
          <a:xfrm>
            <a:off x="2761488"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6%</a:t>
            </a:r>
            <a:endParaRPr lang="en-US" sz="800" dirty="0"/>
          </a:p>
        </p:txBody>
      </p:sp>
      <p:sp>
        <p:nvSpPr>
          <p:cNvPr id="32" name="Shape 30"/>
          <p:cNvSpPr/>
          <p:nvPr/>
        </p:nvSpPr>
        <p:spPr>
          <a:xfrm>
            <a:off x="3291840" y="1115568"/>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33" name="Text 31"/>
          <p:cNvSpPr/>
          <p:nvPr/>
        </p:nvSpPr>
        <p:spPr>
          <a:xfrm>
            <a:off x="3291840"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34" name="Shape 32"/>
          <p:cNvSpPr/>
          <p:nvPr/>
        </p:nvSpPr>
        <p:spPr>
          <a:xfrm>
            <a:off x="3822192" y="1115568"/>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35" name="Text 33"/>
          <p:cNvSpPr/>
          <p:nvPr/>
        </p:nvSpPr>
        <p:spPr>
          <a:xfrm>
            <a:off x="3822192" y="111556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6%</a:t>
            </a:r>
            <a:endParaRPr lang="en-US" sz="800" dirty="0"/>
          </a:p>
        </p:txBody>
      </p:sp>
      <p:sp>
        <p:nvSpPr>
          <p:cNvPr id="36" name="Shape 34"/>
          <p:cNvSpPr/>
          <p:nvPr/>
        </p:nvSpPr>
        <p:spPr>
          <a:xfrm>
            <a:off x="640080" y="1645920"/>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37" name="Text 35"/>
          <p:cNvSpPr/>
          <p:nvPr/>
        </p:nvSpPr>
        <p:spPr>
          <a:xfrm>
            <a:off x="640080"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6%</a:t>
            </a:r>
            <a:endParaRPr lang="en-US" sz="800" dirty="0"/>
          </a:p>
        </p:txBody>
      </p:sp>
      <p:sp>
        <p:nvSpPr>
          <p:cNvPr id="38" name="Shape 36"/>
          <p:cNvSpPr/>
          <p:nvPr/>
        </p:nvSpPr>
        <p:spPr>
          <a:xfrm>
            <a:off x="1170432" y="1645920"/>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39" name="Text 37"/>
          <p:cNvSpPr/>
          <p:nvPr/>
        </p:nvSpPr>
        <p:spPr>
          <a:xfrm>
            <a:off x="1170432" y="1645920"/>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62%</a:t>
            </a:r>
            <a:endParaRPr lang="en-US" sz="950" dirty="0"/>
          </a:p>
        </p:txBody>
      </p:sp>
      <p:sp>
        <p:nvSpPr>
          <p:cNvPr id="40" name="Shape 38"/>
          <p:cNvSpPr/>
          <p:nvPr/>
        </p:nvSpPr>
        <p:spPr>
          <a:xfrm>
            <a:off x="1700784" y="164592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41" name="Text 39"/>
          <p:cNvSpPr/>
          <p:nvPr/>
        </p:nvSpPr>
        <p:spPr>
          <a:xfrm>
            <a:off x="1700784"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42" name="Shape 40"/>
          <p:cNvSpPr/>
          <p:nvPr/>
        </p:nvSpPr>
        <p:spPr>
          <a:xfrm>
            <a:off x="2231136" y="164592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43" name="Text 41"/>
          <p:cNvSpPr/>
          <p:nvPr/>
        </p:nvSpPr>
        <p:spPr>
          <a:xfrm>
            <a:off x="2231136"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44" name="Shape 42"/>
          <p:cNvSpPr/>
          <p:nvPr/>
        </p:nvSpPr>
        <p:spPr>
          <a:xfrm>
            <a:off x="2761488" y="1645920"/>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45" name="Text 43"/>
          <p:cNvSpPr/>
          <p:nvPr/>
        </p:nvSpPr>
        <p:spPr>
          <a:xfrm>
            <a:off x="2761488"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8%</a:t>
            </a:r>
            <a:endParaRPr lang="en-US" sz="800" dirty="0"/>
          </a:p>
        </p:txBody>
      </p:sp>
      <p:sp>
        <p:nvSpPr>
          <p:cNvPr id="46" name="Shape 44"/>
          <p:cNvSpPr/>
          <p:nvPr/>
        </p:nvSpPr>
        <p:spPr>
          <a:xfrm>
            <a:off x="3291840" y="164592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47" name="Text 45"/>
          <p:cNvSpPr/>
          <p:nvPr/>
        </p:nvSpPr>
        <p:spPr>
          <a:xfrm>
            <a:off x="3291840"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48" name="Shape 46"/>
          <p:cNvSpPr/>
          <p:nvPr/>
        </p:nvSpPr>
        <p:spPr>
          <a:xfrm>
            <a:off x="3822192" y="1645920"/>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49" name="Text 47"/>
          <p:cNvSpPr/>
          <p:nvPr/>
        </p:nvSpPr>
        <p:spPr>
          <a:xfrm>
            <a:off x="3822192" y="164592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10%</a:t>
            </a:r>
            <a:endParaRPr lang="en-US" sz="800" dirty="0"/>
          </a:p>
        </p:txBody>
      </p:sp>
      <p:sp>
        <p:nvSpPr>
          <p:cNvPr id="50" name="Shape 48"/>
          <p:cNvSpPr/>
          <p:nvPr/>
        </p:nvSpPr>
        <p:spPr>
          <a:xfrm>
            <a:off x="640080" y="2176272"/>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51" name="Text 49"/>
          <p:cNvSpPr/>
          <p:nvPr/>
        </p:nvSpPr>
        <p:spPr>
          <a:xfrm>
            <a:off x="640080"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52" name="Shape 50"/>
          <p:cNvSpPr/>
          <p:nvPr/>
        </p:nvSpPr>
        <p:spPr>
          <a:xfrm>
            <a:off x="1170432" y="2176272"/>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53" name="Text 51"/>
          <p:cNvSpPr/>
          <p:nvPr/>
        </p:nvSpPr>
        <p:spPr>
          <a:xfrm>
            <a:off x="1170432"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54" name="Shape 52"/>
          <p:cNvSpPr/>
          <p:nvPr/>
        </p:nvSpPr>
        <p:spPr>
          <a:xfrm>
            <a:off x="1700784" y="2176272"/>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55" name="Text 53"/>
          <p:cNvSpPr/>
          <p:nvPr/>
        </p:nvSpPr>
        <p:spPr>
          <a:xfrm>
            <a:off x="1700784" y="2176272"/>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68%</a:t>
            </a:r>
            <a:endParaRPr lang="en-US" sz="950" dirty="0"/>
          </a:p>
        </p:txBody>
      </p:sp>
      <p:sp>
        <p:nvSpPr>
          <p:cNvPr id="56" name="Shape 54"/>
          <p:cNvSpPr/>
          <p:nvPr/>
        </p:nvSpPr>
        <p:spPr>
          <a:xfrm>
            <a:off x="2231136" y="2176272"/>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57" name="Text 55"/>
          <p:cNvSpPr/>
          <p:nvPr/>
        </p:nvSpPr>
        <p:spPr>
          <a:xfrm>
            <a:off x="2231136"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58" name="Shape 56"/>
          <p:cNvSpPr/>
          <p:nvPr/>
        </p:nvSpPr>
        <p:spPr>
          <a:xfrm>
            <a:off x="2761488" y="2176272"/>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59" name="Text 57"/>
          <p:cNvSpPr/>
          <p:nvPr/>
        </p:nvSpPr>
        <p:spPr>
          <a:xfrm>
            <a:off x="2761488"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8%</a:t>
            </a:r>
            <a:endParaRPr lang="en-US" sz="800" dirty="0"/>
          </a:p>
        </p:txBody>
      </p:sp>
      <p:sp>
        <p:nvSpPr>
          <p:cNvPr id="60" name="Shape 58"/>
          <p:cNvSpPr/>
          <p:nvPr/>
        </p:nvSpPr>
        <p:spPr>
          <a:xfrm>
            <a:off x="3291840" y="2176272"/>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61" name="Text 59"/>
          <p:cNvSpPr/>
          <p:nvPr/>
        </p:nvSpPr>
        <p:spPr>
          <a:xfrm>
            <a:off x="3291840"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7%</a:t>
            </a:r>
            <a:endParaRPr lang="en-US" sz="800" dirty="0"/>
          </a:p>
        </p:txBody>
      </p:sp>
      <p:sp>
        <p:nvSpPr>
          <p:cNvPr id="62" name="Shape 60"/>
          <p:cNvSpPr/>
          <p:nvPr/>
        </p:nvSpPr>
        <p:spPr>
          <a:xfrm>
            <a:off x="3822192" y="2176272"/>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63" name="Text 61"/>
          <p:cNvSpPr/>
          <p:nvPr/>
        </p:nvSpPr>
        <p:spPr>
          <a:xfrm>
            <a:off x="3822192" y="2176272"/>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64" name="Shape 62"/>
          <p:cNvSpPr/>
          <p:nvPr/>
        </p:nvSpPr>
        <p:spPr>
          <a:xfrm>
            <a:off x="640080"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65" name="Text 63"/>
          <p:cNvSpPr/>
          <p:nvPr/>
        </p:nvSpPr>
        <p:spPr>
          <a:xfrm>
            <a:off x="640080"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66" name="Shape 64"/>
          <p:cNvSpPr/>
          <p:nvPr/>
        </p:nvSpPr>
        <p:spPr>
          <a:xfrm>
            <a:off x="1170432"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67" name="Text 65"/>
          <p:cNvSpPr/>
          <p:nvPr/>
        </p:nvSpPr>
        <p:spPr>
          <a:xfrm>
            <a:off x="1170432"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1%</a:t>
            </a:r>
            <a:endParaRPr lang="en-US" sz="800" dirty="0"/>
          </a:p>
        </p:txBody>
      </p:sp>
      <p:sp>
        <p:nvSpPr>
          <p:cNvPr id="68" name="Shape 66"/>
          <p:cNvSpPr/>
          <p:nvPr/>
        </p:nvSpPr>
        <p:spPr>
          <a:xfrm>
            <a:off x="1700784"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69" name="Text 67"/>
          <p:cNvSpPr/>
          <p:nvPr/>
        </p:nvSpPr>
        <p:spPr>
          <a:xfrm>
            <a:off x="1700784"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70" name="Shape 68"/>
          <p:cNvSpPr/>
          <p:nvPr/>
        </p:nvSpPr>
        <p:spPr>
          <a:xfrm>
            <a:off x="2231136" y="2706624"/>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71" name="Text 69"/>
          <p:cNvSpPr/>
          <p:nvPr/>
        </p:nvSpPr>
        <p:spPr>
          <a:xfrm>
            <a:off x="2231136" y="2706624"/>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91%</a:t>
            </a:r>
            <a:endParaRPr lang="en-US" sz="950" dirty="0"/>
          </a:p>
        </p:txBody>
      </p:sp>
      <p:sp>
        <p:nvSpPr>
          <p:cNvPr id="72" name="Shape 70"/>
          <p:cNvSpPr/>
          <p:nvPr/>
        </p:nvSpPr>
        <p:spPr>
          <a:xfrm>
            <a:off x="2761488"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73" name="Text 71"/>
          <p:cNvSpPr/>
          <p:nvPr/>
        </p:nvSpPr>
        <p:spPr>
          <a:xfrm>
            <a:off x="2761488"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1%</a:t>
            </a:r>
            <a:endParaRPr lang="en-US" sz="800" dirty="0"/>
          </a:p>
        </p:txBody>
      </p:sp>
      <p:sp>
        <p:nvSpPr>
          <p:cNvPr id="74" name="Shape 72"/>
          <p:cNvSpPr/>
          <p:nvPr/>
        </p:nvSpPr>
        <p:spPr>
          <a:xfrm>
            <a:off x="3291840"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75" name="Text 73"/>
          <p:cNvSpPr/>
          <p:nvPr/>
        </p:nvSpPr>
        <p:spPr>
          <a:xfrm>
            <a:off x="3291840"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76" name="Shape 74"/>
          <p:cNvSpPr/>
          <p:nvPr/>
        </p:nvSpPr>
        <p:spPr>
          <a:xfrm>
            <a:off x="3822192" y="2706624"/>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77" name="Text 75"/>
          <p:cNvSpPr/>
          <p:nvPr/>
        </p:nvSpPr>
        <p:spPr>
          <a:xfrm>
            <a:off x="3822192" y="2706624"/>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1%</a:t>
            </a:r>
            <a:endParaRPr lang="en-US" sz="800" dirty="0"/>
          </a:p>
        </p:txBody>
      </p:sp>
      <p:sp>
        <p:nvSpPr>
          <p:cNvPr id="78" name="Shape 76"/>
          <p:cNvSpPr/>
          <p:nvPr/>
        </p:nvSpPr>
        <p:spPr>
          <a:xfrm>
            <a:off x="640080" y="3236976"/>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79" name="Text 77"/>
          <p:cNvSpPr/>
          <p:nvPr/>
        </p:nvSpPr>
        <p:spPr>
          <a:xfrm>
            <a:off x="640080"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80" name="Shape 78"/>
          <p:cNvSpPr/>
          <p:nvPr/>
        </p:nvSpPr>
        <p:spPr>
          <a:xfrm>
            <a:off x="1170432" y="3236976"/>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81" name="Text 79"/>
          <p:cNvSpPr/>
          <p:nvPr/>
        </p:nvSpPr>
        <p:spPr>
          <a:xfrm>
            <a:off x="1170432"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82" name="Shape 80"/>
          <p:cNvSpPr/>
          <p:nvPr/>
        </p:nvSpPr>
        <p:spPr>
          <a:xfrm>
            <a:off x="1700784" y="3236976"/>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83" name="Text 81"/>
          <p:cNvSpPr/>
          <p:nvPr/>
        </p:nvSpPr>
        <p:spPr>
          <a:xfrm>
            <a:off x="1700784"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7%</a:t>
            </a:r>
            <a:endParaRPr lang="en-US" sz="800" dirty="0"/>
          </a:p>
        </p:txBody>
      </p:sp>
      <p:sp>
        <p:nvSpPr>
          <p:cNvPr id="84" name="Shape 82"/>
          <p:cNvSpPr/>
          <p:nvPr/>
        </p:nvSpPr>
        <p:spPr>
          <a:xfrm>
            <a:off x="2231136" y="3236976"/>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85" name="Text 83"/>
          <p:cNvSpPr/>
          <p:nvPr/>
        </p:nvSpPr>
        <p:spPr>
          <a:xfrm>
            <a:off x="2231136"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86" name="Shape 84"/>
          <p:cNvSpPr/>
          <p:nvPr/>
        </p:nvSpPr>
        <p:spPr>
          <a:xfrm>
            <a:off x="2761488" y="3236976"/>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87" name="Text 85"/>
          <p:cNvSpPr/>
          <p:nvPr/>
        </p:nvSpPr>
        <p:spPr>
          <a:xfrm>
            <a:off x="2761488" y="3236976"/>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75%</a:t>
            </a:r>
            <a:endParaRPr lang="en-US" sz="950" dirty="0"/>
          </a:p>
        </p:txBody>
      </p:sp>
      <p:sp>
        <p:nvSpPr>
          <p:cNvPr id="88" name="Shape 86"/>
          <p:cNvSpPr/>
          <p:nvPr/>
        </p:nvSpPr>
        <p:spPr>
          <a:xfrm>
            <a:off x="3291840" y="3236976"/>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89" name="Text 87"/>
          <p:cNvSpPr/>
          <p:nvPr/>
        </p:nvSpPr>
        <p:spPr>
          <a:xfrm>
            <a:off x="3291840"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90" name="Shape 88"/>
          <p:cNvSpPr/>
          <p:nvPr/>
        </p:nvSpPr>
        <p:spPr>
          <a:xfrm>
            <a:off x="3822192" y="3236976"/>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91" name="Text 89"/>
          <p:cNvSpPr/>
          <p:nvPr/>
        </p:nvSpPr>
        <p:spPr>
          <a:xfrm>
            <a:off x="3822192" y="3236976"/>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92" name="Shape 90"/>
          <p:cNvSpPr/>
          <p:nvPr/>
        </p:nvSpPr>
        <p:spPr>
          <a:xfrm>
            <a:off x="640080" y="3767328"/>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93" name="Text 91"/>
          <p:cNvSpPr/>
          <p:nvPr/>
        </p:nvSpPr>
        <p:spPr>
          <a:xfrm>
            <a:off x="640080"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94" name="Shape 92"/>
          <p:cNvSpPr/>
          <p:nvPr/>
        </p:nvSpPr>
        <p:spPr>
          <a:xfrm>
            <a:off x="1170432" y="3767328"/>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95" name="Text 93"/>
          <p:cNvSpPr/>
          <p:nvPr/>
        </p:nvSpPr>
        <p:spPr>
          <a:xfrm>
            <a:off x="1170432"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96" name="Shape 94"/>
          <p:cNvSpPr/>
          <p:nvPr/>
        </p:nvSpPr>
        <p:spPr>
          <a:xfrm>
            <a:off x="1700784" y="3767328"/>
            <a:ext cx="493776" cy="493776"/>
          </a:xfrm>
          <a:prstGeom prst="rect">
            <a:avLst/>
          </a:prstGeom>
          <a:solidFill>
            <a:srgbClr val="1565C0">
              <a:alpha val="60000"/>
            </a:srgbClr>
          </a:solidFill>
          <a:ln w="6350">
            <a:solidFill>
              <a:srgbClr val="0A1020"/>
            </a:solidFill>
            <a:prstDash val="solid"/>
          </a:ln>
        </p:spPr>
        <p:txBody>
          <a:bodyPr/>
          <a:lstStyle/>
          <a:p>
            <a:endParaRPr lang="en-US"/>
          </a:p>
        </p:txBody>
      </p:sp>
      <p:sp>
        <p:nvSpPr>
          <p:cNvPr id="97" name="Text 95"/>
          <p:cNvSpPr/>
          <p:nvPr/>
        </p:nvSpPr>
        <p:spPr>
          <a:xfrm>
            <a:off x="1700784"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8%</a:t>
            </a:r>
            <a:endParaRPr lang="en-US" sz="800" dirty="0"/>
          </a:p>
        </p:txBody>
      </p:sp>
      <p:sp>
        <p:nvSpPr>
          <p:cNvPr id="98" name="Shape 96"/>
          <p:cNvSpPr/>
          <p:nvPr/>
        </p:nvSpPr>
        <p:spPr>
          <a:xfrm>
            <a:off x="2231136" y="3767328"/>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99" name="Text 97"/>
          <p:cNvSpPr/>
          <p:nvPr/>
        </p:nvSpPr>
        <p:spPr>
          <a:xfrm>
            <a:off x="2231136"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100" name="Shape 98"/>
          <p:cNvSpPr/>
          <p:nvPr/>
        </p:nvSpPr>
        <p:spPr>
          <a:xfrm>
            <a:off x="2761488" y="3767328"/>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01" name="Text 99"/>
          <p:cNvSpPr/>
          <p:nvPr/>
        </p:nvSpPr>
        <p:spPr>
          <a:xfrm>
            <a:off x="2761488"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102" name="Shape 100"/>
          <p:cNvSpPr/>
          <p:nvPr/>
        </p:nvSpPr>
        <p:spPr>
          <a:xfrm>
            <a:off x="3291840" y="3767328"/>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103" name="Text 101"/>
          <p:cNvSpPr/>
          <p:nvPr/>
        </p:nvSpPr>
        <p:spPr>
          <a:xfrm>
            <a:off x="3291840" y="3767328"/>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78%</a:t>
            </a:r>
            <a:endParaRPr lang="en-US" sz="950" dirty="0"/>
          </a:p>
        </p:txBody>
      </p:sp>
      <p:sp>
        <p:nvSpPr>
          <p:cNvPr id="104" name="Shape 102"/>
          <p:cNvSpPr/>
          <p:nvPr/>
        </p:nvSpPr>
        <p:spPr>
          <a:xfrm>
            <a:off x="3822192" y="3767328"/>
            <a:ext cx="493776" cy="493776"/>
          </a:xfrm>
          <a:prstGeom prst="rect">
            <a:avLst/>
          </a:prstGeom>
          <a:solidFill>
            <a:srgbClr val="1E3A5F">
              <a:alpha val="20000"/>
            </a:srgbClr>
          </a:solidFill>
          <a:ln w="6350">
            <a:solidFill>
              <a:srgbClr val="0A1020"/>
            </a:solidFill>
            <a:prstDash val="solid"/>
          </a:ln>
        </p:spPr>
        <p:txBody>
          <a:bodyPr/>
          <a:lstStyle/>
          <a:p>
            <a:endParaRPr lang="en-US"/>
          </a:p>
        </p:txBody>
      </p:sp>
      <p:sp>
        <p:nvSpPr>
          <p:cNvPr id="105" name="Text 103"/>
          <p:cNvSpPr/>
          <p:nvPr/>
        </p:nvSpPr>
        <p:spPr>
          <a:xfrm>
            <a:off x="3822192" y="3767328"/>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2%</a:t>
            </a:r>
            <a:endParaRPr lang="en-US" sz="800" dirty="0"/>
          </a:p>
        </p:txBody>
      </p:sp>
      <p:sp>
        <p:nvSpPr>
          <p:cNvPr id="106" name="Shape 104"/>
          <p:cNvSpPr/>
          <p:nvPr/>
        </p:nvSpPr>
        <p:spPr>
          <a:xfrm>
            <a:off x="640080"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07" name="Text 105"/>
          <p:cNvSpPr/>
          <p:nvPr/>
        </p:nvSpPr>
        <p:spPr>
          <a:xfrm>
            <a:off x="640080"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108" name="Shape 106"/>
          <p:cNvSpPr/>
          <p:nvPr/>
        </p:nvSpPr>
        <p:spPr>
          <a:xfrm>
            <a:off x="1170432"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09" name="Text 107"/>
          <p:cNvSpPr/>
          <p:nvPr/>
        </p:nvSpPr>
        <p:spPr>
          <a:xfrm>
            <a:off x="1170432"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110" name="Shape 108"/>
          <p:cNvSpPr/>
          <p:nvPr/>
        </p:nvSpPr>
        <p:spPr>
          <a:xfrm>
            <a:off x="1700784"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11" name="Text 109"/>
          <p:cNvSpPr/>
          <p:nvPr/>
        </p:nvSpPr>
        <p:spPr>
          <a:xfrm>
            <a:off x="1700784"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4%</a:t>
            </a:r>
            <a:endParaRPr lang="en-US" sz="800" dirty="0"/>
          </a:p>
        </p:txBody>
      </p:sp>
      <p:sp>
        <p:nvSpPr>
          <p:cNvPr id="112" name="Shape 110"/>
          <p:cNvSpPr/>
          <p:nvPr/>
        </p:nvSpPr>
        <p:spPr>
          <a:xfrm>
            <a:off x="2231136"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13" name="Text 111"/>
          <p:cNvSpPr/>
          <p:nvPr/>
        </p:nvSpPr>
        <p:spPr>
          <a:xfrm>
            <a:off x="2231136"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114" name="Shape 112"/>
          <p:cNvSpPr/>
          <p:nvPr/>
        </p:nvSpPr>
        <p:spPr>
          <a:xfrm>
            <a:off x="2761488"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15" name="Text 113"/>
          <p:cNvSpPr/>
          <p:nvPr/>
        </p:nvSpPr>
        <p:spPr>
          <a:xfrm>
            <a:off x="2761488"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5%</a:t>
            </a:r>
            <a:endParaRPr lang="en-US" sz="800" dirty="0"/>
          </a:p>
        </p:txBody>
      </p:sp>
      <p:sp>
        <p:nvSpPr>
          <p:cNvPr id="116" name="Shape 114"/>
          <p:cNvSpPr/>
          <p:nvPr/>
        </p:nvSpPr>
        <p:spPr>
          <a:xfrm>
            <a:off x="3291840" y="4297680"/>
            <a:ext cx="493776" cy="493776"/>
          </a:xfrm>
          <a:prstGeom prst="rect">
            <a:avLst/>
          </a:prstGeom>
          <a:solidFill>
            <a:srgbClr val="1E3A5F">
              <a:alpha val="60000"/>
            </a:srgbClr>
          </a:solidFill>
          <a:ln w="6350">
            <a:solidFill>
              <a:srgbClr val="0A1020"/>
            </a:solidFill>
            <a:prstDash val="solid"/>
          </a:ln>
        </p:spPr>
        <p:txBody>
          <a:bodyPr/>
          <a:lstStyle/>
          <a:p>
            <a:endParaRPr lang="en-US"/>
          </a:p>
        </p:txBody>
      </p:sp>
      <p:sp>
        <p:nvSpPr>
          <p:cNvPr id="117" name="Text 115"/>
          <p:cNvSpPr/>
          <p:nvPr/>
        </p:nvSpPr>
        <p:spPr>
          <a:xfrm>
            <a:off x="3291840" y="4297680"/>
            <a:ext cx="493776" cy="493776"/>
          </a:xfrm>
          <a:prstGeom prst="rect">
            <a:avLst/>
          </a:prstGeom>
          <a:noFill/>
          <a:ln/>
        </p:spPr>
        <p:txBody>
          <a:bodyPr wrap="square" rtlCol="0" anchor="ctr"/>
          <a:lstStyle/>
          <a:p>
            <a:pPr marL="0" indent="0" algn="ctr">
              <a:buNone/>
            </a:pPr>
            <a:r>
              <a:rPr lang="en-US" sz="800" dirty="0">
                <a:solidFill>
                  <a:srgbClr val="90A4AE"/>
                </a:solidFill>
                <a:latin typeface="Calibri" pitchFamily="34" charset="0"/>
                <a:ea typeface="Calibri" pitchFamily="34" charset="-122"/>
                <a:cs typeface="Calibri" pitchFamily="34" charset="-120"/>
              </a:rPr>
              <a:t>3%</a:t>
            </a:r>
            <a:endParaRPr lang="en-US" sz="800" dirty="0"/>
          </a:p>
        </p:txBody>
      </p:sp>
      <p:sp>
        <p:nvSpPr>
          <p:cNvPr id="118" name="Shape 116"/>
          <p:cNvSpPr/>
          <p:nvPr/>
        </p:nvSpPr>
        <p:spPr>
          <a:xfrm>
            <a:off x="3822192" y="4297680"/>
            <a:ext cx="493776" cy="493776"/>
          </a:xfrm>
          <a:prstGeom prst="rect">
            <a:avLst/>
          </a:prstGeom>
          <a:solidFill>
            <a:srgbClr val="00C853">
              <a:alpha val="80000"/>
            </a:srgbClr>
          </a:solidFill>
          <a:ln w="6350">
            <a:solidFill>
              <a:srgbClr val="0A1020"/>
            </a:solidFill>
            <a:prstDash val="solid"/>
          </a:ln>
        </p:spPr>
        <p:txBody>
          <a:bodyPr/>
          <a:lstStyle/>
          <a:p>
            <a:endParaRPr lang="en-US"/>
          </a:p>
        </p:txBody>
      </p:sp>
      <p:sp>
        <p:nvSpPr>
          <p:cNvPr id="119" name="Text 117"/>
          <p:cNvSpPr/>
          <p:nvPr/>
        </p:nvSpPr>
        <p:spPr>
          <a:xfrm>
            <a:off x="3822192" y="4297680"/>
            <a:ext cx="493776" cy="493776"/>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78%</a:t>
            </a:r>
            <a:endParaRPr lang="en-US" sz="950" dirty="0"/>
          </a:p>
        </p:txBody>
      </p:sp>
      <p:sp>
        <p:nvSpPr>
          <p:cNvPr id="120" name="Text 118"/>
          <p:cNvSpPr/>
          <p:nvPr/>
        </p:nvSpPr>
        <p:spPr>
          <a:xfrm>
            <a:off x="4572000" y="804672"/>
            <a:ext cx="4297680" cy="256032"/>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Per-Class Metrics</a:t>
            </a:r>
            <a:endParaRPr lang="en-US" sz="1100" dirty="0"/>
          </a:p>
        </p:txBody>
      </p:sp>
      <p:graphicFrame>
        <p:nvGraphicFramePr>
          <p:cNvPr id="121" name="Chart 0"/>
          <p:cNvGraphicFramePr/>
          <p:nvPr/>
        </p:nvGraphicFramePr>
        <p:xfrm>
          <a:off x="4572000" y="1097280"/>
          <a:ext cx="42976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122" name="Text 119"/>
          <p:cNvSpPr/>
          <p:nvPr/>
        </p:nvSpPr>
        <p:spPr>
          <a:xfrm>
            <a:off x="4572000" y="3401568"/>
            <a:ext cx="4297680" cy="256032"/>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Inference Speed Comparison</a:t>
            </a:r>
            <a:endParaRPr lang="en-US" sz="1100" dirty="0"/>
          </a:p>
        </p:txBody>
      </p:sp>
      <p:graphicFrame>
        <p:nvGraphicFramePr>
          <p:cNvPr id="123" name="Chart 1"/>
          <p:cNvGraphicFramePr/>
          <p:nvPr/>
        </p:nvGraphicFramePr>
        <p:xfrm>
          <a:off x="4572000" y="3675888"/>
          <a:ext cx="4297680" cy="1371600"/>
        </p:xfrm>
        <a:graphic>
          <a:graphicData uri="http://schemas.openxmlformats.org/drawingml/2006/chart">
            <c:chart xmlns:c="http://schemas.openxmlformats.org/drawingml/2006/chart" xmlns:r="http://schemas.openxmlformats.org/officeDocument/2006/relationships" r:id="rId4"/>
          </a:graphicData>
        </a:graphic>
      </p:graphicFrame>
      <p:sp>
        <p:nvSpPr>
          <p:cNvPr id="124" name="Shape 120"/>
          <p:cNvSpPr/>
          <p:nvPr/>
        </p:nvSpPr>
        <p:spPr>
          <a:xfrm>
            <a:off x="320040" y="4645152"/>
            <a:ext cx="960120" cy="411480"/>
          </a:xfrm>
          <a:prstGeom prst="roundRect">
            <a:avLst>
              <a:gd name="adj" fmla="val 26667"/>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25" name="Text 121"/>
          <p:cNvSpPr/>
          <p:nvPr/>
        </p:nvSpPr>
        <p:spPr>
          <a:xfrm>
            <a:off x="320040" y="4645152"/>
            <a:ext cx="960120" cy="4114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Accuracy: 78%</a:t>
            </a:r>
            <a:endParaRPr lang="en-US" sz="900" dirty="0"/>
          </a:p>
        </p:txBody>
      </p:sp>
      <p:sp>
        <p:nvSpPr>
          <p:cNvPr id="126" name="Shape 122"/>
          <p:cNvSpPr/>
          <p:nvPr/>
        </p:nvSpPr>
        <p:spPr>
          <a:xfrm>
            <a:off x="1371600" y="4645152"/>
            <a:ext cx="960120" cy="411480"/>
          </a:xfrm>
          <a:prstGeom prst="roundRect">
            <a:avLst>
              <a:gd name="adj" fmla="val 26667"/>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27" name="Text 123"/>
          <p:cNvSpPr/>
          <p:nvPr/>
        </p:nvSpPr>
        <p:spPr>
          <a:xfrm>
            <a:off x="1371600" y="4645152"/>
            <a:ext cx="960120" cy="411480"/>
          </a:xfrm>
          <a:prstGeom prst="rect">
            <a:avLst/>
          </a:prstGeom>
          <a:noFill/>
          <a:ln/>
        </p:spPr>
        <p:txBody>
          <a:bodyPr wrap="square" rtlCol="0" anchor="ctr"/>
          <a:lstStyle/>
          <a:p>
            <a:pPr marL="0" indent="0" algn="ctr">
              <a:buNone/>
            </a:pPr>
            <a:r>
              <a:rPr lang="en-US" sz="900" b="1" dirty="0">
                <a:solidFill>
                  <a:srgbClr val="00BCD4"/>
                </a:solidFill>
                <a:latin typeface="Calibri" pitchFamily="34" charset="0"/>
                <a:ea typeface="Calibri" pitchFamily="34" charset="-122"/>
                <a:cs typeface="Calibri" pitchFamily="34" charset="-120"/>
              </a:rPr>
              <a:t>F1-Score: 0.76</a:t>
            </a:r>
            <a:endParaRPr lang="en-US" sz="900" dirty="0"/>
          </a:p>
        </p:txBody>
      </p:sp>
      <p:sp>
        <p:nvSpPr>
          <p:cNvPr id="128" name="Shape 124"/>
          <p:cNvSpPr/>
          <p:nvPr/>
        </p:nvSpPr>
        <p:spPr>
          <a:xfrm>
            <a:off x="2423160" y="4645152"/>
            <a:ext cx="960120" cy="411480"/>
          </a:xfrm>
          <a:prstGeom prst="roundRect">
            <a:avLst>
              <a:gd name="adj" fmla="val 26667"/>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29" name="Text 125"/>
          <p:cNvSpPr/>
          <p:nvPr/>
        </p:nvSpPr>
        <p:spPr>
          <a:xfrm>
            <a:off x="2423160" y="4645152"/>
            <a:ext cx="960120" cy="411480"/>
          </a:xfrm>
          <a:prstGeom prst="rect">
            <a:avLst/>
          </a:prstGeom>
          <a:noFill/>
          <a:ln/>
        </p:spPr>
        <p:txBody>
          <a:bodyPr wrap="square" rtlCol="0" anchor="ctr"/>
          <a:lstStyle/>
          <a:p>
            <a:pPr marL="0" indent="0" algn="ctr">
              <a:buNone/>
            </a:pPr>
            <a:r>
              <a:rPr lang="en-US" sz="900" b="1" dirty="0">
                <a:solidFill>
                  <a:srgbClr val="7B1FA2"/>
                </a:solidFill>
                <a:latin typeface="Calibri" pitchFamily="34" charset="0"/>
                <a:ea typeface="Calibri" pitchFamily="34" charset="-122"/>
                <a:cs typeface="Calibri" pitchFamily="34" charset="-120"/>
              </a:rPr>
              <a:t>Precision: 0.78</a:t>
            </a:r>
            <a:endParaRPr lang="en-US" sz="900" dirty="0"/>
          </a:p>
        </p:txBody>
      </p:sp>
      <p:sp>
        <p:nvSpPr>
          <p:cNvPr id="130" name="Shape 126"/>
          <p:cNvSpPr/>
          <p:nvPr/>
        </p:nvSpPr>
        <p:spPr>
          <a:xfrm>
            <a:off x="3474720" y="4645152"/>
            <a:ext cx="960120" cy="411480"/>
          </a:xfrm>
          <a:prstGeom prst="roundRect">
            <a:avLst>
              <a:gd name="adj" fmla="val 26667"/>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31" name="Text 127"/>
          <p:cNvSpPr/>
          <p:nvPr/>
        </p:nvSpPr>
        <p:spPr>
          <a:xfrm>
            <a:off x="3474720" y="4645152"/>
            <a:ext cx="960120" cy="411480"/>
          </a:xfrm>
          <a:prstGeom prst="rect">
            <a:avLst/>
          </a:prstGeom>
          <a:noFill/>
          <a:ln/>
        </p:spPr>
        <p:txBody>
          <a:bodyPr wrap="square" rtlCol="0" anchor="ctr"/>
          <a:lstStyle/>
          <a:p>
            <a:pPr marL="0" indent="0" algn="ctr">
              <a:buNone/>
            </a:pPr>
            <a:r>
              <a:rPr lang="en-US" sz="900" b="1" dirty="0">
                <a:solidFill>
                  <a:srgbClr val="FFD54F"/>
                </a:solidFill>
                <a:latin typeface="Calibri" pitchFamily="34" charset="0"/>
                <a:ea typeface="Calibri" pitchFamily="34" charset="-122"/>
                <a:cs typeface="Calibri" pitchFamily="34" charset="-120"/>
              </a:rPr>
              <a:t>Recall: 0.77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A0E27"/>
        </a:solidFill>
        <a:effectLst/>
      </p:bgPr>
    </p:bg>
    <p:spTree>
      <p:nvGrpSpPr>
        <p:cNvPr id="1" name=""/>
        <p:cNvGrpSpPr/>
        <p:nvPr/>
      </p:nvGrpSpPr>
      <p:grpSpPr>
        <a:xfrm>
          <a:off x="0" y="0"/>
          <a:ext cx="0" cy="0"/>
          <a:chOff x="0" y="0"/>
          <a:chExt cx="0" cy="0"/>
        </a:xfrm>
      </p:grpSpPr>
      <p:sp>
        <p:nvSpPr>
          <p:cNvPr id="3" name="Shape 1"/>
          <p:cNvSpPr/>
          <p:nvPr/>
        </p:nvSpPr>
        <p:spPr>
          <a:xfrm>
            <a:off x="7315200" y="3200400"/>
            <a:ext cx="3200400" cy="3200400"/>
          </a:xfrm>
          <a:prstGeom prst="ellipse">
            <a:avLst/>
          </a:prstGeom>
          <a:solidFill>
            <a:srgbClr val="7B1FA2">
              <a:alpha val="20000"/>
            </a:srgbClr>
          </a:solidFill>
          <a:ln w="12700">
            <a:solidFill>
              <a:srgbClr val="7B1FA2">
                <a:alpha val="0"/>
              </a:srgbClr>
            </a:solidFill>
            <a:prstDash val="solid"/>
          </a:ln>
        </p:spPr>
        <p:txBody>
          <a:bodyPr/>
          <a:lstStyle/>
          <a:p>
            <a:endParaRPr lang="en-US"/>
          </a:p>
        </p:txBody>
      </p:sp>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System </a:t>
            </a:r>
            <a:r>
              <a:rPr lang="en-US" sz="2800" b="1" dirty="0">
                <a:solidFill>
                  <a:srgbClr val="FFFFFF"/>
                </a:solidFill>
                <a:latin typeface="Sitka Display Semibold" pitchFamily="2" charset="0"/>
                <a:ea typeface="Trebuchet MS" pitchFamily="34" charset="-122"/>
                <a:cs typeface="Trebuchet MS" pitchFamily="34" charset="-120"/>
              </a:rPr>
              <a:t>Advantages</a:t>
            </a:r>
            <a:endParaRPr lang="en-US" sz="2800" dirty="0">
              <a:latin typeface="Sitka Display Semibold" pitchFamily="2" charset="0"/>
            </a:endParaRPr>
          </a:p>
        </p:txBody>
      </p:sp>
      <p:sp>
        <p:nvSpPr>
          <p:cNvPr id="5" name="Shape 3"/>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6" name="Shape 4"/>
          <p:cNvSpPr/>
          <p:nvPr/>
        </p:nvSpPr>
        <p:spPr>
          <a:xfrm>
            <a:off x="320040" y="86868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320040" y="868680"/>
            <a:ext cx="2697480" cy="64008"/>
          </a:xfrm>
          <a:prstGeom prst="rect">
            <a:avLst/>
          </a:prstGeom>
          <a:solidFill>
            <a:srgbClr val="00BCD4"/>
          </a:solidFill>
          <a:ln w="12700">
            <a:solidFill>
              <a:srgbClr val="00BCD4">
                <a:alpha val="0"/>
              </a:srgbClr>
            </a:solidFill>
            <a:prstDash val="solid"/>
          </a:ln>
        </p:spPr>
        <p:txBody>
          <a:bodyPr/>
          <a:lstStyle/>
          <a:p>
            <a:endParaRPr lang="en-US"/>
          </a:p>
        </p:txBody>
      </p:sp>
      <p:sp>
        <p:nvSpPr>
          <p:cNvPr id="8" name="Text 6"/>
          <p:cNvSpPr/>
          <p:nvPr/>
        </p:nvSpPr>
        <p:spPr>
          <a:xfrm>
            <a:off x="411480" y="1005840"/>
            <a:ext cx="640080" cy="640080"/>
          </a:xfrm>
          <a:prstGeom prst="rect">
            <a:avLst/>
          </a:prstGeom>
          <a:noFill/>
          <a:ln/>
        </p:spPr>
        <p:txBody>
          <a:bodyPr wrap="square" rtlCol="0" anchor="ctr"/>
          <a:lstStyle/>
          <a:p>
            <a:pPr marL="0" indent="0" algn="ctr">
              <a:buNone/>
            </a:pPr>
            <a:endParaRPr lang="en-US" sz="2800" dirty="0"/>
          </a:p>
        </p:txBody>
      </p:sp>
      <p:sp>
        <p:nvSpPr>
          <p:cNvPr id="9" name="Text 7"/>
          <p:cNvSpPr/>
          <p:nvPr/>
        </p:nvSpPr>
        <p:spPr>
          <a:xfrm>
            <a:off x="1051560" y="1005840"/>
            <a:ext cx="1874520" cy="411480"/>
          </a:xfrm>
          <a:prstGeom prst="rect">
            <a:avLst/>
          </a:prstGeom>
          <a:noFill/>
          <a:ln/>
        </p:spPr>
        <p:txBody>
          <a:bodyPr wrap="square" rtlCol="0" anchor="ctr"/>
          <a:lstStyle/>
          <a:p>
            <a:pPr marL="0" indent="0">
              <a:buNone/>
            </a:pPr>
            <a:r>
              <a:rPr lang="en-US" sz="2200" b="1" dirty="0">
                <a:solidFill>
                  <a:srgbClr val="00BCD4"/>
                </a:solidFill>
                <a:latin typeface="Trebuchet MS" pitchFamily="34" charset="0"/>
                <a:ea typeface="Trebuchet MS" pitchFamily="34" charset="-122"/>
                <a:cs typeface="Trebuchet MS" pitchFamily="34" charset="-120"/>
              </a:rPr>
              <a:t>18ms</a:t>
            </a:r>
            <a:endParaRPr lang="en-US" sz="2200" dirty="0"/>
          </a:p>
        </p:txBody>
      </p:sp>
      <p:sp>
        <p:nvSpPr>
          <p:cNvPr id="10" name="Text 8"/>
          <p:cNvSpPr/>
          <p:nvPr/>
        </p:nvSpPr>
        <p:spPr>
          <a:xfrm>
            <a:off x="1051560" y="139903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Real-Time Speed</a:t>
            </a:r>
            <a:endParaRPr lang="en-US" sz="1000" dirty="0"/>
          </a:p>
        </p:txBody>
      </p:sp>
      <p:sp>
        <p:nvSpPr>
          <p:cNvPr id="11" name="Shape 9"/>
          <p:cNvSpPr/>
          <p:nvPr/>
        </p:nvSpPr>
        <p:spPr>
          <a:xfrm>
            <a:off x="411480" y="1719072"/>
            <a:ext cx="24688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12" name="Text 10"/>
          <p:cNvSpPr/>
          <p:nvPr/>
        </p:nvSpPr>
        <p:spPr>
          <a:xfrm>
            <a:off x="411480" y="176479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Ultra-fast inference at 18 milliseconds per face — suitable for live video streams at 30+ FPS</a:t>
            </a:r>
            <a:endParaRPr lang="en-US" sz="1100" dirty="0"/>
          </a:p>
        </p:txBody>
      </p:sp>
      <p:sp>
        <p:nvSpPr>
          <p:cNvPr id="13" name="Shape 11"/>
          <p:cNvSpPr/>
          <p:nvPr/>
        </p:nvSpPr>
        <p:spPr>
          <a:xfrm>
            <a:off x="3200400" y="86868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3200400" y="868680"/>
            <a:ext cx="2697480" cy="64008"/>
          </a:xfrm>
          <a:prstGeom prst="rect">
            <a:avLst/>
          </a:prstGeom>
          <a:solidFill>
            <a:srgbClr val="00C853"/>
          </a:solidFill>
          <a:ln w="12700">
            <a:solidFill>
              <a:srgbClr val="00C853">
                <a:alpha val="0"/>
              </a:srgbClr>
            </a:solidFill>
            <a:prstDash val="solid"/>
          </a:ln>
        </p:spPr>
        <p:txBody>
          <a:bodyPr/>
          <a:lstStyle/>
          <a:p>
            <a:endParaRPr lang="en-US"/>
          </a:p>
        </p:txBody>
      </p:sp>
      <p:sp>
        <p:nvSpPr>
          <p:cNvPr id="15" name="Text 13"/>
          <p:cNvSpPr/>
          <p:nvPr/>
        </p:nvSpPr>
        <p:spPr>
          <a:xfrm>
            <a:off x="3291840" y="1005840"/>
            <a:ext cx="640080" cy="640080"/>
          </a:xfrm>
          <a:prstGeom prst="rect">
            <a:avLst/>
          </a:prstGeom>
          <a:noFill/>
          <a:ln/>
        </p:spPr>
        <p:txBody>
          <a:bodyPr wrap="square" rtlCol="0" anchor="ctr"/>
          <a:lstStyle/>
          <a:p>
            <a:pPr marL="0" indent="0" algn="ctr">
              <a:buNone/>
            </a:pPr>
            <a:endParaRPr lang="en-US" sz="2800" dirty="0"/>
          </a:p>
        </p:txBody>
      </p:sp>
      <p:sp>
        <p:nvSpPr>
          <p:cNvPr id="16" name="Text 14"/>
          <p:cNvSpPr/>
          <p:nvPr/>
        </p:nvSpPr>
        <p:spPr>
          <a:xfrm>
            <a:off x="3931920" y="1005840"/>
            <a:ext cx="1874520" cy="411480"/>
          </a:xfrm>
          <a:prstGeom prst="rect">
            <a:avLst/>
          </a:prstGeom>
          <a:noFill/>
          <a:ln/>
        </p:spPr>
        <p:txBody>
          <a:bodyPr wrap="square" rtlCol="0" anchor="ctr"/>
          <a:lstStyle/>
          <a:p>
            <a:pPr marL="0" indent="0">
              <a:buNone/>
            </a:pPr>
            <a:r>
              <a:rPr lang="en-US" sz="2200" b="1" dirty="0">
                <a:solidFill>
                  <a:srgbClr val="00C853"/>
                </a:solidFill>
                <a:latin typeface="Trebuchet MS" pitchFamily="34" charset="0"/>
                <a:ea typeface="Trebuchet MS" pitchFamily="34" charset="-122"/>
                <a:cs typeface="Trebuchet MS" pitchFamily="34" charset="-120"/>
              </a:rPr>
              <a:t>15MB</a:t>
            </a:r>
            <a:endParaRPr lang="en-US" sz="2200" dirty="0"/>
          </a:p>
        </p:txBody>
      </p:sp>
      <p:sp>
        <p:nvSpPr>
          <p:cNvPr id="17" name="Text 15"/>
          <p:cNvSpPr/>
          <p:nvPr/>
        </p:nvSpPr>
        <p:spPr>
          <a:xfrm>
            <a:off x="3931920" y="139903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Lightweight Model</a:t>
            </a:r>
            <a:endParaRPr lang="en-US" sz="1000" dirty="0"/>
          </a:p>
        </p:txBody>
      </p:sp>
      <p:sp>
        <p:nvSpPr>
          <p:cNvPr id="18" name="Shape 16"/>
          <p:cNvSpPr/>
          <p:nvPr/>
        </p:nvSpPr>
        <p:spPr>
          <a:xfrm>
            <a:off x="3291840" y="1719072"/>
            <a:ext cx="2468880" cy="27432"/>
          </a:xfrm>
          <a:prstGeom prst="rect">
            <a:avLst/>
          </a:prstGeom>
          <a:solidFill>
            <a:srgbClr val="00C853"/>
          </a:solidFill>
          <a:ln w="12700">
            <a:solidFill>
              <a:srgbClr val="00C853">
                <a:alpha val="0"/>
              </a:srgbClr>
            </a:solidFill>
            <a:prstDash val="solid"/>
          </a:ln>
        </p:spPr>
        <p:txBody>
          <a:bodyPr/>
          <a:lstStyle/>
          <a:p>
            <a:endParaRPr lang="en-US"/>
          </a:p>
        </p:txBody>
      </p:sp>
      <p:sp>
        <p:nvSpPr>
          <p:cNvPr id="19" name="Text 17"/>
          <p:cNvSpPr/>
          <p:nvPr/>
        </p:nvSpPr>
        <p:spPr>
          <a:xfrm>
            <a:off x="3291840" y="176479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Compact 15MB model size enables deployment on edge devices, Raspberry Pi, and low-memory systems</a:t>
            </a:r>
            <a:endParaRPr lang="en-US" sz="1100" dirty="0"/>
          </a:p>
        </p:txBody>
      </p:sp>
      <p:sp>
        <p:nvSpPr>
          <p:cNvPr id="20" name="Shape 18"/>
          <p:cNvSpPr/>
          <p:nvPr/>
        </p:nvSpPr>
        <p:spPr>
          <a:xfrm>
            <a:off x="6080760" y="86868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1" name="Shape 19"/>
          <p:cNvSpPr/>
          <p:nvPr/>
        </p:nvSpPr>
        <p:spPr>
          <a:xfrm>
            <a:off x="6080760" y="868680"/>
            <a:ext cx="2697480" cy="64008"/>
          </a:xfrm>
          <a:prstGeom prst="rect">
            <a:avLst/>
          </a:prstGeom>
          <a:solidFill>
            <a:srgbClr val="FFD54F"/>
          </a:solidFill>
          <a:ln w="12700">
            <a:solidFill>
              <a:srgbClr val="FFD54F">
                <a:alpha val="0"/>
              </a:srgbClr>
            </a:solidFill>
            <a:prstDash val="solid"/>
          </a:ln>
        </p:spPr>
        <p:txBody>
          <a:bodyPr/>
          <a:lstStyle/>
          <a:p>
            <a:endParaRPr lang="en-US"/>
          </a:p>
        </p:txBody>
      </p:sp>
      <p:sp>
        <p:nvSpPr>
          <p:cNvPr id="22" name="Text 20"/>
          <p:cNvSpPr/>
          <p:nvPr/>
        </p:nvSpPr>
        <p:spPr>
          <a:xfrm>
            <a:off x="6172200" y="1005840"/>
            <a:ext cx="640080" cy="640080"/>
          </a:xfrm>
          <a:prstGeom prst="rect">
            <a:avLst/>
          </a:prstGeom>
          <a:noFill/>
          <a:ln/>
        </p:spPr>
        <p:txBody>
          <a:bodyPr wrap="square" rtlCol="0" anchor="ctr"/>
          <a:lstStyle/>
          <a:p>
            <a:pPr marL="0" indent="0" algn="ctr">
              <a:buNone/>
            </a:pPr>
            <a:endParaRPr lang="en-US" sz="2800" dirty="0"/>
          </a:p>
        </p:txBody>
      </p:sp>
      <p:sp>
        <p:nvSpPr>
          <p:cNvPr id="23" name="Text 21"/>
          <p:cNvSpPr/>
          <p:nvPr/>
        </p:nvSpPr>
        <p:spPr>
          <a:xfrm>
            <a:off x="6812280" y="1005840"/>
            <a:ext cx="1874520" cy="411480"/>
          </a:xfrm>
          <a:prstGeom prst="rect">
            <a:avLst/>
          </a:prstGeom>
          <a:noFill/>
          <a:ln/>
        </p:spPr>
        <p:txBody>
          <a:bodyPr wrap="square" rtlCol="0" anchor="ctr"/>
          <a:lstStyle/>
          <a:p>
            <a:pPr marL="0" indent="0">
              <a:buNone/>
            </a:pPr>
            <a:r>
              <a:rPr lang="en-US" sz="2200" b="1" dirty="0">
                <a:solidFill>
                  <a:srgbClr val="FFD54F"/>
                </a:solidFill>
                <a:latin typeface="Trebuchet MS" pitchFamily="34" charset="0"/>
                <a:ea typeface="Trebuchet MS" pitchFamily="34" charset="-122"/>
                <a:cs typeface="Trebuchet MS" pitchFamily="34" charset="-120"/>
              </a:rPr>
              <a:t>78%</a:t>
            </a:r>
            <a:endParaRPr lang="en-US" sz="2200" dirty="0"/>
          </a:p>
        </p:txBody>
      </p:sp>
      <p:sp>
        <p:nvSpPr>
          <p:cNvPr id="24" name="Text 22"/>
          <p:cNvSpPr/>
          <p:nvPr/>
        </p:nvSpPr>
        <p:spPr>
          <a:xfrm>
            <a:off x="6812280" y="139903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High Accuracy</a:t>
            </a:r>
            <a:endParaRPr lang="en-US" sz="1000" dirty="0"/>
          </a:p>
        </p:txBody>
      </p:sp>
      <p:sp>
        <p:nvSpPr>
          <p:cNvPr id="25" name="Shape 23"/>
          <p:cNvSpPr/>
          <p:nvPr/>
        </p:nvSpPr>
        <p:spPr>
          <a:xfrm>
            <a:off x="6172200" y="1719072"/>
            <a:ext cx="2468880" cy="27432"/>
          </a:xfrm>
          <a:prstGeom prst="rect">
            <a:avLst/>
          </a:prstGeom>
          <a:solidFill>
            <a:srgbClr val="FFD54F"/>
          </a:solidFill>
          <a:ln w="12700">
            <a:solidFill>
              <a:srgbClr val="FFD54F">
                <a:alpha val="0"/>
              </a:srgbClr>
            </a:solidFill>
            <a:prstDash val="solid"/>
          </a:ln>
        </p:spPr>
        <p:txBody>
          <a:bodyPr/>
          <a:lstStyle/>
          <a:p>
            <a:endParaRPr lang="en-US"/>
          </a:p>
        </p:txBody>
      </p:sp>
      <p:sp>
        <p:nvSpPr>
          <p:cNvPr id="26" name="Text 24"/>
          <p:cNvSpPr/>
          <p:nvPr/>
        </p:nvSpPr>
        <p:spPr>
          <a:xfrm>
            <a:off x="6172200" y="176479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Competitive 78% accuracy on FER2013 benchmark, matching much larger and slower models</a:t>
            </a:r>
            <a:endParaRPr lang="en-US" sz="1100" dirty="0"/>
          </a:p>
        </p:txBody>
      </p:sp>
      <p:sp>
        <p:nvSpPr>
          <p:cNvPr id="27" name="Shape 25"/>
          <p:cNvSpPr/>
          <p:nvPr/>
        </p:nvSpPr>
        <p:spPr>
          <a:xfrm>
            <a:off x="320040" y="288036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8" name="Shape 26"/>
          <p:cNvSpPr/>
          <p:nvPr/>
        </p:nvSpPr>
        <p:spPr>
          <a:xfrm>
            <a:off x="320040" y="2880360"/>
            <a:ext cx="2697480" cy="64008"/>
          </a:xfrm>
          <a:prstGeom prst="rect">
            <a:avLst/>
          </a:prstGeom>
          <a:solidFill>
            <a:srgbClr val="1E88E5"/>
          </a:solidFill>
          <a:ln w="12700">
            <a:solidFill>
              <a:srgbClr val="1E88E5">
                <a:alpha val="0"/>
              </a:srgbClr>
            </a:solidFill>
            <a:prstDash val="solid"/>
          </a:ln>
        </p:spPr>
        <p:txBody>
          <a:bodyPr/>
          <a:lstStyle/>
          <a:p>
            <a:endParaRPr lang="en-US"/>
          </a:p>
        </p:txBody>
      </p:sp>
      <p:sp>
        <p:nvSpPr>
          <p:cNvPr id="29" name="Text 27"/>
          <p:cNvSpPr/>
          <p:nvPr/>
        </p:nvSpPr>
        <p:spPr>
          <a:xfrm>
            <a:off x="411480" y="3017520"/>
            <a:ext cx="640080" cy="640080"/>
          </a:xfrm>
          <a:prstGeom prst="rect">
            <a:avLst/>
          </a:prstGeom>
          <a:noFill/>
          <a:ln/>
        </p:spPr>
        <p:txBody>
          <a:bodyPr wrap="square" rtlCol="0" anchor="ctr"/>
          <a:lstStyle/>
          <a:p>
            <a:pPr marL="0" indent="0" algn="ctr">
              <a:buNone/>
            </a:pPr>
            <a:endParaRPr lang="en-US" sz="2800" dirty="0"/>
          </a:p>
        </p:txBody>
      </p:sp>
      <p:sp>
        <p:nvSpPr>
          <p:cNvPr id="30" name="Text 28"/>
          <p:cNvSpPr/>
          <p:nvPr/>
        </p:nvSpPr>
        <p:spPr>
          <a:xfrm>
            <a:off x="1051560" y="3017520"/>
            <a:ext cx="1874520" cy="411480"/>
          </a:xfrm>
          <a:prstGeom prst="rect">
            <a:avLst/>
          </a:prstGeom>
          <a:noFill/>
          <a:ln/>
        </p:spPr>
        <p:txBody>
          <a:bodyPr wrap="square" rtlCol="0" anchor="ctr"/>
          <a:lstStyle/>
          <a:p>
            <a:pPr marL="0" indent="0">
              <a:buNone/>
            </a:pPr>
            <a:r>
              <a:rPr lang="en-US" sz="2200" b="1" dirty="0">
                <a:solidFill>
                  <a:srgbClr val="1E88E5"/>
                </a:solidFill>
                <a:latin typeface="Trebuchet MS" pitchFamily="34" charset="0"/>
                <a:ea typeface="Trebuchet MS" pitchFamily="34" charset="-122"/>
                <a:cs typeface="Trebuchet MS" pitchFamily="34" charset="-120"/>
              </a:rPr>
              <a:t>React</a:t>
            </a:r>
            <a:endParaRPr lang="en-US" sz="2200" dirty="0"/>
          </a:p>
        </p:txBody>
      </p:sp>
      <p:sp>
        <p:nvSpPr>
          <p:cNvPr id="31" name="Text 29"/>
          <p:cNvSpPr/>
          <p:nvPr/>
        </p:nvSpPr>
        <p:spPr>
          <a:xfrm>
            <a:off x="1051560" y="341071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User-Friendly UI</a:t>
            </a:r>
            <a:endParaRPr lang="en-US" sz="1000" dirty="0"/>
          </a:p>
        </p:txBody>
      </p:sp>
      <p:sp>
        <p:nvSpPr>
          <p:cNvPr id="32" name="Shape 30"/>
          <p:cNvSpPr/>
          <p:nvPr/>
        </p:nvSpPr>
        <p:spPr>
          <a:xfrm>
            <a:off x="411480" y="3730752"/>
            <a:ext cx="2468880" cy="27432"/>
          </a:xfrm>
          <a:prstGeom prst="rect">
            <a:avLst/>
          </a:prstGeom>
          <a:solidFill>
            <a:srgbClr val="1E88E5"/>
          </a:solidFill>
          <a:ln w="12700">
            <a:solidFill>
              <a:srgbClr val="1E88E5">
                <a:alpha val="0"/>
              </a:srgbClr>
            </a:solidFill>
            <a:prstDash val="solid"/>
          </a:ln>
        </p:spPr>
        <p:txBody>
          <a:bodyPr/>
          <a:lstStyle/>
          <a:p>
            <a:endParaRPr lang="en-US"/>
          </a:p>
        </p:txBody>
      </p:sp>
      <p:sp>
        <p:nvSpPr>
          <p:cNvPr id="33" name="Text 31"/>
          <p:cNvSpPr/>
          <p:nvPr/>
        </p:nvSpPr>
        <p:spPr>
          <a:xfrm>
            <a:off x="411480" y="377647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Modern, intuitive React.js interface requires no technical knowledge from end users</a:t>
            </a:r>
            <a:endParaRPr lang="en-US" sz="1100" dirty="0"/>
          </a:p>
        </p:txBody>
      </p:sp>
      <p:sp>
        <p:nvSpPr>
          <p:cNvPr id="34" name="Shape 32"/>
          <p:cNvSpPr/>
          <p:nvPr/>
        </p:nvSpPr>
        <p:spPr>
          <a:xfrm>
            <a:off x="3200400" y="288036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5" name="Shape 33"/>
          <p:cNvSpPr/>
          <p:nvPr/>
        </p:nvSpPr>
        <p:spPr>
          <a:xfrm>
            <a:off x="3200400" y="2880360"/>
            <a:ext cx="2697480" cy="64008"/>
          </a:xfrm>
          <a:prstGeom prst="rect">
            <a:avLst/>
          </a:prstGeom>
          <a:solidFill>
            <a:srgbClr val="7B1FA2"/>
          </a:solidFill>
          <a:ln w="12700">
            <a:solidFill>
              <a:srgbClr val="7B1FA2">
                <a:alpha val="0"/>
              </a:srgbClr>
            </a:solidFill>
            <a:prstDash val="solid"/>
          </a:ln>
        </p:spPr>
        <p:txBody>
          <a:bodyPr/>
          <a:lstStyle/>
          <a:p>
            <a:endParaRPr lang="en-US"/>
          </a:p>
        </p:txBody>
      </p:sp>
      <p:sp>
        <p:nvSpPr>
          <p:cNvPr id="36" name="Text 34"/>
          <p:cNvSpPr/>
          <p:nvPr/>
        </p:nvSpPr>
        <p:spPr>
          <a:xfrm>
            <a:off x="3291840" y="3017520"/>
            <a:ext cx="640080" cy="640080"/>
          </a:xfrm>
          <a:prstGeom prst="rect">
            <a:avLst/>
          </a:prstGeom>
          <a:noFill/>
          <a:ln/>
        </p:spPr>
        <p:txBody>
          <a:bodyPr wrap="square" rtlCol="0" anchor="ctr"/>
          <a:lstStyle/>
          <a:p>
            <a:pPr marL="0" indent="0" algn="ctr">
              <a:buNone/>
            </a:pPr>
            <a:endParaRPr lang="en-US" sz="2800" dirty="0"/>
          </a:p>
        </p:txBody>
      </p:sp>
      <p:sp>
        <p:nvSpPr>
          <p:cNvPr id="37" name="Text 35"/>
          <p:cNvSpPr/>
          <p:nvPr/>
        </p:nvSpPr>
        <p:spPr>
          <a:xfrm>
            <a:off x="3931920" y="3017520"/>
            <a:ext cx="1874520" cy="411480"/>
          </a:xfrm>
          <a:prstGeom prst="rect">
            <a:avLst/>
          </a:prstGeom>
          <a:noFill/>
          <a:ln/>
        </p:spPr>
        <p:txBody>
          <a:bodyPr wrap="square" rtlCol="0" anchor="ctr"/>
          <a:lstStyle/>
          <a:p>
            <a:pPr marL="0" indent="0">
              <a:buNone/>
            </a:pPr>
            <a:r>
              <a:rPr lang="en-US" sz="2200" b="1" dirty="0">
                <a:solidFill>
                  <a:srgbClr val="7B1FA2"/>
                </a:solidFill>
                <a:latin typeface="Trebuchet MS" pitchFamily="34" charset="0"/>
                <a:ea typeface="Trebuchet MS" pitchFamily="34" charset="-122"/>
                <a:cs typeface="Trebuchet MS" pitchFamily="34" charset="-120"/>
              </a:rPr>
              <a:t>CPU OK</a:t>
            </a:r>
            <a:endParaRPr lang="en-US" sz="2200" dirty="0"/>
          </a:p>
        </p:txBody>
      </p:sp>
      <p:sp>
        <p:nvSpPr>
          <p:cNvPr id="38" name="Text 36"/>
          <p:cNvSpPr/>
          <p:nvPr/>
        </p:nvSpPr>
        <p:spPr>
          <a:xfrm>
            <a:off x="3931920" y="341071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Low Hardware Req.</a:t>
            </a:r>
            <a:endParaRPr lang="en-US" sz="1000" dirty="0"/>
          </a:p>
        </p:txBody>
      </p:sp>
      <p:sp>
        <p:nvSpPr>
          <p:cNvPr id="39" name="Shape 37"/>
          <p:cNvSpPr/>
          <p:nvPr/>
        </p:nvSpPr>
        <p:spPr>
          <a:xfrm>
            <a:off x="3291840" y="3730752"/>
            <a:ext cx="2468880" cy="27432"/>
          </a:xfrm>
          <a:prstGeom prst="rect">
            <a:avLst/>
          </a:prstGeom>
          <a:solidFill>
            <a:srgbClr val="7B1FA2"/>
          </a:solidFill>
          <a:ln w="12700">
            <a:solidFill>
              <a:srgbClr val="7B1FA2">
                <a:alpha val="0"/>
              </a:srgbClr>
            </a:solidFill>
            <a:prstDash val="solid"/>
          </a:ln>
        </p:spPr>
        <p:txBody>
          <a:bodyPr/>
          <a:lstStyle/>
          <a:p>
            <a:endParaRPr lang="en-US"/>
          </a:p>
        </p:txBody>
      </p:sp>
      <p:sp>
        <p:nvSpPr>
          <p:cNvPr id="40" name="Text 38"/>
          <p:cNvSpPr/>
          <p:nvPr/>
        </p:nvSpPr>
        <p:spPr>
          <a:xfrm>
            <a:off x="3291840" y="377647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Runs efficiently on standard CPU without requiring dedicated GPU hardware</a:t>
            </a:r>
            <a:endParaRPr lang="en-US" sz="1100" dirty="0"/>
          </a:p>
        </p:txBody>
      </p:sp>
      <p:sp>
        <p:nvSpPr>
          <p:cNvPr id="41" name="Shape 39"/>
          <p:cNvSpPr/>
          <p:nvPr/>
        </p:nvSpPr>
        <p:spPr>
          <a:xfrm>
            <a:off x="6080760" y="2880360"/>
            <a:ext cx="2697480" cy="1828800"/>
          </a:xfrm>
          <a:prstGeom prst="roundRect">
            <a:avLst>
              <a:gd name="adj" fmla="val 6000"/>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2" name="Shape 40"/>
          <p:cNvSpPr/>
          <p:nvPr/>
        </p:nvSpPr>
        <p:spPr>
          <a:xfrm>
            <a:off x="6080760" y="2880360"/>
            <a:ext cx="2697480" cy="64008"/>
          </a:xfrm>
          <a:prstGeom prst="rect">
            <a:avLst/>
          </a:prstGeom>
          <a:solidFill>
            <a:srgbClr val="FF6F00"/>
          </a:solidFill>
          <a:ln w="12700">
            <a:solidFill>
              <a:srgbClr val="FF6F00">
                <a:alpha val="0"/>
              </a:srgbClr>
            </a:solidFill>
            <a:prstDash val="solid"/>
          </a:ln>
        </p:spPr>
        <p:txBody>
          <a:bodyPr/>
          <a:lstStyle/>
          <a:p>
            <a:endParaRPr lang="en-US"/>
          </a:p>
        </p:txBody>
      </p:sp>
      <p:sp>
        <p:nvSpPr>
          <p:cNvPr id="43" name="Text 41"/>
          <p:cNvSpPr/>
          <p:nvPr/>
        </p:nvSpPr>
        <p:spPr>
          <a:xfrm>
            <a:off x="6172200" y="3017520"/>
            <a:ext cx="640080" cy="640080"/>
          </a:xfrm>
          <a:prstGeom prst="rect">
            <a:avLst/>
          </a:prstGeom>
          <a:noFill/>
          <a:ln/>
        </p:spPr>
        <p:txBody>
          <a:bodyPr wrap="square" rtlCol="0" anchor="ctr"/>
          <a:lstStyle/>
          <a:p>
            <a:pPr marL="0" indent="0" algn="ctr">
              <a:buNone/>
            </a:pPr>
            <a:endParaRPr lang="en-US" sz="2800" dirty="0"/>
          </a:p>
        </p:txBody>
      </p:sp>
      <p:sp>
        <p:nvSpPr>
          <p:cNvPr id="44" name="Text 42"/>
          <p:cNvSpPr/>
          <p:nvPr/>
        </p:nvSpPr>
        <p:spPr>
          <a:xfrm>
            <a:off x="6812280" y="3017520"/>
            <a:ext cx="1874520" cy="411480"/>
          </a:xfrm>
          <a:prstGeom prst="rect">
            <a:avLst/>
          </a:prstGeom>
          <a:noFill/>
          <a:ln/>
        </p:spPr>
        <p:txBody>
          <a:bodyPr wrap="square" rtlCol="0" anchor="ctr"/>
          <a:lstStyle/>
          <a:p>
            <a:pPr marL="0" indent="0">
              <a:buNone/>
            </a:pPr>
            <a:r>
              <a:rPr lang="en-US" sz="2200" b="1" dirty="0">
                <a:solidFill>
                  <a:srgbClr val="FF6F00"/>
                </a:solidFill>
                <a:latin typeface="Trebuchet MS" pitchFamily="34" charset="0"/>
                <a:ea typeface="Trebuchet MS" pitchFamily="34" charset="-122"/>
                <a:cs typeface="Trebuchet MS" pitchFamily="34" charset="-120"/>
              </a:rPr>
              <a:t>Flask</a:t>
            </a:r>
            <a:endParaRPr lang="en-US" sz="2200" dirty="0"/>
          </a:p>
        </p:txBody>
      </p:sp>
      <p:sp>
        <p:nvSpPr>
          <p:cNvPr id="45" name="Text 43"/>
          <p:cNvSpPr/>
          <p:nvPr/>
        </p:nvSpPr>
        <p:spPr>
          <a:xfrm>
            <a:off x="6812280" y="3410712"/>
            <a:ext cx="1874520" cy="256032"/>
          </a:xfrm>
          <a:prstGeom prst="rect">
            <a:avLst/>
          </a:prstGeom>
          <a:noFill/>
          <a:ln/>
        </p:spPr>
        <p:txBody>
          <a:bodyPr wrap="square" rtlCol="0" anchor="ctr"/>
          <a:lstStyle/>
          <a:p>
            <a:pPr marL="0" indent="0">
              <a:buNone/>
            </a:pPr>
            <a:r>
              <a:rPr lang="en-US" sz="1000" dirty="0">
                <a:solidFill>
                  <a:srgbClr val="90A4AE"/>
                </a:solidFill>
                <a:latin typeface="Calibri" pitchFamily="34" charset="0"/>
                <a:ea typeface="Calibri" pitchFamily="34" charset="-122"/>
                <a:cs typeface="Calibri" pitchFamily="34" charset="-120"/>
              </a:rPr>
              <a:t>REST API Ready</a:t>
            </a:r>
            <a:endParaRPr lang="en-US" sz="1000" dirty="0"/>
          </a:p>
        </p:txBody>
      </p:sp>
      <p:sp>
        <p:nvSpPr>
          <p:cNvPr id="46" name="Shape 44"/>
          <p:cNvSpPr/>
          <p:nvPr/>
        </p:nvSpPr>
        <p:spPr>
          <a:xfrm>
            <a:off x="6172200" y="3730752"/>
            <a:ext cx="2468880" cy="27432"/>
          </a:xfrm>
          <a:prstGeom prst="rect">
            <a:avLst/>
          </a:prstGeom>
          <a:solidFill>
            <a:srgbClr val="FF6F00"/>
          </a:solidFill>
          <a:ln w="12700">
            <a:solidFill>
              <a:srgbClr val="FF6F00">
                <a:alpha val="0"/>
              </a:srgbClr>
            </a:solidFill>
            <a:prstDash val="solid"/>
          </a:ln>
        </p:spPr>
        <p:txBody>
          <a:bodyPr/>
          <a:lstStyle/>
          <a:p>
            <a:endParaRPr lang="en-US"/>
          </a:p>
        </p:txBody>
      </p:sp>
      <p:sp>
        <p:nvSpPr>
          <p:cNvPr id="47" name="Text 45"/>
          <p:cNvSpPr/>
          <p:nvPr/>
        </p:nvSpPr>
        <p:spPr>
          <a:xfrm>
            <a:off x="6172200" y="3776472"/>
            <a:ext cx="2514600" cy="82296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Modular Flask API can be integrated with any frontend, mobile app, or IoT device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0A0E27"/>
        </a:solidFill>
        <a:effectLst/>
      </p:bgPr>
    </p:bg>
    <p:spTree>
      <p:nvGrpSpPr>
        <p:cNvPr id="1" name=""/>
        <p:cNvGrpSpPr/>
        <p:nvPr/>
      </p:nvGrpSpPr>
      <p:grpSpPr>
        <a:xfrm>
          <a:off x="0" y="0"/>
          <a:ext cx="0" cy="0"/>
          <a:chOff x="0" y="0"/>
          <a:chExt cx="0" cy="0"/>
        </a:xfrm>
      </p:grpSpPr>
      <p:sp>
        <p:nvSpPr>
          <p:cNvPr id="5" name="Text 3"/>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Real-World</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Sitka Display Semibold" pitchFamily="2" charset="0"/>
                <a:ea typeface="Trebuchet MS" pitchFamily="34" charset="-122"/>
                <a:cs typeface="Trebuchet MS" pitchFamily="34" charset="-120"/>
              </a:rPr>
              <a:t>Applications</a:t>
            </a:r>
            <a:endParaRPr lang="en-US" sz="2800" dirty="0">
              <a:latin typeface="Sitka Display Semibold" pitchFamily="2" charset="0"/>
            </a:endParaRPr>
          </a:p>
        </p:txBody>
      </p:sp>
      <p:sp>
        <p:nvSpPr>
          <p:cNvPr id="6" name="Shape 4"/>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7" name="Shape 5"/>
          <p:cNvSpPr/>
          <p:nvPr/>
        </p:nvSpPr>
        <p:spPr>
          <a:xfrm>
            <a:off x="274320" y="86868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365760" y="960120"/>
            <a:ext cx="594360" cy="594360"/>
          </a:xfrm>
          <a:prstGeom prst="ellipse">
            <a:avLst/>
          </a:prstGeom>
          <a:solidFill>
            <a:srgbClr val="00BCD4">
              <a:alpha val="60000"/>
            </a:srgbClr>
          </a:solidFill>
          <a:ln w="19050">
            <a:solidFill>
              <a:srgbClr val="00BCD4"/>
            </a:solidFill>
            <a:prstDash val="solid"/>
          </a:ln>
        </p:spPr>
        <p:txBody>
          <a:bodyPr/>
          <a:lstStyle/>
          <a:p>
            <a:endParaRPr lang="en-US"/>
          </a:p>
        </p:txBody>
      </p:sp>
      <p:sp>
        <p:nvSpPr>
          <p:cNvPr id="9" name="Text 7"/>
          <p:cNvSpPr/>
          <p:nvPr/>
        </p:nvSpPr>
        <p:spPr>
          <a:xfrm>
            <a:off x="365760" y="96012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024128" y="978408"/>
            <a:ext cx="1947672" cy="320040"/>
          </a:xfrm>
          <a:prstGeom prst="rect">
            <a:avLst/>
          </a:prstGeom>
          <a:noFill/>
          <a:ln/>
        </p:spPr>
        <p:txBody>
          <a:bodyPr wrap="square"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Smart Classrooms</a:t>
            </a:r>
            <a:endParaRPr lang="en-US" sz="1200" dirty="0"/>
          </a:p>
        </p:txBody>
      </p:sp>
      <p:sp>
        <p:nvSpPr>
          <p:cNvPr id="11" name="Text 9"/>
          <p:cNvSpPr/>
          <p:nvPr/>
        </p:nvSpPr>
        <p:spPr>
          <a:xfrm>
            <a:off x="365760" y="161848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Monitor student engagement and attention levels in real-time. Detect confused, bored, or engaged students to adapt teaching strategies automatically.</a:t>
            </a:r>
            <a:endParaRPr lang="en-US" sz="1050" dirty="0"/>
          </a:p>
        </p:txBody>
      </p:sp>
      <p:sp>
        <p:nvSpPr>
          <p:cNvPr id="12" name="Shape 10"/>
          <p:cNvSpPr/>
          <p:nvPr/>
        </p:nvSpPr>
        <p:spPr>
          <a:xfrm>
            <a:off x="365760" y="1581912"/>
            <a:ext cx="260604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13" name="Shape 11"/>
          <p:cNvSpPr/>
          <p:nvPr/>
        </p:nvSpPr>
        <p:spPr>
          <a:xfrm>
            <a:off x="384048" y="2423160"/>
            <a:ext cx="73152" cy="73152"/>
          </a:xfrm>
          <a:prstGeom prst="ellipse">
            <a:avLst/>
          </a:prstGeom>
          <a:solidFill>
            <a:srgbClr val="00BCD4"/>
          </a:solidFill>
          <a:ln w="12700">
            <a:solidFill>
              <a:srgbClr val="00BCD4">
                <a:alpha val="0"/>
              </a:srgbClr>
            </a:solidFill>
            <a:prstDash val="solid"/>
          </a:ln>
        </p:spPr>
        <p:txBody>
          <a:bodyPr/>
          <a:lstStyle/>
          <a:p>
            <a:endParaRPr lang="en-US"/>
          </a:p>
        </p:txBody>
      </p:sp>
      <p:sp>
        <p:nvSpPr>
          <p:cNvPr id="14" name="Shape 12"/>
          <p:cNvSpPr/>
          <p:nvPr/>
        </p:nvSpPr>
        <p:spPr>
          <a:xfrm>
            <a:off x="384048" y="2432304"/>
            <a:ext cx="73152" cy="73152"/>
          </a:xfrm>
          <a:prstGeom prst="ellipse">
            <a:avLst/>
          </a:prstGeom>
          <a:solidFill>
            <a:srgbClr val="00BCD4"/>
          </a:solidFill>
          <a:ln w="12700">
            <a:solidFill>
              <a:srgbClr val="00BCD4">
                <a:alpha val="0"/>
              </a:srgbClr>
            </a:solidFill>
            <a:prstDash val="solid"/>
          </a:ln>
        </p:spPr>
        <p:txBody>
          <a:bodyPr/>
          <a:lstStyle/>
          <a:p>
            <a:endParaRPr lang="en-US"/>
          </a:p>
        </p:txBody>
      </p:sp>
      <p:sp>
        <p:nvSpPr>
          <p:cNvPr id="15" name="Shape 13"/>
          <p:cNvSpPr/>
          <p:nvPr/>
        </p:nvSpPr>
        <p:spPr>
          <a:xfrm>
            <a:off x="384048" y="2441448"/>
            <a:ext cx="73152" cy="73152"/>
          </a:xfrm>
          <a:prstGeom prst="ellipse">
            <a:avLst/>
          </a:prstGeom>
          <a:solidFill>
            <a:srgbClr val="00BCD4"/>
          </a:solidFill>
          <a:ln w="12700">
            <a:solidFill>
              <a:srgbClr val="00BCD4">
                <a:alpha val="0"/>
              </a:srgbClr>
            </a:solidFill>
            <a:prstDash val="solid"/>
          </a:ln>
        </p:spPr>
        <p:txBody>
          <a:bodyPr/>
          <a:lstStyle/>
          <a:p>
            <a:endParaRPr lang="en-US"/>
          </a:p>
        </p:txBody>
      </p:sp>
      <p:sp>
        <p:nvSpPr>
          <p:cNvPr id="16" name="Text 14"/>
          <p:cNvSpPr/>
          <p:nvPr/>
        </p:nvSpPr>
        <p:spPr>
          <a:xfrm>
            <a:off x="365760" y="2423160"/>
            <a:ext cx="2606040" cy="274320"/>
          </a:xfrm>
          <a:prstGeom prst="rect">
            <a:avLst/>
          </a:prstGeom>
          <a:noFill/>
          <a:ln/>
        </p:spPr>
        <p:txBody>
          <a:bodyPr wrap="square" rtlCol="0" anchor="ctr"/>
          <a:lstStyle/>
          <a:p>
            <a:pPr marL="0" indent="0">
              <a:buNone/>
            </a:pPr>
            <a:r>
              <a:rPr lang="en-US" sz="1050" dirty="0">
                <a:solidFill>
                  <a:srgbClr val="00BCD4"/>
                </a:solidFill>
                <a:latin typeface="Calibri" pitchFamily="34" charset="0"/>
                <a:ea typeface="Calibri" pitchFamily="34" charset="-122"/>
                <a:cs typeface="Calibri" pitchFamily="34" charset="-120"/>
              </a:rPr>
              <a:t>Student attention tracking  •  Adaptive learning systems  •  Engagement analytics</a:t>
            </a:r>
            <a:endParaRPr lang="en-US" sz="1050" dirty="0"/>
          </a:p>
        </p:txBody>
      </p:sp>
      <p:sp>
        <p:nvSpPr>
          <p:cNvPr id="17" name="Shape 15"/>
          <p:cNvSpPr/>
          <p:nvPr/>
        </p:nvSpPr>
        <p:spPr>
          <a:xfrm>
            <a:off x="3227832" y="86868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18" name="Shape 16"/>
          <p:cNvSpPr/>
          <p:nvPr/>
        </p:nvSpPr>
        <p:spPr>
          <a:xfrm>
            <a:off x="3319272" y="960120"/>
            <a:ext cx="594360" cy="594360"/>
          </a:xfrm>
          <a:prstGeom prst="ellipse">
            <a:avLst/>
          </a:prstGeom>
          <a:solidFill>
            <a:srgbClr val="EF5350">
              <a:alpha val="60000"/>
            </a:srgbClr>
          </a:solidFill>
          <a:ln w="19050">
            <a:solidFill>
              <a:srgbClr val="EF5350"/>
            </a:solidFill>
            <a:prstDash val="solid"/>
          </a:ln>
        </p:spPr>
        <p:txBody>
          <a:bodyPr/>
          <a:lstStyle/>
          <a:p>
            <a:endParaRPr lang="en-US"/>
          </a:p>
        </p:txBody>
      </p:sp>
      <p:sp>
        <p:nvSpPr>
          <p:cNvPr id="19" name="Text 17"/>
          <p:cNvSpPr/>
          <p:nvPr/>
        </p:nvSpPr>
        <p:spPr>
          <a:xfrm>
            <a:off x="3319272" y="96012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0" name="Text 18"/>
          <p:cNvSpPr/>
          <p:nvPr/>
        </p:nvSpPr>
        <p:spPr>
          <a:xfrm>
            <a:off x="3977640" y="978408"/>
            <a:ext cx="1947672" cy="32004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Healthcare &amp; Therapy</a:t>
            </a:r>
            <a:endParaRPr lang="en-US" sz="1200" dirty="0"/>
          </a:p>
        </p:txBody>
      </p:sp>
      <p:sp>
        <p:nvSpPr>
          <p:cNvPr id="21" name="Text 19"/>
          <p:cNvSpPr/>
          <p:nvPr/>
        </p:nvSpPr>
        <p:spPr>
          <a:xfrm>
            <a:off x="3319272" y="161848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Assist in diagnosing conditions like depression, autism, and PTSD by analyzing patient emotional responses during therapy sessions.</a:t>
            </a:r>
            <a:endParaRPr lang="en-US" sz="1050" dirty="0"/>
          </a:p>
        </p:txBody>
      </p:sp>
      <p:sp>
        <p:nvSpPr>
          <p:cNvPr id="22" name="Shape 20"/>
          <p:cNvSpPr/>
          <p:nvPr/>
        </p:nvSpPr>
        <p:spPr>
          <a:xfrm>
            <a:off x="3319272" y="1581912"/>
            <a:ext cx="2606040" cy="27432"/>
          </a:xfrm>
          <a:prstGeom prst="rect">
            <a:avLst/>
          </a:prstGeom>
          <a:solidFill>
            <a:srgbClr val="EF5350"/>
          </a:solidFill>
          <a:ln w="12700">
            <a:solidFill>
              <a:srgbClr val="EF5350">
                <a:alpha val="0"/>
              </a:srgbClr>
            </a:solidFill>
            <a:prstDash val="solid"/>
          </a:ln>
        </p:spPr>
        <p:txBody>
          <a:bodyPr/>
          <a:lstStyle/>
          <a:p>
            <a:endParaRPr lang="en-US"/>
          </a:p>
        </p:txBody>
      </p:sp>
      <p:sp>
        <p:nvSpPr>
          <p:cNvPr id="23" name="Shape 21"/>
          <p:cNvSpPr/>
          <p:nvPr/>
        </p:nvSpPr>
        <p:spPr>
          <a:xfrm>
            <a:off x="3337560" y="2423160"/>
            <a:ext cx="73152" cy="73152"/>
          </a:xfrm>
          <a:prstGeom prst="ellipse">
            <a:avLst/>
          </a:prstGeom>
          <a:solidFill>
            <a:srgbClr val="EF5350"/>
          </a:solidFill>
          <a:ln w="12700">
            <a:solidFill>
              <a:srgbClr val="EF5350">
                <a:alpha val="0"/>
              </a:srgbClr>
            </a:solidFill>
            <a:prstDash val="solid"/>
          </a:ln>
        </p:spPr>
        <p:txBody>
          <a:bodyPr/>
          <a:lstStyle/>
          <a:p>
            <a:endParaRPr lang="en-US"/>
          </a:p>
        </p:txBody>
      </p:sp>
      <p:sp>
        <p:nvSpPr>
          <p:cNvPr id="24" name="Shape 22"/>
          <p:cNvSpPr/>
          <p:nvPr/>
        </p:nvSpPr>
        <p:spPr>
          <a:xfrm>
            <a:off x="3337560" y="2432304"/>
            <a:ext cx="73152" cy="73152"/>
          </a:xfrm>
          <a:prstGeom prst="ellipse">
            <a:avLst/>
          </a:prstGeom>
          <a:solidFill>
            <a:srgbClr val="EF5350"/>
          </a:solidFill>
          <a:ln w="12700">
            <a:solidFill>
              <a:srgbClr val="EF5350">
                <a:alpha val="0"/>
              </a:srgbClr>
            </a:solidFill>
            <a:prstDash val="solid"/>
          </a:ln>
        </p:spPr>
        <p:txBody>
          <a:bodyPr/>
          <a:lstStyle/>
          <a:p>
            <a:endParaRPr lang="en-US"/>
          </a:p>
        </p:txBody>
      </p:sp>
      <p:sp>
        <p:nvSpPr>
          <p:cNvPr id="25" name="Shape 23"/>
          <p:cNvSpPr/>
          <p:nvPr/>
        </p:nvSpPr>
        <p:spPr>
          <a:xfrm>
            <a:off x="3337560" y="2441448"/>
            <a:ext cx="73152" cy="73152"/>
          </a:xfrm>
          <a:prstGeom prst="ellipse">
            <a:avLst/>
          </a:prstGeom>
          <a:solidFill>
            <a:srgbClr val="EF5350"/>
          </a:solidFill>
          <a:ln w="12700">
            <a:solidFill>
              <a:srgbClr val="EF5350">
                <a:alpha val="0"/>
              </a:srgbClr>
            </a:solidFill>
            <a:prstDash val="solid"/>
          </a:ln>
        </p:spPr>
        <p:txBody>
          <a:bodyPr/>
          <a:lstStyle/>
          <a:p>
            <a:endParaRPr lang="en-US"/>
          </a:p>
        </p:txBody>
      </p:sp>
      <p:sp>
        <p:nvSpPr>
          <p:cNvPr id="26" name="Text 24"/>
          <p:cNvSpPr/>
          <p:nvPr/>
        </p:nvSpPr>
        <p:spPr>
          <a:xfrm>
            <a:off x="3319272" y="2423160"/>
            <a:ext cx="2606040" cy="274320"/>
          </a:xfrm>
          <a:prstGeom prst="rect">
            <a:avLst/>
          </a:prstGeom>
          <a:noFill/>
          <a:ln/>
        </p:spPr>
        <p:txBody>
          <a:bodyPr wrap="square" rtlCol="0" anchor="ctr"/>
          <a:lstStyle/>
          <a:p>
            <a:pPr marL="0" indent="0">
              <a:buNone/>
            </a:pPr>
            <a:r>
              <a:rPr lang="en-US" sz="1050" dirty="0">
                <a:solidFill>
                  <a:srgbClr val="EF5350"/>
                </a:solidFill>
                <a:latin typeface="Calibri" pitchFamily="34" charset="0"/>
                <a:ea typeface="Calibri" pitchFamily="34" charset="-122"/>
                <a:cs typeface="Calibri" pitchFamily="34" charset="-120"/>
              </a:rPr>
              <a:t>Mental health monitoring  •  Pain assessment  •  Therapy support</a:t>
            </a:r>
            <a:endParaRPr lang="en-US" sz="1050" dirty="0"/>
          </a:p>
        </p:txBody>
      </p:sp>
      <p:sp>
        <p:nvSpPr>
          <p:cNvPr id="27" name="Shape 25"/>
          <p:cNvSpPr/>
          <p:nvPr/>
        </p:nvSpPr>
        <p:spPr>
          <a:xfrm>
            <a:off x="6181344" y="86868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28" name="Shape 26"/>
          <p:cNvSpPr/>
          <p:nvPr/>
        </p:nvSpPr>
        <p:spPr>
          <a:xfrm>
            <a:off x="6272784" y="960120"/>
            <a:ext cx="594360" cy="594360"/>
          </a:xfrm>
          <a:prstGeom prst="ellipse">
            <a:avLst/>
          </a:prstGeom>
          <a:solidFill>
            <a:srgbClr val="FF6F00">
              <a:alpha val="60000"/>
            </a:srgbClr>
          </a:solidFill>
          <a:ln w="19050">
            <a:solidFill>
              <a:srgbClr val="FF6F00"/>
            </a:solidFill>
            <a:prstDash val="solid"/>
          </a:ln>
        </p:spPr>
        <p:txBody>
          <a:bodyPr/>
          <a:lstStyle/>
          <a:p>
            <a:endParaRPr lang="en-US"/>
          </a:p>
        </p:txBody>
      </p:sp>
      <p:sp>
        <p:nvSpPr>
          <p:cNvPr id="29" name="Text 27"/>
          <p:cNvSpPr/>
          <p:nvPr/>
        </p:nvSpPr>
        <p:spPr>
          <a:xfrm>
            <a:off x="6272784" y="96012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0" name="Text 28"/>
          <p:cNvSpPr/>
          <p:nvPr/>
        </p:nvSpPr>
        <p:spPr>
          <a:xfrm>
            <a:off x="6931152" y="978408"/>
            <a:ext cx="1947672" cy="320040"/>
          </a:xfrm>
          <a:prstGeom prst="rect">
            <a:avLst/>
          </a:prstGeom>
          <a:noFill/>
          <a:ln/>
        </p:spPr>
        <p:txBody>
          <a:bodyPr wrap="square" rtlCol="0" anchor="ctr"/>
          <a:lstStyle/>
          <a:p>
            <a:pPr marL="0" indent="0">
              <a:buNone/>
            </a:pPr>
            <a:r>
              <a:rPr lang="en-US" sz="1200" b="1" dirty="0">
                <a:solidFill>
                  <a:srgbClr val="FF6F00"/>
                </a:solidFill>
                <a:latin typeface="Calibri" pitchFamily="34" charset="0"/>
                <a:ea typeface="Calibri" pitchFamily="34" charset="-122"/>
                <a:cs typeface="Calibri" pitchFamily="34" charset="-120"/>
              </a:rPr>
              <a:t>Security Monitoring</a:t>
            </a:r>
            <a:endParaRPr lang="en-US" sz="1200" dirty="0"/>
          </a:p>
        </p:txBody>
      </p:sp>
      <p:sp>
        <p:nvSpPr>
          <p:cNvPr id="31" name="Text 29"/>
          <p:cNvSpPr/>
          <p:nvPr/>
        </p:nvSpPr>
        <p:spPr>
          <a:xfrm>
            <a:off x="6272784" y="161848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Enhance security systems by detecting suspicious emotional patterns in surveillance footage, identifying potential threats.</a:t>
            </a:r>
            <a:endParaRPr lang="en-US" sz="1050" dirty="0"/>
          </a:p>
        </p:txBody>
      </p:sp>
      <p:sp>
        <p:nvSpPr>
          <p:cNvPr id="32" name="Shape 30"/>
          <p:cNvSpPr/>
          <p:nvPr/>
        </p:nvSpPr>
        <p:spPr>
          <a:xfrm>
            <a:off x="6272784" y="1581912"/>
            <a:ext cx="2606040" cy="27432"/>
          </a:xfrm>
          <a:prstGeom prst="rect">
            <a:avLst/>
          </a:prstGeom>
          <a:solidFill>
            <a:srgbClr val="FF6F00"/>
          </a:solidFill>
          <a:ln w="12700">
            <a:solidFill>
              <a:srgbClr val="FF6F00">
                <a:alpha val="0"/>
              </a:srgbClr>
            </a:solidFill>
            <a:prstDash val="solid"/>
          </a:ln>
        </p:spPr>
        <p:txBody>
          <a:bodyPr/>
          <a:lstStyle/>
          <a:p>
            <a:endParaRPr lang="en-US"/>
          </a:p>
        </p:txBody>
      </p:sp>
      <p:sp>
        <p:nvSpPr>
          <p:cNvPr id="33" name="Shape 31"/>
          <p:cNvSpPr/>
          <p:nvPr/>
        </p:nvSpPr>
        <p:spPr>
          <a:xfrm>
            <a:off x="6291072" y="2423160"/>
            <a:ext cx="73152" cy="73152"/>
          </a:xfrm>
          <a:prstGeom prst="ellipse">
            <a:avLst/>
          </a:prstGeom>
          <a:solidFill>
            <a:srgbClr val="FF6F00"/>
          </a:solidFill>
          <a:ln w="12700">
            <a:solidFill>
              <a:srgbClr val="FF6F00">
                <a:alpha val="0"/>
              </a:srgbClr>
            </a:solidFill>
            <a:prstDash val="solid"/>
          </a:ln>
        </p:spPr>
        <p:txBody>
          <a:bodyPr/>
          <a:lstStyle/>
          <a:p>
            <a:endParaRPr lang="en-US"/>
          </a:p>
        </p:txBody>
      </p:sp>
      <p:sp>
        <p:nvSpPr>
          <p:cNvPr id="34" name="Shape 32"/>
          <p:cNvSpPr/>
          <p:nvPr/>
        </p:nvSpPr>
        <p:spPr>
          <a:xfrm>
            <a:off x="6291072" y="2432304"/>
            <a:ext cx="73152" cy="73152"/>
          </a:xfrm>
          <a:prstGeom prst="ellipse">
            <a:avLst/>
          </a:prstGeom>
          <a:solidFill>
            <a:srgbClr val="FF6F00"/>
          </a:solidFill>
          <a:ln w="12700">
            <a:solidFill>
              <a:srgbClr val="FF6F00">
                <a:alpha val="0"/>
              </a:srgbClr>
            </a:solidFill>
            <a:prstDash val="solid"/>
          </a:ln>
        </p:spPr>
        <p:txBody>
          <a:bodyPr/>
          <a:lstStyle/>
          <a:p>
            <a:endParaRPr lang="en-US"/>
          </a:p>
        </p:txBody>
      </p:sp>
      <p:sp>
        <p:nvSpPr>
          <p:cNvPr id="35" name="Shape 33"/>
          <p:cNvSpPr/>
          <p:nvPr/>
        </p:nvSpPr>
        <p:spPr>
          <a:xfrm>
            <a:off x="6291072" y="2441448"/>
            <a:ext cx="73152" cy="73152"/>
          </a:xfrm>
          <a:prstGeom prst="ellipse">
            <a:avLst/>
          </a:prstGeom>
          <a:solidFill>
            <a:srgbClr val="FF6F00"/>
          </a:solidFill>
          <a:ln w="12700">
            <a:solidFill>
              <a:srgbClr val="FF6F00">
                <a:alpha val="0"/>
              </a:srgbClr>
            </a:solidFill>
            <a:prstDash val="solid"/>
          </a:ln>
        </p:spPr>
        <p:txBody>
          <a:bodyPr/>
          <a:lstStyle/>
          <a:p>
            <a:endParaRPr lang="en-US"/>
          </a:p>
        </p:txBody>
      </p:sp>
      <p:sp>
        <p:nvSpPr>
          <p:cNvPr id="36" name="Text 34"/>
          <p:cNvSpPr/>
          <p:nvPr/>
        </p:nvSpPr>
        <p:spPr>
          <a:xfrm>
            <a:off x="6272784" y="2423160"/>
            <a:ext cx="2606040" cy="274320"/>
          </a:xfrm>
          <a:prstGeom prst="rect">
            <a:avLst/>
          </a:prstGeom>
          <a:noFill/>
          <a:ln/>
        </p:spPr>
        <p:txBody>
          <a:bodyPr wrap="square" rtlCol="0" anchor="ctr"/>
          <a:lstStyle/>
          <a:p>
            <a:pPr marL="0" indent="0">
              <a:buNone/>
            </a:pPr>
            <a:r>
              <a:rPr lang="en-US" sz="1050" dirty="0">
                <a:solidFill>
                  <a:srgbClr val="FF6F00"/>
                </a:solidFill>
                <a:latin typeface="Calibri" pitchFamily="34" charset="0"/>
                <a:ea typeface="Calibri" pitchFamily="34" charset="-122"/>
                <a:cs typeface="Calibri" pitchFamily="34" charset="-120"/>
              </a:rPr>
              <a:t>Threat detection  •  Behavioral analysis  •  Access control</a:t>
            </a:r>
            <a:endParaRPr lang="en-US" sz="1050" dirty="0"/>
          </a:p>
        </p:txBody>
      </p:sp>
      <p:sp>
        <p:nvSpPr>
          <p:cNvPr id="37" name="Shape 35"/>
          <p:cNvSpPr/>
          <p:nvPr/>
        </p:nvSpPr>
        <p:spPr>
          <a:xfrm>
            <a:off x="274320" y="297180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8" name="Shape 36"/>
          <p:cNvSpPr/>
          <p:nvPr/>
        </p:nvSpPr>
        <p:spPr>
          <a:xfrm>
            <a:off x="365760" y="3063240"/>
            <a:ext cx="594360" cy="594360"/>
          </a:xfrm>
          <a:prstGeom prst="ellipse">
            <a:avLst/>
          </a:prstGeom>
          <a:solidFill>
            <a:srgbClr val="7B1FA2">
              <a:alpha val="60000"/>
            </a:srgbClr>
          </a:solidFill>
          <a:ln w="19050">
            <a:solidFill>
              <a:srgbClr val="7B1FA2"/>
            </a:solidFill>
            <a:prstDash val="solid"/>
          </a:ln>
        </p:spPr>
        <p:txBody>
          <a:bodyPr/>
          <a:lstStyle/>
          <a:p>
            <a:endParaRPr lang="en-US"/>
          </a:p>
        </p:txBody>
      </p:sp>
      <p:sp>
        <p:nvSpPr>
          <p:cNvPr id="39" name="Text 37"/>
          <p:cNvSpPr/>
          <p:nvPr/>
        </p:nvSpPr>
        <p:spPr>
          <a:xfrm>
            <a:off x="365760" y="306324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0" name="Text 38"/>
          <p:cNvSpPr/>
          <p:nvPr/>
        </p:nvSpPr>
        <p:spPr>
          <a:xfrm>
            <a:off x="1024128" y="3081528"/>
            <a:ext cx="1947672" cy="320040"/>
          </a:xfrm>
          <a:prstGeom prst="rect">
            <a:avLst/>
          </a:prstGeom>
          <a:noFill/>
          <a:ln/>
        </p:spPr>
        <p:txBody>
          <a:bodyPr wrap="square" rtlCol="0" anchor="ctr"/>
          <a:lstStyle/>
          <a:p>
            <a:pPr marL="0" indent="0">
              <a:buNone/>
            </a:pPr>
            <a:r>
              <a:rPr lang="en-US" sz="1200" b="1" dirty="0">
                <a:solidFill>
                  <a:srgbClr val="7B1FA2"/>
                </a:solidFill>
                <a:latin typeface="Calibri" pitchFamily="34" charset="0"/>
                <a:ea typeface="Calibri" pitchFamily="34" charset="-122"/>
                <a:cs typeface="Calibri" pitchFamily="34" charset="-120"/>
              </a:rPr>
              <a:t>Robotics &amp; HRI</a:t>
            </a:r>
            <a:endParaRPr lang="en-US" sz="1200" dirty="0"/>
          </a:p>
        </p:txBody>
      </p:sp>
      <p:sp>
        <p:nvSpPr>
          <p:cNvPr id="41" name="Text 39"/>
          <p:cNvSpPr/>
          <p:nvPr/>
        </p:nvSpPr>
        <p:spPr>
          <a:xfrm>
            <a:off x="365760" y="372160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Enable robots and virtual assistants to understand human emotions and respond empathetically in human-robot interaction.</a:t>
            </a:r>
            <a:endParaRPr lang="en-US" sz="1050" dirty="0"/>
          </a:p>
        </p:txBody>
      </p:sp>
      <p:sp>
        <p:nvSpPr>
          <p:cNvPr id="42" name="Shape 40"/>
          <p:cNvSpPr/>
          <p:nvPr/>
        </p:nvSpPr>
        <p:spPr>
          <a:xfrm>
            <a:off x="365760" y="3685032"/>
            <a:ext cx="2606040" cy="27432"/>
          </a:xfrm>
          <a:prstGeom prst="rect">
            <a:avLst/>
          </a:prstGeom>
          <a:solidFill>
            <a:srgbClr val="7B1FA2"/>
          </a:solidFill>
          <a:ln w="12700">
            <a:solidFill>
              <a:srgbClr val="7B1FA2">
                <a:alpha val="0"/>
              </a:srgbClr>
            </a:solidFill>
            <a:prstDash val="solid"/>
          </a:ln>
        </p:spPr>
        <p:txBody>
          <a:bodyPr/>
          <a:lstStyle/>
          <a:p>
            <a:endParaRPr lang="en-US"/>
          </a:p>
        </p:txBody>
      </p:sp>
      <p:sp>
        <p:nvSpPr>
          <p:cNvPr id="43" name="Shape 41"/>
          <p:cNvSpPr/>
          <p:nvPr/>
        </p:nvSpPr>
        <p:spPr>
          <a:xfrm>
            <a:off x="384048" y="4526280"/>
            <a:ext cx="73152" cy="73152"/>
          </a:xfrm>
          <a:prstGeom prst="ellipse">
            <a:avLst/>
          </a:prstGeom>
          <a:solidFill>
            <a:srgbClr val="7B1FA2"/>
          </a:solidFill>
          <a:ln w="12700">
            <a:solidFill>
              <a:srgbClr val="7B1FA2">
                <a:alpha val="0"/>
              </a:srgbClr>
            </a:solidFill>
            <a:prstDash val="solid"/>
          </a:ln>
        </p:spPr>
        <p:txBody>
          <a:bodyPr/>
          <a:lstStyle/>
          <a:p>
            <a:endParaRPr lang="en-US"/>
          </a:p>
        </p:txBody>
      </p:sp>
      <p:sp>
        <p:nvSpPr>
          <p:cNvPr id="44" name="Shape 42"/>
          <p:cNvSpPr/>
          <p:nvPr/>
        </p:nvSpPr>
        <p:spPr>
          <a:xfrm>
            <a:off x="384048" y="4535424"/>
            <a:ext cx="73152" cy="73152"/>
          </a:xfrm>
          <a:prstGeom prst="ellipse">
            <a:avLst/>
          </a:prstGeom>
          <a:solidFill>
            <a:srgbClr val="7B1FA2"/>
          </a:solidFill>
          <a:ln w="12700">
            <a:solidFill>
              <a:srgbClr val="7B1FA2">
                <a:alpha val="0"/>
              </a:srgbClr>
            </a:solidFill>
            <a:prstDash val="solid"/>
          </a:ln>
        </p:spPr>
        <p:txBody>
          <a:bodyPr/>
          <a:lstStyle/>
          <a:p>
            <a:endParaRPr lang="en-US"/>
          </a:p>
        </p:txBody>
      </p:sp>
      <p:sp>
        <p:nvSpPr>
          <p:cNvPr id="45" name="Shape 43"/>
          <p:cNvSpPr/>
          <p:nvPr/>
        </p:nvSpPr>
        <p:spPr>
          <a:xfrm>
            <a:off x="384048" y="4544568"/>
            <a:ext cx="73152" cy="73152"/>
          </a:xfrm>
          <a:prstGeom prst="ellipse">
            <a:avLst/>
          </a:prstGeom>
          <a:solidFill>
            <a:srgbClr val="7B1FA2"/>
          </a:solidFill>
          <a:ln w="12700">
            <a:solidFill>
              <a:srgbClr val="7B1FA2">
                <a:alpha val="0"/>
              </a:srgbClr>
            </a:solidFill>
            <a:prstDash val="solid"/>
          </a:ln>
        </p:spPr>
        <p:txBody>
          <a:bodyPr/>
          <a:lstStyle/>
          <a:p>
            <a:endParaRPr lang="en-US"/>
          </a:p>
        </p:txBody>
      </p:sp>
      <p:sp>
        <p:nvSpPr>
          <p:cNvPr id="46" name="Text 44"/>
          <p:cNvSpPr/>
          <p:nvPr/>
        </p:nvSpPr>
        <p:spPr>
          <a:xfrm>
            <a:off x="365760" y="4526280"/>
            <a:ext cx="2606040" cy="274320"/>
          </a:xfrm>
          <a:prstGeom prst="rect">
            <a:avLst/>
          </a:prstGeom>
          <a:noFill/>
          <a:ln/>
        </p:spPr>
        <p:txBody>
          <a:bodyPr wrap="square" rtlCol="0" anchor="ctr"/>
          <a:lstStyle/>
          <a:p>
            <a:pPr marL="0" indent="0">
              <a:buNone/>
            </a:pPr>
            <a:r>
              <a:rPr lang="en-US" sz="1050" dirty="0">
                <a:solidFill>
                  <a:srgbClr val="7B1FA2"/>
                </a:solidFill>
                <a:latin typeface="Calibri" pitchFamily="34" charset="0"/>
                <a:ea typeface="Calibri" pitchFamily="34" charset="-122"/>
                <a:cs typeface="Calibri" pitchFamily="34" charset="-120"/>
              </a:rPr>
              <a:t>Empathetic robots  •  Social AI agents  •  Customer service bots</a:t>
            </a:r>
            <a:endParaRPr lang="en-US" sz="1050" dirty="0"/>
          </a:p>
        </p:txBody>
      </p:sp>
      <p:sp>
        <p:nvSpPr>
          <p:cNvPr id="47" name="Shape 45"/>
          <p:cNvSpPr/>
          <p:nvPr/>
        </p:nvSpPr>
        <p:spPr>
          <a:xfrm>
            <a:off x="3227832" y="297180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8" name="Shape 46"/>
          <p:cNvSpPr/>
          <p:nvPr/>
        </p:nvSpPr>
        <p:spPr>
          <a:xfrm>
            <a:off x="3319272" y="3063240"/>
            <a:ext cx="594360" cy="594360"/>
          </a:xfrm>
          <a:prstGeom prst="ellipse">
            <a:avLst/>
          </a:prstGeom>
          <a:solidFill>
            <a:srgbClr val="FFD54F">
              <a:alpha val="60000"/>
            </a:srgbClr>
          </a:solidFill>
          <a:ln w="19050">
            <a:solidFill>
              <a:srgbClr val="FFD54F"/>
            </a:solidFill>
            <a:prstDash val="solid"/>
          </a:ln>
        </p:spPr>
        <p:txBody>
          <a:bodyPr/>
          <a:lstStyle/>
          <a:p>
            <a:endParaRPr lang="en-US"/>
          </a:p>
        </p:txBody>
      </p:sp>
      <p:sp>
        <p:nvSpPr>
          <p:cNvPr id="49" name="Text 47"/>
          <p:cNvSpPr/>
          <p:nvPr/>
        </p:nvSpPr>
        <p:spPr>
          <a:xfrm>
            <a:off x="3319272" y="306324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50" name="Text 48"/>
          <p:cNvSpPr/>
          <p:nvPr/>
        </p:nvSpPr>
        <p:spPr>
          <a:xfrm>
            <a:off x="3977640" y="3081528"/>
            <a:ext cx="1947672" cy="320040"/>
          </a:xfrm>
          <a:prstGeom prst="rect">
            <a:avLst/>
          </a:prstGeom>
          <a:noFill/>
          <a:ln/>
        </p:spPr>
        <p:txBody>
          <a:bodyPr wrap="square" rtlCol="0" anchor="ctr"/>
          <a:lstStyle/>
          <a:p>
            <a:pPr marL="0" indent="0">
              <a:buNone/>
            </a:pPr>
            <a:r>
              <a:rPr lang="en-US" sz="1200" b="1" dirty="0">
                <a:solidFill>
                  <a:srgbClr val="FFD54F"/>
                </a:solidFill>
                <a:latin typeface="Calibri" pitchFamily="34" charset="0"/>
                <a:ea typeface="Calibri" pitchFamily="34" charset="-122"/>
                <a:cs typeface="Calibri" pitchFamily="34" charset="-120"/>
              </a:rPr>
              <a:t>Driver Monitoring</a:t>
            </a:r>
            <a:endParaRPr lang="en-US" sz="1200" dirty="0"/>
          </a:p>
        </p:txBody>
      </p:sp>
      <p:sp>
        <p:nvSpPr>
          <p:cNvPr id="51" name="Text 49"/>
          <p:cNvSpPr/>
          <p:nvPr/>
        </p:nvSpPr>
        <p:spPr>
          <a:xfrm>
            <a:off x="3319272" y="372160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Detect driver fatigue, stress, or distraction in autonomous and smart vehicles to prevent accidents through timely alerts.</a:t>
            </a:r>
            <a:endParaRPr lang="en-US" sz="1050" dirty="0"/>
          </a:p>
        </p:txBody>
      </p:sp>
      <p:sp>
        <p:nvSpPr>
          <p:cNvPr id="52" name="Shape 50"/>
          <p:cNvSpPr/>
          <p:nvPr/>
        </p:nvSpPr>
        <p:spPr>
          <a:xfrm>
            <a:off x="3319272" y="3685032"/>
            <a:ext cx="2606040" cy="27432"/>
          </a:xfrm>
          <a:prstGeom prst="rect">
            <a:avLst/>
          </a:prstGeom>
          <a:solidFill>
            <a:srgbClr val="FFD54F"/>
          </a:solidFill>
          <a:ln w="12700">
            <a:solidFill>
              <a:srgbClr val="FFD54F">
                <a:alpha val="0"/>
              </a:srgbClr>
            </a:solidFill>
            <a:prstDash val="solid"/>
          </a:ln>
        </p:spPr>
        <p:txBody>
          <a:bodyPr/>
          <a:lstStyle/>
          <a:p>
            <a:endParaRPr lang="en-US"/>
          </a:p>
        </p:txBody>
      </p:sp>
      <p:sp>
        <p:nvSpPr>
          <p:cNvPr id="53" name="Shape 51"/>
          <p:cNvSpPr/>
          <p:nvPr/>
        </p:nvSpPr>
        <p:spPr>
          <a:xfrm>
            <a:off x="3337560" y="4526280"/>
            <a:ext cx="73152" cy="73152"/>
          </a:xfrm>
          <a:prstGeom prst="ellipse">
            <a:avLst/>
          </a:prstGeom>
          <a:solidFill>
            <a:srgbClr val="FFD54F"/>
          </a:solidFill>
          <a:ln w="12700">
            <a:solidFill>
              <a:srgbClr val="FFD54F">
                <a:alpha val="0"/>
              </a:srgbClr>
            </a:solidFill>
            <a:prstDash val="solid"/>
          </a:ln>
        </p:spPr>
        <p:txBody>
          <a:bodyPr/>
          <a:lstStyle/>
          <a:p>
            <a:endParaRPr lang="en-US"/>
          </a:p>
        </p:txBody>
      </p:sp>
      <p:sp>
        <p:nvSpPr>
          <p:cNvPr id="54" name="Shape 52"/>
          <p:cNvSpPr/>
          <p:nvPr/>
        </p:nvSpPr>
        <p:spPr>
          <a:xfrm>
            <a:off x="3337560" y="4535424"/>
            <a:ext cx="73152" cy="73152"/>
          </a:xfrm>
          <a:prstGeom prst="ellipse">
            <a:avLst/>
          </a:prstGeom>
          <a:solidFill>
            <a:srgbClr val="FFD54F"/>
          </a:solidFill>
          <a:ln w="12700">
            <a:solidFill>
              <a:srgbClr val="FFD54F">
                <a:alpha val="0"/>
              </a:srgbClr>
            </a:solidFill>
            <a:prstDash val="solid"/>
          </a:ln>
        </p:spPr>
        <p:txBody>
          <a:bodyPr/>
          <a:lstStyle/>
          <a:p>
            <a:endParaRPr lang="en-US"/>
          </a:p>
        </p:txBody>
      </p:sp>
      <p:sp>
        <p:nvSpPr>
          <p:cNvPr id="55" name="Shape 53"/>
          <p:cNvSpPr/>
          <p:nvPr/>
        </p:nvSpPr>
        <p:spPr>
          <a:xfrm>
            <a:off x="3337560" y="4544568"/>
            <a:ext cx="73152" cy="73152"/>
          </a:xfrm>
          <a:prstGeom prst="ellipse">
            <a:avLst/>
          </a:prstGeom>
          <a:solidFill>
            <a:srgbClr val="FFD54F"/>
          </a:solidFill>
          <a:ln w="12700">
            <a:solidFill>
              <a:srgbClr val="FFD54F">
                <a:alpha val="0"/>
              </a:srgbClr>
            </a:solidFill>
            <a:prstDash val="solid"/>
          </a:ln>
        </p:spPr>
        <p:txBody>
          <a:bodyPr/>
          <a:lstStyle/>
          <a:p>
            <a:endParaRPr lang="en-US"/>
          </a:p>
        </p:txBody>
      </p:sp>
      <p:sp>
        <p:nvSpPr>
          <p:cNvPr id="56" name="Text 54"/>
          <p:cNvSpPr/>
          <p:nvPr/>
        </p:nvSpPr>
        <p:spPr>
          <a:xfrm>
            <a:off x="3319272" y="4526280"/>
            <a:ext cx="2606040" cy="274320"/>
          </a:xfrm>
          <a:prstGeom prst="rect">
            <a:avLst/>
          </a:prstGeom>
          <a:noFill/>
          <a:ln/>
        </p:spPr>
        <p:txBody>
          <a:bodyPr wrap="square" rtlCol="0" anchor="ctr"/>
          <a:lstStyle/>
          <a:p>
            <a:pPr marL="0" indent="0">
              <a:buNone/>
            </a:pPr>
            <a:r>
              <a:rPr lang="en-US" sz="1050" dirty="0">
                <a:solidFill>
                  <a:srgbClr val="FFD54F"/>
                </a:solidFill>
                <a:latin typeface="Calibri" pitchFamily="34" charset="0"/>
                <a:ea typeface="Calibri" pitchFamily="34" charset="-122"/>
                <a:cs typeface="Calibri" pitchFamily="34" charset="-120"/>
              </a:rPr>
              <a:t>Drowsiness detection  •  Stress alerts  •  Road safety</a:t>
            </a:r>
            <a:endParaRPr lang="en-US" sz="1050" dirty="0"/>
          </a:p>
        </p:txBody>
      </p:sp>
      <p:sp>
        <p:nvSpPr>
          <p:cNvPr id="57" name="Shape 55"/>
          <p:cNvSpPr/>
          <p:nvPr/>
        </p:nvSpPr>
        <p:spPr>
          <a:xfrm>
            <a:off x="6181344" y="2971800"/>
            <a:ext cx="2788920" cy="1920240"/>
          </a:xfrm>
          <a:prstGeom prst="roundRect">
            <a:avLst>
              <a:gd name="adj" fmla="val 5714"/>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58" name="Shape 56"/>
          <p:cNvSpPr/>
          <p:nvPr/>
        </p:nvSpPr>
        <p:spPr>
          <a:xfrm>
            <a:off x="6272784" y="3063240"/>
            <a:ext cx="594360" cy="594360"/>
          </a:xfrm>
          <a:prstGeom prst="ellipse">
            <a:avLst/>
          </a:prstGeom>
          <a:solidFill>
            <a:srgbClr val="00C853">
              <a:alpha val="60000"/>
            </a:srgbClr>
          </a:solidFill>
          <a:ln w="19050">
            <a:solidFill>
              <a:srgbClr val="00C853"/>
            </a:solidFill>
            <a:prstDash val="solid"/>
          </a:ln>
        </p:spPr>
        <p:txBody>
          <a:bodyPr/>
          <a:lstStyle/>
          <a:p>
            <a:endParaRPr lang="en-US"/>
          </a:p>
        </p:txBody>
      </p:sp>
      <p:sp>
        <p:nvSpPr>
          <p:cNvPr id="59" name="Text 57"/>
          <p:cNvSpPr/>
          <p:nvPr/>
        </p:nvSpPr>
        <p:spPr>
          <a:xfrm>
            <a:off x="6272784" y="3063240"/>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60" name="Text 58"/>
          <p:cNvSpPr/>
          <p:nvPr/>
        </p:nvSpPr>
        <p:spPr>
          <a:xfrm>
            <a:off x="6931152" y="3081528"/>
            <a:ext cx="1947672" cy="320040"/>
          </a:xfrm>
          <a:prstGeom prst="rect">
            <a:avLst/>
          </a:prstGeom>
          <a:noFill/>
          <a:ln/>
        </p:spPr>
        <p:txBody>
          <a:bodyPr wrap="square" rtlCol="0" anchor="ctr"/>
          <a:lstStyle/>
          <a:p>
            <a:pPr marL="0" indent="0">
              <a:buNone/>
            </a:pPr>
            <a:r>
              <a:rPr lang="en-US" sz="1200" b="1" dirty="0">
                <a:solidFill>
                  <a:srgbClr val="00C853"/>
                </a:solidFill>
                <a:latin typeface="Calibri" pitchFamily="34" charset="0"/>
                <a:ea typeface="Calibri" pitchFamily="34" charset="-122"/>
                <a:cs typeface="Calibri" pitchFamily="34" charset="-120"/>
              </a:rPr>
              <a:t>Gaming &amp; AR/VR</a:t>
            </a:r>
            <a:endParaRPr lang="en-US" sz="1200" dirty="0"/>
          </a:p>
        </p:txBody>
      </p:sp>
      <p:sp>
        <p:nvSpPr>
          <p:cNvPr id="61" name="Text 59"/>
          <p:cNvSpPr/>
          <p:nvPr/>
        </p:nvSpPr>
        <p:spPr>
          <a:xfrm>
            <a:off x="6272784" y="3721608"/>
            <a:ext cx="2606040" cy="777240"/>
          </a:xfrm>
          <a:prstGeom prst="rect">
            <a:avLst/>
          </a:prstGeom>
          <a:noFill/>
          <a:ln/>
        </p:spPr>
        <p:txBody>
          <a:bodyPr wrap="square" rtlCol="0" anchor="ctr"/>
          <a:lstStyle/>
          <a:p>
            <a:pPr marL="0" indent="0">
              <a:buNone/>
            </a:pPr>
            <a:r>
              <a:rPr lang="en-US" sz="1050" dirty="0">
                <a:solidFill>
                  <a:srgbClr val="E3F2FD"/>
                </a:solidFill>
                <a:latin typeface="Calibri" pitchFamily="34" charset="0"/>
                <a:ea typeface="Calibri" pitchFamily="34" charset="-122"/>
                <a:cs typeface="Calibri" pitchFamily="34" charset="-120"/>
              </a:rPr>
              <a:t>Adapt game difficulty, generate dynamic content, and create immersive AR/VR experiences based on player emotions.</a:t>
            </a:r>
            <a:endParaRPr lang="en-US" sz="1050" dirty="0"/>
          </a:p>
        </p:txBody>
      </p:sp>
      <p:sp>
        <p:nvSpPr>
          <p:cNvPr id="62" name="Shape 60"/>
          <p:cNvSpPr/>
          <p:nvPr/>
        </p:nvSpPr>
        <p:spPr>
          <a:xfrm>
            <a:off x="6272784" y="3685032"/>
            <a:ext cx="2606040" cy="27432"/>
          </a:xfrm>
          <a:prstGeom prst="rect">
            <a:avLst/>
          </a:prstGeom>
          <a:solidFill>
            <a:srgbClr val="00C853"/>
          </a:solidFill>
          <a:ln w="12700">
            <a:solidFill>
              <a:srgbClr val="00C853">
                <a:alpha val="0"/>
              </a:srgbClr>
            </a:solidFill>
            <a:prstDash val="solid"/>
          </a:ln>
        </p:spPr>
        <p:txBody>
          <a:bodyPr/>
          <a:lstStyle/>
          <a:p>
            <a:endParaRPr lang="en-US"/>
          </a:p>
        </p:txBody>
      </p:sp>
      <p:sp>
        <p:nvSpPr>
          <p:cNvPr id="63" name="Shape 61"/>
          <p:cNvSpPr/>
          <p:nvPr/>
        </p:nvSpPr>
        <p:spPr>
          <a:xfrm>
            <a:off x="6291072" y="4526280"/>
            <a:ext cx="73152" cy="73152"/>
          </a:xfrm>
          <a:prstGeom prst="ellipse">
            <a:avLst/>
          </a:prstGeom>
          <a:solidFill>
            <a:srgbClr val="00C853"/>
          </a:solidFill>
          <a:ln w="12700">
            <a:solidFill>
              <a:srgbClr val="00C853">
                <a:alpha val="0"/>
              </a:srgbClr>
            </a:solidFill>
            <a:prstDash val="solid"/>
          </a:ln>
        </p:spPr>
        <p:txBody>
          <a:bodyPr/>
          <a:lstStyle/>
          <a:p>
            <a:endParaRPr lang="en-US"/>
          </a:p>
        </p:txBody>
      </p:sp>
      <p:sp>
        <p:nvSpPr>
          <p:cNvPr id="64" name="Shape 62"/>
          <p:cNvSpPr/>
          <p:nvPr/>
        </p:nvSpPr>
        <p:spPr>
          <a:xfrm>
            <a:off x="6291072" y="4535424"/>
            <a:ext cx="73152" cy="73152"/>
          </a:xfrm>
          <a:prstGeom prst="ellipse">
            <a:avLst/>
          </a:prstGeom>
          <a:solidFill>
            <a:srgbClr val="00C853"/>
          </a:solidFill>
          <a:ln w="12700">
            <a:solidFill>
              <a:srgbClr val="00C853">
                <a:alpha val="0"/>
              </a:srgbClr>
            </a:solidFill>
            <a:prstDash val="solid"/>
          </a:ln>
        </p:spPr>
        <p:txBody>
          <a:bodyPr/>
          <a:lstStyle/>
          <a:p>
            <a:endParaRPr lang="en-US"/>
          </a:p>
        </p:txBody>
      </p:sp>
      <p:sp>
        <p:nvSpPr>
          <p:cNvPr id="65" name="Shape 63"/>
          <p:cNvSpPr/>
          <p:nvPr/>
        </p:nvSpPr>
        <p:spPr>
          <a:xfrm>
            <a:off x="6291072" y="4544568"/>
            <a:ext cx="73152" cy="73152"/>
          </a:xfrm>
          <a:prstGeom prst="ellipse">
            <a:avLst/>
          </a:prstGeom>
          <a:solidFill>
            <a:srgbClr val="00C853"/>
          </a:solidFill>
          <a:ln w="12700">
            <a:solidFill>
              <a:srgbClr val="00C853">
                <a:alpha val="0"/>
              </a:srgbClr>
            </a:solidFill>
            <a:prstDash val="solid"/>
          </a:ln>
        </p:spPr>
        <p:txBody>
          <a:bodyPr/>
          <a:lstStyle/>
          <a:p>
            <a:endParaRPr lang="en-US"/>
          </a:p>
        </p:txBody>
      </p:sp>
      <p:sp>
        <p:nvSpPr>
          <p:cNvPr id="66" name="Text 64"/>
          <p:cNvSpPr/>
          <p:nvPr/>
        </p:nvSpPr>
        <p:spPr>
          <a:xfrm>
            <a:off x="6272784" y="4526280"/>
            <a:ext cx="2606040" cy="274320"/>
          </a:xfrm>
          <a:prstGeom prst="rect">
            <a:avLst/>
          </a:prstGeom>
          <a:noFill/>
          <a:ln/>
        </p:spPr>
        <p:txBody>
          <a:bodyPr wrap="square" rtlCol="0" anchor="ctr"/>
          <a:lstStyle/>
          <a:p>
            <a:pPr marL="0" indent="0">
              <a:buNone/>
            </a:pPr>
            <a:r>
              <a:rPr lang="en-US" sz="1050" dirty="0">
                <a:solidFill>
                  <a:srgbClr val="00C853"/>
                </a:solidFill>
                <a:latin typeface="Calibri" pitchFamily="34" charset="0"/>
                <a:ea typeface="Calibri" pitchFamily="34" charset="-122"/>
                <a:cs typeface="Calibri" pitchFamily="34" charset="-120"/>
              </a:rPr>
              <a:t>Adaptive difficulty  •  Emotion-driven narrative  •  Immersive experiences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0A0E27"/>
        </a:solidFill>
        <a:effectLst/>
      </p:bgPr>
    </p:bg>
    <p:spTree>
      <p:nvGrpSpPr>
        <p:cNvPr id="1" name=""/>
        <p:cNvGrpSpPr/>
        <p:nvPr/>
      </p:nvGrpSpPr>
      <p:grpSpPr>
        <a:xfrm>
          <a:off x="0" y="0"/>
          <a:ext cx="0" cy="0"/>
          <a:chOff x="0" y="0"/>
          <a:chExt cx="0" cy="0"/>
        </a:xfrm>
      </p:grpSpPr>
      <p:sp>
        <p:nvSpPr>
          <p:cNvPr id="4" name="Text 2"/>
          <p:cNvSpPr/>
          <p:nvPr/>
        </p:nvSpPr>
        <p:spPr>
          <a:xfrm>
            <a:off x="365760" y="182880"/>
            <a:ext cx="8412480" cy="502920"/>
          </a:xfrm>
          <a:prstGeom prst="rect">
            <a:avLst/>
          </a:prstGeom>
          <a:noFill/>
          <a:ln/>
        </p:spPr>
        <p:txBody>
          <a:bodyPr wrap="square" rtlCol="0" anchor="ctr"/>
          <a:lstStyle/>
          <a:p>
            <a:pPr marL="0" indent="0">
              <a:buNone/>
            </a:pPr>
            <a:r>
              <a:rPr lang="en-US" sz="2800" b="1" dirty="0">
                <a:solidFill>
                  <a:srgbClr val="FFFFFF"/>
                </a:solidFill>
                <a:latin typeface="Sitka Display Semibold" pitchFamily="2" charset="0"/>
                <a:ea typeface="Trebuchet MS" pitchFamily="34" charset="-122"/>
                <a:cs typeface="Trebuchet MS" pitchFamily="34" charset="-120"/>
              </a:rPr>
              <a:t>Conclusion</a:t>
            </a:r>
            <a:r>
              <a:rPr lang="en-US" sz="2800" b="1" dirty="0">
                <a:solidFill>
                  <a:srgbClr val="FFFFFF"/>
                </a:solidFill>
                <a:latin typeface="Trebuchet MS" pitchFamily="34" charset="0"/>
                <a:ea typeface="Trebuchet MS" pitchFamily="34" charset="-122"/>
                <a:cs typeface="Trebuchet MS" pitchFamily="34" charset="-120"/>
              </a:rPr>
              <a:t> &amp; Future Work</a:t>
            </a:r>
            <a:endParaRPr lang="en-US" sz="2800" dirty="0"/>
          </a:p>
        </p:txBody>
      </p:sp>
      <p:sp>
        <p:nvSpPr>
          <p:cNvPr id="5" name="Shape 3"/>
          <p:cNvSpPr/>
          <p:nvPr/>
        </p:nvSpPr>
        <p:spPr>
          <a:xfrm>
            <a:off x="365760" y="713232"/>
            <a:ext cx="841248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6" name="Text 4"/>
          <p:cNvSpPr/>
          <p:nvPr/>
        </p:nvSpPr>
        <p:spPr>
          <a:xfrm>
            <a:off x="365760" y="822960"/>
            <a:ext cx="4297680" cy="292608"/>
          </a:xfrm>
          <a:prstGeom prst="rect">
            <a:avLst/>
          </a:prstGeom>
          <a:noFill/>
          <a:ln/>
        </p:spPr>
        <p:txBody>
          <a:bodyPr wrap="square" rtlCol="0" anchor="ctr"/>
          <a:lstStyle/>
          <a:p>
            <a:pPr marL="0" indent="0">
              <a:buNone/>
            </a:pPr>
            <a:r>
              <a:rPr lang="en-US" sz="1300" b="1" dirty="0">
                <a:solidFill>
                  <a:srgbClr val="00C853"/>
                </a:solidFill>
                <a:latin typeface="Calibri" pitchFamily="34" charset="0"/>
                <a:ea typeface="Calibri" pitchFamily="34" charset="-122"/>
                <a:cs typeface="Calibri" pitchFamily="34" charset="-120"/>
              </a:rPr>
              <a:t>✅ Project Achievements</a:t>
            </a:r>
            <a:endParaRPr lang="en-US" sz="1300" dirty="0"/>
          </a:p>
        </p:txBody>
      </p:sp>
      <p:sp>
        <p:nvSpPr>
          <p:cNvPr id="7" name="Shape 5"/>
          <p:cNvSpPr/>
          <p:nvPr/>
        </p:nvSpPr>
        <p:spPr>
          <a:xfrm>
            <a:off x="411480" y="1161288"/>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8" name="Text 6"/>
          <p:cNvSpPr/>
          <p:nvPr/>
        </p:nvSpPr>
        <p:spPr>
          <a:xfrm>
            <a:off x="411480" y="1161288"/>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9" name="Text 7"/>
          <p:cNvSpPr/>
          <p:nvPr/>
        </p:nvSpPr>
        <p:spPr>
          <a:xfrm>
            <a:off x="658368" y="1069848"/>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Successfully detected 7 emotions using MobileNetV2 + transfer learning</a:t>
            </a:r>
            <a:endParaRPr lang="en-US" sz="1100" dirty="0"/>
          </a:p>
        </p:txBody>
      </p:sp>
      <p:sp>
        <p:nvSpPr>
          <p:cNvPr id="10" name="Shape 8"/>
          <p:cNvSpPr/>
          <p:nvPr/>
        </p:nvSpPr>
        <p:spPr>
          <a:xfrm>
            <a:off x="411480" y="1600200"/>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11" name="Text 9"/>
          <p:cNvSpPr/>
          <p:nvPr/>
        </p:nvSpPr>
        <p:spPr>
          <a:xfrm>
            <a:off x="411480" y="1600200"/>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658368" y="1508760"/>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Achieved 78% accuracy on FER2013 benchmark dataset</a:t>
            </a:r>
            <a:endParaRPr lang="en-US" sz="1100" dirty="0"/>
          </a:p>
        </p:txBody>
      </p:sp>
      <p:sp>
        <p:nvSpPr>
          <p:cNvPr id="13" name="Shape 11"/>
          <p:cNvSpPr/>
          <p:nvPr/>
        </p:nvSpPr>
        <p:spPr>
          <a:xfrm>
            <a:off x="411480" y="2039112"/>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14" name="Text 12"/>
          <p:cNvSpPr/>
          <p:nvPr/>
        </p:nvSpPr>
        <p:spPr>
          <a:xfrm>
            <a:off x="411480" y="2039112"/>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15" name="Text 13"/>
          <p:cNvSpPr/>
          <p:nvPr/>
        </p:nvSpPr>
        <p:spPr>
          <a:xfrm>
            <a:off x="658368" y="1947672"/>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Deployed lightweight 15MB model with 18ms real-time inference</a:t>
            </a:r>
            <a:endParaRPr lang="en-US" sz="1100" dirty="0"/>
          </a:p>
        </p:txBody>
      </p:sp>
      <p:sp>
        <p:nvSpPr>
          <p:cNvPr id="16" name="Shape 14"/>
          <p:cNvSpPr/>
          <p:nvPr/>
        </p:nvSpPr>
        <p:spPr>
          <a:xfrm>
            <a:off x="411480" y="2478024"/>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17" name="Text 15"/>
          <p:cNvSpPr/>
          <p:nvPr/>
        </p:nvSpPr>
        <p:spPr>
          <a:xfrm>
            <a:off x="411480" y="2478024"/>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18" name="Text 16"/>
          <p:cNvSpPr/>
          <p:nvPr/>
        </p:nvSpPr>
        <p:spPr>
          <a:xfrm>
            <a:off x="658368" y="2386584"/>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Built full-stack web app: React.js frontend + Flask REST API</a:t>
            </a:r>
            <a:endParaRPr lang="en-US" sz="1100" dirty="0"/>
          </a:p>
        </p:txBody>
      </p:sp>
      <p:sp>
        <p:nvSpPr>
          <p:cNvPr id="19" name="Shape 17"/>
          <p:cNvSpPr/>
          <p:nvPr/>
        </p:nvSpPr>
        <p:spPr>
          <a:xfrm>
            <a:off x="411480" y="2916936"/>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20" name="Text 18"/>
          <p:cNvSpPr/>
          <p:nvPr/>
        </p:nvSpPr>
        <p:spPr>
          <a:xfrm>
            <a:off x="411480" y="2916936"/>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658368" y="2825496"/>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Implemented face detection pipeline using OpenCV Haar Cascade</a:t>
            </a:r>
            <a:endParaRPr lang="en-US" sz="1100" dirty="0"/>
          </a:p>
        </p:txBody>
      </p:sp>
      <p:sp>
        <p:nvSpPr>
          <p:cNvPr id="22" name="Shape 20"/>
          <p:cNvSpPr/>
          <p:nvPr/>
        </p:nvSpPr>
        <p:spPr>
          <a:xfrm>
            <a:off x="411480" y="3355848"/>
            <a:ext cx="182880" cy="182880"/>
          </a:xfrm>
          <a:prstGeom prst="ellipse">
            <a:avLst/>
          </a:prstGeom>
          <a:solidFill>
            <a:srgbClr val="00C853">
              <a:alpha val="80000"/>
            </a:srgbClr>
          </a:solidFill>
          <a:ln w="12700">
            <a:solidFill>
              <a:srgbClr val="00C853"/>
            </a:solidFill>
            <a:prstDash val="solid"/>
          </a:ln>
        </p:spPr>
        <p:txBody>
          <a:bodyPr/>
          <a:lstStyle/>
          <a:p>
            <a:endParaRPr lang="en-US"/>
          </a:p>
        </p:txBody>
      </p:sp>
      <p:sp>
        <p:nvSpPr>
          <p:cNvPr id="23" name="Text 21"/>
          <p:cNvSpPr/>
          <p:nvPr/>
        </p:nvSpPr>
        <p:spPr>
          <a:xfrm>
            <a:off x="411480" y="3355848"/>
            <a:ext cx="182880" cy="182880"/>
          </a:xfrm>
          <a:prstGeom prst="rect">
            <a:avLst/>
          </a:prstGeom>
          <a:noFill/>
          <a:ln/>
        </p:spPr>
        <p:txBody>
          <a:bodyPr wrap="square" rtlCol="0" anchor="ctr"/>
          <a:lstStyle/>
          <a:p>
            <a:pPr marL="0" indent="0" algn="ctr">
              <a:buNone/>
            </a:pPr>
            <a:r>
              <a:rPr lang="en-US" sz="900" b="1" dirty="0">
                <a:solidFill>
                  <a:srgbClr val="00C853"/>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658368" y="3264408"/>
            <a:ext cx="4187952" cy="438912"/>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Integrated SQLite database for detection history and analytics</a:t>
            </a:r>
            <a:endParaRPr lang="en-US" sz="1100" dirty="0"/>
          </a:p>
        </p:txBody>
      </p:sp>
      <p:sp>
        <p:nvSpPr>
          <p:cNvPr id="25" name="Text 23"/>
          <p:cNvSpPr/>
          <p:nvPr/>
        </p:nvSpPr>
        <p:spPr>
          <a:xfrm>
            <a:off x="4846320" y="822960"/>
            <a:ext cx="4023360" cy="292608"/>
          </a:xfrm>
          <a:prstGeom prst="rect">
            <a:avLst/>
          </a:prstGeom>
          <a:noFill/>
          <a:ln/>
        </p:spPr>
        <p:txBody>
          <a:bodyPr wrap="square" rtlCol="0" anchor="ctr"/>
          <a:lstStyle/>
          <a:p>
            <a:pPr marL="0" indent="0">
              <a:buNone/>
            </a:pPr>
            <a:r>
              <a:rPr lang="en-US" sz="1300" b="1" dirty="0">
                <a:solidFill>
                  <a:srgbClr val="00BCD4"/>
                </a:solidFill>
                <a:latin typeface="Calibri" pitchFamily="34" charset="0"/>
                <a:ea typeface="Calibri" pitchFamily="34" charset="-122"/>
                <a:cs typeface="Calibri" pitchFamily="34" charset="-120"/>
              </a:rPr>
              <a:t>🚀 Future Roadmap</a:t>
            </a:r>
            <a:endParaRPr lang="en-US" sz="1300" dirty="0"/>
          </a:p>
        </p:txBody>
      </p:sp>
      <p:sp>
        <p:nvSpPr>
          <p:cNvPr id="26" name="Shape 24"/>
          <p:cNvSpPr/>
          <p:nvPr/>
        </p:nvSpPr>
        <p:spPr>
          <a:xfrm>
            <a:off x="5166360" y="1261872"/>
            <a:ext cx="36576" cy="3291840"/>
          </a:xfrm>
          <a:prstGeom prst="rect">
            <a:avLst/>
          </a:prstGeom>
          <a:solidFill>
            <a:srgbClr val="00BCD4">
              <a:alpha val="40000"/>
            </a:srgbClr>
          </a:solidFill>
          <a:ln w="12700">
            <a:solidFill>
              <a:srgbClr val="00BCD4">
                <a:alpha val="0"/>
              </a:srgbClr>
            </a:solidFill>
            <a:prstDash val="solid"/>
          </a:ln>
        </p:spPr>
        <p:txBody>
          <a:bodyPr/>
          <a:lstStyle/>
          <a:p>
            <a:endParaRPr lang="en-US"/>
          </a:p>
        </p:txBody>
      </p:sp>
      <p:sp>
        <p:nvSpPr>
          <p:cNvPr id="27" name="Shape 25"/>
          <p:cNvSpPr/>
          <p:nvPr/>
        </p:nvSpPr>
        <p:spPr>
          <a:xfrm>
            <a:off x="5102352" y="1170432"/>
            <a:ext cx="164592" cy="347472"/>
          </a:xfrm>
          <a:prstGeom prst="ellipse">
            <a:avLst/>
          </a:prstGeom>
          <a:solidFill>
            <a:srgbClr val="1E88E5"/>
          </a:solidFill>
          <a:ln w="12700">
            <a:solidFill>
              <a:srgbClr val="1E88E5">
                <a:alpha val="0"/>
              </a:srgbClr>
            </a:solidFill>
            <a:prstDash val="solid"/>
          </a:ln>
        </p:spPr>
        <p:txBody>
          <a:bodyPr/>
          <a:lstStyle/>
          <a:p>
            <a:endParaRPr lang="en-US"/>
          </a:p>
        </p:txBody>
      </p:sp>
      <p:sp>
        <p:nvSpPr>
          <p:cNvPr id="28" name="Text 26"/>
          <p:cNvSpPr/>
          <p:nvPr/>
        </p:nvSpPr>
        <p:spPr>
          <a:xfrm>
            <a:off x="5321808" y="1216152"/>
            <a:ext cx="685800" cy="201168"/>
          </a:xfrm>
          <a:prstGeom prst="rect">
            <a:avLst/>
          </a:prstGeom>
          <a:noFill/>
          <a:ln/>
        </p:spPr>
        <p:txBody>
          <a:bodyPr wrap="square" rtlCol="0" anchor="ctr"/>
          <a:lstStyle/>
          <a:p>
            <a:pPr marL="0" indent="0">
              <a:buNone/>
            </a:pPr>
            <a:r>
              <a:rPr lang="en-US" sz="1000" b="1" dirty="0">
                <a:solidFill>
                  <a:srgbClr val="1E88E5"/>
                </a:solidFill>
                <a:latin typeface="Consolas" pitchFamily="34" charset="0"/>
                <a:ea typeface="Consolas" pitchFamily="34" charset="-122"/>
                <a:cs typeface="Consolas" pitchFamily="34" charset="-120"/>
              </a:rPr>
              <a:t>Phase 1</a:t>
            </a:r>
            <a:endParaRPr lang="en-US" sz="1000" dirty="0"/>
          </a:p>
        </p:txBody>
      </p:sp>
      <p:sp>
        <p:nvSpPr>
          <p:cNvPr id="29" name="Shape 27"/>
          <p:cNvSpPr/>
          <p:nvPr/>
        </p:nvSpPr>
        <p:spPr>
          <a:xfrm>
            <a:off x="6035040" y="1170432"/>
            <a:ext cx="2788920" cy="804672"/>
          </a:xfrm>
          <a:prstGeom prst="roundRect">
            <a:avLst>
              <a:gd name="adj" fmla="val 13636"/>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0" name="Text 28"/>
          <p:cNvSpPr/>
          <p:nvPr/>
        </p:nvSpPr>
        <p:spPr>
          <a:xfrm>
            <a:off x="6126480" y="1216152"/>
            <a:ext cx="2606040" cy="256032"/>
          </a:xfrm>
          <a:prstGeom prst="rect">
            <a:avLst/>
          </a:prstGeom>
          <a:noFill/>
          <a:ln/>
        </p:spPr>
        <p:txBody>
          <a:bodyPr wrap="square" rtlCol="0" anchor="ctr"/>
          <a:lstStyle/>
          <a:p>
            <a:pPr marL="0" indent="0">
              <a:buNone/>
            </a:pPr>
            <a:r>
              <a:rPr lang="en-US" sz="1100" b="1" dirty="0">
                <a:solidFill>
                  <a:srgbClr val="1E88E5"/>
                </a:solidFill>
                <a:latin typeface="Calibri" pitchFamily="34" charset="0"/>
                <a:ea typeface="Calibri" pitchFamily="34" charset="-122"/>
                <a:cs typeface="Calibri" pitchFamily="34" charset="-120"/>
              </a:rPr>
              <a:t>Mobile App</a:t>
            </a:r>
            <a:endParaRPr lang="en-US" sz="1100" dirty="0"/>
          </a:p>
        </p:txBody>
      </p:sp>
      <p:sp>
        <p:nvSpPr>
          <p:cNvPr id="31" name="Text 29"/>
          <p:cNvSpPr/>
          <p:nvPr/>
        </p:nvSpPr>
        <p:spPr>
          <a:xfrm>
            <a:off x="6126480" y="1490472"/>
            <a:ext cx="2606040" cy="41148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Deploy as native iOS &amp; Android app using TFLite</a:t>
            </a:r>
            <a:endParaRPr lang="en-US" sz="1100" dirty="0"/>
          </a:p>
        </p:txBody>
      </p:sp>
      <p:sp>
        <p:nvSpPr>
          <p:cNvPr id="32" name="Shape 30"/>
          <p:cNvSpPr/>
          <p:nvPr/>
        </p:nvSpPr>
        <p:spPr>
          <a:xfrm>
            <a:off x="5102352" y="2084832"/>
            <a:ext cx="164592" cy="347472"/>
          </a:xfrm>
          <a:prstGeom prst="ellipse">
            <a:avLst/>
          </a:prstGeom>
          <a:solidFill>
            <a:srgbClr val="00BCD4"/>
          </a:solidFill>
          <a:ln w="12700">
            <a:solidFill>
              <a:srgbClr val="00BCD4">
                <a:alpha val="0"/>
              </a:srgbClr>
            </a:solidFill>
            <a:prstDash val="solid"/>
          </a:ln>
        </p:spPr>
        <p:txBody>
          <a:bodyPr/>
          <a:lstStyle/>
          <a:p>
            <a:endParaRPr lang="en-US"/>
          </a:p>
        </p:txBody>
      </p:sp>
      <p:sp>
        <p:nvSpPr>
          <p:cNvPr id="33" name="Text 31"/>
          <p:cNvSpPr/>
          <p:nvPr/>
        </p:nvSpPr>
        <p:spPr>
          <a:xfrm>
            <a:off x="5321808" y="2130552"/>
            <a:ext cx="685800" cy="201168"/>
          </a:xfrm>
          <a:prstGeom prst="rect">
            <a:avLst/>
          </a:prstGeom>
          <a:noFill/>
          <a:ln/>
        </p:spPr>
        <p:txBody>
          <a:bodyPr wrap="square" rtlCol="0" anchor="ctr"/>
          <a:lstStyle/>
          <a:p>
            <a:pPr marL="0" indent="0">
              <a:buNone/>
            </a:pPr>
            <a:r>
              <a:rPr lang="en-US" sz="1000" b="1" dirty="0">
                <a:solidFill>
                  <a:srgbClr val="00BCD4"/>
                </a:solidFill>
                <a:latin typeface="Consolas" pitchFamily="34" charset="0"/>
                <a:ea typeface="Consolas" pitchFamily="34" charset="-122"/>
                <a:cs typeface="Consolas" pitchFamily="34" charset="-120"/>
              </a:rPr>
              <a:t>Phase 2</a:t>
            </a:r>
            <a:endParaRPr lang="en-US" sz="1000" dirty="0"/>
          </a:p>
        </p:txBody>
      </p:sp>
      <p:sp>
        <p:nvSpPr>
          <p:cNvPr id="34" name="Shape 32"/>
          <p:cNvSpPr/>
          <p:nvPr/>
        </p:nvSpPr>
        <p:spPr>
          <a:xfrm>
            <a:off x="6035040" y="2084832"/>
            <a:ext cx="2788920" cy="804672"/>
          </a:xfrm>
          <a:prstGeom prst="roundRect">
            <a:avLst>
              <a:gd name="adj" fmla="val 13636"/>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5" name="Text 33"/>
          <p:cNvSpPr/>
          <p:nvPr/>
        </p:nvSpPr>
        <p:spPr>
          <a:xfrm>
            <a:off x="6126480" y="2130552"/>
            <a:ext cx="2606040" cy="256032"/>
          </a:xfrm>
          <a:prstGeom prst="rect">
            <a:avLst/>
          </a:prstGeom>
          <a:noFill/>
          <a:ln/>
        </p:spPr>
        <p:txBody>
          <a:bodyPr wrap="square"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Cloud Deploy</a:t>
            </a:r>
            <a:endParaRPr lang="en-US" sz="1100" dirty="0"/>
          </a:p>
        </p:txBody>
      </p:sp>
      <p:sp>
        <p:nvSpPr>
          <p:cNvPr id="36" name="Text 34"/>
          <p:cNvSpPr/>
          <p:nvPr/>
        </p:nvSpPr>
        <p:spPr>
          <a:xfrm>
            <a:off x="6126480" y="2404872"/>
            <a:ext cx="2606040" cy="41148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Host on AWS/GCP with Docker containerization</a:t>
            </a:r>
            <a:endParaRPr lang="en-US" sz="1100" dirty="0"/>
          </a:p>
        </p:txBody>
      </p:sp>
      <p:sp>
        <p:nvSpPr>
          <p:cNvPr id="37" name="Shape 35"/>
          <p:cNvSpPr/>
          <p:nvPr/>
        </p:nvSpPr>
        <p:spPr>
          <a:xfrm>
            <a:off x="5102352" y="2999232"/>
            <a:ext cx="164592" cy="347472"/>
          </a:xfrm>
          <a:prstGeom prst="ellipse">
            <a:avLst/>
          </a:prstGeom>
          <a:solidFill>
            <a:srgbClr val="7B1FA2"/>
          </a:solidFill>
          <a:ln w="12700">
            <a:solidFill>
              <a:srgbClr val="7B1FA2">
                <a:alpha val="0"/>
              </a:srgbClr>
            </a:solidFill>
            <a:prstDash val="solid"/>
          </a:ln>
        </p:spPr>
        <p:txBody>
          <a:bodyPr/>
          <a:lstStyle/>
          <a:p>
            <a:endParaRPr lang="en-US"/>
          </a:p>
        </p:txBody>
      </p:sp>
      <p:sp>
        <p:nvSpPr>
          <p:cNvPr id="38" name="Text 36"/>
          <p:cNvSpPr/>
          <p:nvPr/>
        </p:nvSpPr>
        <p:spPr>
          <a:xfrm>
            <a:off x="5321808" y="3044952"/>
            <a:ext cx="685800" cy="201168"/>
          </a:xfrm>
          <a:prstGeom prst="rect">
            <a:avLst/>
          </a:prstGeom>
          <a:noFill/>
          <a:ln/>
        </p:spPr>
        <p:txBody>
          <a:bodyPr wrap="square" rtlCol="0" anchor="ctr"/>
          <a:lstStyle/>
          <a:p>
            <a:pPr marL="0" indent="0">
              <a:buNone/>
            </a:pPr>
            <a:r>
              <a:rPr lang="en-US" sz="1000" b="1" dirty="0">
                <a:solidFill>
                  <a:srgbClr val="7B1FA2"/>
                </a:solidFill>
                <a:latin typeface="Consolas" pitchFamily="34" charset="0"/>
                <a:ea typeface="Consolas" pitchFamily="34" charset="-122"/>
                <a:cs typeface="Consolas" pitchFamily="34" charset="-120"/>
              </a:rPr>
              <a:t>Phase 3</a:t>
            </a:r>
            <a:endParaRPr lang="en-US" sz="1000" dirty="0"/>
          </a:p>
        </p:txBody>
      </p:sp>
      <p:sp>
        <p:nvSpPr>
          <p:cNvPr id="39" name="Shape 37"/>
          <p:cNvSpPr/>
          <p:nvPr/>
        </p:nvSpPr>
        <p:spPr>
          <a:xfrm>
            <a:off x="6035040" y="2999232"/>
            <a:ext cx="2788920" cy="804672"/>
          </a:xfrm>
          <a:prstGeom prst="roundRect">
            <a:avLst>
              <a:gd name="adj" fmla="val 13636"/>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0" name="Text 38"/>
          <p:cNvSpPr/>
          <p:nvPr/>
        </p:nvSpPr>
        <p:spPr>
          <a:xfrm>
            <a:off x="6126480" y="3044952"/>
            <a:ext cx="2606040" cy="256032"/>
          </a:xfrm>
          <a:prstGeom prst="rect">
            <a:avLst/>
          </a:prstGeom>
          <a:noFill/>
          <a:ln/>
        </p:spPr>
        <p:txBody>
          <a:bodyPr wrap="square" rtlCol="0" anchor="ctr"/>
          <a:lstStyle/>
          <a:p>
            <a:pPr marL="0" indent="0">
              <a:buNone/>
            </a:pPr>
            <a:r>
              <a:rPr lang="en-US" sz="1100" b="1" dirty="0">
                <a:solidFill>
                  <a:srgbClr val="7B1FA2"/>
                </a:solidFill>
                <a:latin typeface="Calibri" pitchFamily="34" charset="0"/>
                <a:ea typeface="Calibri" pitchFamily="34" charset="-122"/>
                <a:cs typeface="Calibri" pitchFamily="34" charset="-120"/>
              </a:rPr>
              <a:t>Multi-Face</a:t>
            </a:r>
            <a:endParaRPr lang="en-US" sz="1100" dirty="0"/>
          </a:p>
        </p:txBody>
      </p:sp>
      <p:sp>
        <p:nvSpPr>
          <p:cNvPr id="41" name="Text 39"/>
          <p:cNvSpPr/>
          <p:nvPr/>
        </p:nvSpPr>
        <p:spPr>
          <a:xfrm>
            <a:off x="6126480" y="3319272"/>
            <a:ext cx="2606040" cy="41148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Detect multiple faces simultaneously in one frame</a:t>
            </a:r>
            <a:endParaRPr lang="en-US" sz="1100" dirty="0"/>
          </a:p>
        </p:txBody>
      </p:sp>
      <p:sp>
        <p:nvSpPr>
          <p:cNvPr id="42" name="Shape 40"/>
          <p:cNvSpPr/>
          <p:nvPr/>
        </p:nvSpPr>
        <p:spPr>
          <a:xfrm>
            <a:off x="5102352" y="3913632"/>
            <a:ext cx="164592" cy="347472"/>
          </a:xfrm>
          <a:prstGeom prst="ellipse">
            <a:avLst/>
          </a:prstGeom>
          <a:solidFill>
            <a:srgbClr val="00C853"/>
          </a:solidFill>
          <a:ln w="12700">
            <a:solidFill>
              <a:srgbClr val="00C853">
                <a:alpha val="0"/>
              </a:srgbClr>
            </a:solidFill>
            <a:prstDash val="solid"/>
          </a:ln>
        </p:spPr>
        <p:txBody>
          <a:bodyPr/>
          <a:lstStyle/>
          <a:p>
            <a:endParaRPr lang="en-US"/>
          </a:p>
        </p:txBody>
      </p:sp>
      <p:sp>
        <p:nvSpPr>
          <p:cNvPr id="43" name="Text 41"/>
          <p:cNvSpPr/>
          <p:nvPr/>
        </p:nvSpPr>
        <p:spPr>
          <a:xfrm>
            <a:off x="5321808" y="3959352"/>
            <a:ext cx="685800" cy="201168"/>
          </a:xfrm>
          <a:prstGeom prst="rect">
            <a:avLst/>
          </a:prstGeom>
          <a:noFill/>
          <a:ln/>
        </p:spPr>
        <p:txBody>
          <a:bodyPr wrap="square" rtlCol="0" anchor="ctr"/>
          <a:lstStyle/>
          <a:p>
            <a:pPr marL="0" indent="0">
              <a:buNone/>
            </a:pPr>
            <a:r>
              <a:rPr lang="en-US" sz="1000" b="1" dirty="0">
                <a:solidFill>
                  <a:srgbClr val="00C853"/>
                </a:solidFill>
                <a:latin typeface="Consolas" pitchFamily="34" charset="0"/>
                <a:ea typeface="Consolas" pitchFamily="34" charset="-122"/>
                <a:cs typeface="Consolas" pitchFamily="34" charset="-120"/>
              </a:rPr>
              <a:t>Phase 4</a:t>
            </a:r>
            <a:endParaRPr lang="en-US" sz="1000" dirty="0"/>
          </a:p>
        </p:txBody>
      </p:sp>
      <p:sp>
        <p:nvSpPr>
          <p:cNvPr id="44" name="Shape 42"/>
          <p:cNvSpPr/>
          <p:nvPr/>
        </p:nvSpPr>
        <p:spPr>
          <a:xfrm>
            <a:off x="6035040" y="3913632"/>
            <a:ext cx="2788920" cy="804672"/>
          </a:xfrm>
          <a:prstGeom prst="roundRect">
            <a:avLst>
              <a:gd name="adj" fmla="val 13636"/>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5" name="Text 43"/>
          <p:cNvSpPr/>
          <p:nvPr/>
        </p:nvSpPr>
        <p:spPr>
          <a:xfrm>
            <a:off x="6126480" y="3959352"/>
            <a:ext cx="2606040" cy="256032"/>
          </a:xfrm>
          <a:prstGeom prst="rect">
            <a:avLst/>
          </a:prstGeom>
          <a:noFill/>
          <a:ln/>
        </p:spPr>
        <p:txBody>
          <a:bodyPr wrap="square" rtlCol="0" anchor="ctr"/>
          <a:lstStyle/>
          <a:p>
            <a:pPr marL="0" indent="0">
              <a:buNone/>
            </a:pPr>
            <a:r>
              <a:rPr lang="en-US" sz="1100" b="1" dirty="0">
                <a:solidFill>
                  <a:srgbClr val="00C853"/>
                </a:solidFill>
                <a:latin typeface="Calibri" pitchFamily="34" charset="0"/>
                <a:ea typeface="Calibri" pitchFamily="34" charset="-122"/>
                <a:cs typeface="Calibri" pitchFamily="34" charset="-120"/>
              </a:rPr>
              <a:t>&gt;85% Accuracy</a:t>
            </a:r>
            <a:endParaRPr lang="en-US" sz="1100" dirty="0"/>
          </a:p>
        </p:txBody>
      </p:sp>
      <p:sp>
        <p:nvSpPr>
          <p:cNvPr id="46" name="Text 44"/>
          <p:cNvSpPr/>
          <p:nvPr/>
        </p:nvSpPr>
        <p:spPr>
          <a:xfrm>
            <a:off x="6126480" y="4233672"/>
            <a:ext cx="2606040" cy="411480"/>
          </a:xfrm>
          <a:prstGeom prst="rect">
            <a:avLst/>
          </a:prstGeom>
          <a:noFill/>
          <a:ln/>
        </p:spPr>
        <p:txBody>
          <a:bodyPr wrap="square" rtlCol="0" anchor="ctr"/>
          <a:lstStyle/>
          <a:p>
            <a:pPr marL="0" indent="0">
              <a:buNone/>
            </a:pPr>
            <a:r>
              <a:rPr lang="en-US" sz="1100" dirty="0">
                <a:solidFill>
                  <a:srgbClr val="E3F2FD"/>
                </a:solidFill>
                <a:latin typeface="Calibri" pitchFamily="34" charset="0"/>
                <a:ea typeface="Calibri" pitchFamily="34" charset="-122"/>
                <a:cs typeface="Calibri" pitchFamily="34" charset="-120"/>
              </a:rPr>
              <a:t>Retrain with larger datasets &amp; advanced architectures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0A0E27"/>
        </a:solidFill>
        <a:effectLst/>
      </p:bgPr>
    </p:bg>
    <p:spTree>
      <p:nvGrpSpPr>
        <p:cNvPr id="1" name=""/>
        <p:cNvGrpSpPr/>
        <p:nvPr/>
      </p:nvGrpSpPr>
      <p:grpSpPr>
        <a:xfrm>
          <a:off x="0" y="0"/>
          <a:ext cx="0" cy="0"/>
          <a:chOff x="0" y="0"/>
          <a:chExt cx="0" cy="0"/>
        </a:xfrm>
      </p:grpSpPr>
      <p:sp>
        <p:nvSpPr>
          <p:cNvPr id="3" name="Shape 1"/>
          <p:cNvSpPr/>
          <p:nvPr/>
        </p:nvSpPr>
        <p:spPr>
          <a:xfrm>
            <a:off x="2743200" y="914400"/>
            <a:ext cx="3657600" cy="3657600"/>
          </a:xfrm>
          <a:prstGeom prst="ellipse">
            <a:avLst/>
          </a:prstGeom>
          <a:solidFill>
            <a:srgbClr val="7B1FA2">
              <a:alpha val="20000"/>
            </a:srgbClr>
          </a:solidFill>
          <a:ln w="12700">
            <a:solidFill>
              <a:srgbClr val="7B1FA2">
                <a:alpha val="0"/>
              </a:srgbClr>
            </a:solidFill>
            <a:prstDash val="solid"/>
          </a:ln>
        </p:spPr>
        <p:txBody>
          <a:bodyPr/>
          <a:lstStyle/>
          <a:p>
            <a:endParaRPr lang="en-US"/>
          </a:p>
        </p:txBody>
      </p:sp>
      <p:sp>
        <p:nvSpPr>
          <p:cNvPr id="4" name="Shape 2"/>
          <p:cNvSpPr/>
          <p:nvPr/>
        </p:nvSpPr>
        <p:spPr>
          <a:xfrm>
            <a:off x="3200400" y="1371600"/>
            <a:ext cx="2743200" cy="2743200"/>
          </a:xfrm>
          <a:prstGeom prst="ellipse">
            <a:avLst/>
          </a:prstGeom>
          <a:solidFill>
            <a:srgbClr val="00BCD4">
              <a:alpha val="15000"/>
            </a:srgbClr>
          </a:solidFill>
          <a:ln w="12700">
            <a:solidFill>
              <a:srgbClr val="00BCD4">
                <a:alpha val="0"/>
              </a:srgbClr>
            </a:solidFill>
            <a:prstDash val="solid"/>
          </a:ln>
        </p:spPr>
        <p:txBody>
          <a:bodyPr/>
          <a:lstStyle/>
          <a:p>
            <a:endParaRPr lang="en-US"/>
          </a:p>
        </p:txBody>
      </p:sp>
      <p:sp>
        <p:nvSpPr>
          <p:cNvPr id="5" name="Shape 3"/>
          <p:cNvSpPr/>
          <p:nvPr/>
        </p:nvSpPr>
        <p:spPr>
          <a:xfrm>
            <a:off x="274320" y="45720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6" name="Shape 4"/>
          <p:cNvSpPr/>
          <p:nvPr/>
        </p:nvSpPr>
        <p:spPr>
          <a:xfrm>
            <a:off x="274320" y="164592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7" name="Shape 5"/>
          <p:cNvSpPr/>
          <p:nvPr/>
        </p:nvSpPr>
        <p:spPr>
          <a:xfrm>
            <a:off x="274320" y="283464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8" name="Shape 6"/>
          <p:cNvSpPr/>
          <p:nvPr/>
        </p:nvSpPr>
        <p:spPr>
          <a:xfrm>
            <a:off x="274320" y="402336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9" name="Shape 7"/>
          <p:cNvSpPr/>
          <p:nvPr/>
        </p:nvSpPr>
        <p:spPr>
          <a:xfrm>
            <a:off x="1097280" y="109728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10" name="Shape 8"/>
          <p:cNvSpPr/>
          <p:nvPr/>
        </p:nvSpPr>
        <p:spPr>
          <a:xfrm>
            <a:off x="1097280" y="228600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11" name="Shape 9"/>
          <p:cNvSpPr/>
          <p:nvPr/>
        </p:nvSpPr>
        <p:spPr>
          <a:xfrm>
            <a:off x="1097280" y="3474720"/>
            <a:ext cx="128016" cy="128016"/>
          </a:xfrm>
          <a:prstGeom prst="ellipse">
            <a:avLst/>
          </a:prstGeom>
          <a:solidFill>
            <a:srgbClr val="00BCD4">
              <a:alpha val="60000"/>
            </a:srgbClr>
          </a:solidFill>
          <a:ln w="12700">
            <a:solidFill>
              <a:srgbClr val="00BCD4">
                <a:alpha val="0"/>
              </a:srgbClr>
            </a:solidFill>
            <a:prstDash val="solid"/>
          </a:ln>
        </p:spPr>
        <p:txBody>
          <a:bodyPr/>
          <a:lstStyle/>
          <a:p>
            <a:endParaRPr lang="en-US"/>
          </a:p>
        </p:txBody>
      </p:sp>
      <p:sp>
        <p:nvSpPr>
          <p:cNvPr id="12" name="Shape 10"/>
          <p:cNvSpPr/>
          <p:nvPr/>
        </p:nvSpPr>
        <p:spPr>
          <a:xfrm>
            <a:off x="338328" y="521208"/>
            <a:ext cx="822960" cy="640080"/>
          </a:xfrm>
          <a:prstGeom prst="line">
            <a:avLst/>
          </a:prstGeom>
          <a:noFill/>
          <a:ln w="10160">
            <a:solidFill>
              <a:srgbClr val="00BCD4">
                <a:alpha val="35000"/>
              </a:srgbClr>
            </a:solidFill>
            <a:prstDash val="solid"/>
          </a:ln>
        </p:spPr>
        <p:txBody>
          <a:bodyPr/>
          <a:lstStyle/>
          <a:p>
            <a:endParaRPr lang="en-US"/>
          </a:p>
        </p:txBody>
      </p:sp>
      <p:sp>
        <p:nvSpPr>
          <p:cNvPr id="13" name="Shape 11"/>
          <p:cNvSpPr/>
          <p:nvPr/>
        </p:nvSpPr>
        <p:spPr>
          <a:xfrm>
            <a:off x="338328" y="1709928"/>
            <a:ext cx="822960" cy="0"/>
          </a:xfrm>
          <a:prstGeom prst="line">
            <a:avLst/>
          </a:prstGeom>
          <a:noFill/>
          <a:ln w="10160">
            <a:solidFill>
              <a:srgbClr val="00BCD4">
                <a:alpha val="35000"/>
              </a:srgbClr>
            </a:solidFill>
            <a:prstDash val="solid"/>
          </a:ln>
        </p:spPr>
        <p:txBody>
          <a:bodyPr/>
          <a:lstStyle/>
          <a:p>
            <a:endParaRPr lang="en-US"/>
          </a:p>
        </p:txBody>
      </p:sp>
      <p:sp>
        <p:nvSpPr>
          <p:cNvPr id="14" name="Shape 12"/>
          <p:cNvSpPr/>
          <p:nvPr/>
        </p:nvSpPr>
        <p:spPr>
          <a:xfrm>
            <a:off x="338328" y="2898648"/>
            <a:ext cx="822960" cy="0"/>
          </a:xfrm>
          <a:prstGeom prst="line">
            <a:avLst/>
          </a:prstGeom>
          <a:noFill/>
          <a:ln w="10160">
            <a:solidFill>
              <a:srgbClr val="00BCD4">
                <a:alpha val="35000"/>
              </a:srgbClr>
            </a:solidFill>
            <a:prstDash val="solid"/>
          </a:ln>
        </p:spPr>
        <p:txBody>
          <a:bodyPr/>
          <a:lstStyle/>
          <a:p>
            <a:endParaRPr lang="en-US"/>
          </a:p>
        </p:txBody>
      </p:sp>
      <p:sp>
        <p:nvSpPr>
          <p:cNvPr id="15" name="Shape 13"/>
          <p:cNvSpPr/>
          <p:nvPr/>
        </p:nvSpPr>
        <p:spPr>
          <a:xfrm>
            <a:off x="338328" y="4087368"/>
            <a:ext cx="822960" cy="0"/>
          </a:xfrm>
          <a:prstGeom prst="line">
            <a:avLst/>
          </a:prstGeom>
          <a:noFill/>
          <a:ln w="10160">
            <a:solidFill>
              <a:srgbClr val="00BCD4">
                <a:alpha val="35000"/>
              </a:srgbClr>
            </a:solidFill>
            <a:prstDash val="solid"/>
          </a:ln>
        </p:spPr>
        <p:txBody>
          <a:bodyPr/>
          <a:lstStyle/>
          <a:p>
            <a:endParaRPr lang="en-US"/>
          </a:p>
        </p:txBody>
      </p:sp>
      <p:sp>
        <p:nvSpPr>
          <p:cNvPr id="16" name="Shape 14"/>
          <p:cNvSpPr/>
          <p:nvPr/>
        </p:nvSpPr>
        <p:spPr>
          <a:xfrm>
            <a:off x="1161288" y="1161288"/>
            <a:ext cx="0" cy="1188720"/>
          </a:xfrm>
          <a:prstGeom prst="line">
            <a:avLst/>
          </a:prstGeom>
          <a:noFill/>
          <a:ln w="10160">
            <a:solidFill>
              <a:srgbClr val="00BCD4">
                <a:alpha val="35000"/>
              </a:srgbClr>
            </a:solidFill>
            <a:prstDash val="solid"/>
          </a:ln>
        </p:spPr>
        <p:txBody>
          <a:bodyPr/>
          <a:lstStyle/>
          <a:p>
            <a:endParaRPr lang="en-US"/>
          </a:p>
        </p:txBody>
      </p:sp>
      <p:sp>
        <p:nvSpPr>
          <p:cNvPr id="17" name="Shape 15"/>
          <p:cNvSpPr/>
          <p:nvPr/>
        </p:nvSpPr>
        <p:spPr>
          <a:xfrm>
            <a:off x="1161288" y="1161288"/>
            <a:ext cx="0" cy="2377440"/>
          </a:xfrm>
          <a:prstGeom prst="line">
            <a:avLst/>
          </a:prstGeom>
          <a:noFill/>
          <a:ln w="10160">
            <a:solidFill>
              <a:srgbClr val="00BCD4">
                <a:alpha val="35000"/>
              </a:srgbClr>
            </a:solidFill>
            <a:prstDash val="solid"/>
          </a:ln>
        </p:spPr>
        <p:txBody>
          <a:bodyPr/>
          <a:lstStyle/>
          <a:p>
            <a:endParaRPr lang="en-US"/>
          </a:p>
        </p:txBody>
      </p:sp>
      <p:sp>
        <p:nvSpPr>
          <p:cNvPr id="18" name="Shape 16"/>
          <p:cNvSpPr/>
          <p:nvPr/>
        </p:nvSpPr>
        <p:spPr>
          <a:xfrm>
            <a:off x="1161288" y="2350008"/>
            <a:ext cx="0" cy="1188720"/>
          </a:xfrm>
          <a:prstGeom prst="line">
            <a:avLst/>
          </a:prstGeom>
          <a:noFill/>
          <a:ln w="10160">
            <a:solidFill>
              <a:srgbClr val="00BCD4">
                <a:alpha val="35000"/>
              </a:srgbClr>
            </a:solidFill>
            <a:prstDash val="solid"/>
          </a:ln>
        </p:spPr>
        <p:txBody>
          <a:bodyPr/>
          <a:lstStyle/>
          <a:p>
            <a:endParaRPr lang="en-US"/>
          </a:p>
        </p:txBody>
      </p:sp>
      <p:sp>
        <p:nvSpPr>
          <p:cNvPr id="19" name="Shape 17"/>
          <p:cNvSpPr/>
          <p:nvPr/>
        </p:nvSpPr>
        <p:spPr>
          <a:xfrm>
            <a:off x="8412480" y="73152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0" name="Shape 18"/>
          <p:cNvSpPr/>
          <p:nvPr/>
        </p:nvSpPr>
        <p:spPr>
          <a:xfrm>
            <a:off x="8412480" y="192024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1" name="Shape 19"/>
          <p:cNvSpPr/>
          <p:nvPr/>
        </p:nvSpPr>
        <p:spPr>
          <a:xfrm>
            <a:off x="8412480" y="310896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2" name="Shape 20"/>
          <p:cNvSpPr/>
          <p:nvPr/>
        </p:nvSpPr>
        <p:spPr>
          <a:xfrm>
            <a:off x="8412480" y="429768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3" name="Shape 21"/>
          <p:cNvSpPr/>
          <p:nvPr/>
        </p:nvSpPr>
        <p:spPr>
          <a:xfrm>
            <a:off x="7589520" y="137160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4" name="Shape 22"/>
          <p:cNvSpPr/>
          <p:nvPr/>
        </p:nvSpPr>
        <p:spPr>
          <a:xfrm>
            <a:off x="7589520" y="256032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5" name="Shape 23"/>
          <p:cNvSpPr/>
          <p:nvPr/>
        </p:nvSpPr>
        <p:spPr>
          <a:xfrm>
            <a:off x="7589520" y="3749040"/>
            <a:ext cx="128016" cy="128016"/>
          </a:xfrm>
          <a:prstGeom prst="ellipse">
            <a:avLst/>
          </a:prstGeom>
          <a:solidFill>
            <a:srgbClr val="7B1FA2">
              <a:alpha val="60000"/>
            </a:srgbClr>
          </a:solidFill>
          <a:ln w="12700">
            <a:solidFill>
              <a:srgbClr val="7B1FA2">
                <a:alpha val="0"/>
              </a:srgbClr>
            </a:solidFill>
            <a:prstDash val="solid"/>
          </a:ln>
        </p:spPr>
        <p:txBody>
          <a:bodyPr/>
          <a:lstStyle/>
          <a:p>
            <a:endParaRPr lang="en-US"/>
          </a:p>
        </p:txBody>
      </p:sp>
      <p:sp>
        <p:nvSpPr>
          <p:cNvPr id="26" name="Text 24"/>
          <p:cNvSpPr/>
          <p:nvPr/>
        </p:nvSpPr>
        <p:spPr>
          <a:xfrm>
            <a:off x="1371600" y="640080"/>
            <a:ext cx="6400800" cy="1097280"/>
          </a:xfrm>
          <a:prstGeom prst="rect">
            <a:avLst/>
          </a:prstGeom>
          <a:noFill/>
          <a:ln/>
        </p:spPr>
        <p:txBody>
          <a:bodyPr wrap="square" rtlCol="0" anchor="ctr"/>
          <a:lstStyle/>
          <a:p>
            <a:pPr marL="0" indent="0" algn="ctr">
              <a:buNone/>
            </a:pPr>
            <a:r>
              <a:rPr lang="en-US" sz="6400" b="1" kern="0" spc="1000" dirty="0">
                <a:solidFill>
                  <a:srgbClr val="FFFFFF"/>
                </a:solidFill>
                <a:latin typeface="Sitka Display Semibold" pitchFamily="2" charset="0"/>
                <a:ea typeface="Trebuchet MS" pitchFamily="34" charset="-122"/>
                <a:cs typeface="Trebuchet MS" pitchFamily="34" charset="-120"/>
              </a:rPr>
              <a:t>THANK</a:t>
            </a:r>
            <a:endParaRPr lang="en-US" sz="6400" dirty="0">
              <a:latin typeface="Sitka Display Semibold" pitchFamily="2" charset="0"/>
            </a:endParaRPr>
          </a:p>
        </p:txBody>
      </p:sp>
      <p:sp>
        <p:nvSpPr>
          <p:cNvPr id="27" name="Text 25"/>
          <p:cNvSpPr/>
          <p:nvPr/>
        </p:nvSpPr>
        <p:spPr>
          <a:xfrm>
            <a:off x="1371600" y="1600200"/>
            <a:ext cx="6400800" cy="1097280"/>
          </a:xfrm>
          <a:prstGeom prst="rect">
            <a:avLst/>
          </a:prstGeom>
          <a:noFill/>
          <a:ln/>
        </p:spPr>
        <p:txBody>
          <a:bodyPr wrap="square" rtlCol="0" anchor="ctr"/>
          <a:lstStyle/>
          <a:p>
            <a:pPr marL="0" indent="0" algn="ctr">
              <a:buNone/>
            </a:pPr>
            <a:r>
              <a:rPr lang="en-US" sz="6400" b="1" kern="0" spc="1500" dirty="0">
                <a:solidFill>
                  <a:srgbClr val="00BCD4"/>
                </a:solidFill>
                <a:latin typeface="Trebuchet MS" pitchFamily="34" charset="0"/>
                <a:ea typeface="Trebuchet MS" pitchFamily="34" charset="-122"/>
                <a:cs typeface="Trebuchet MS" pitchFamily="34" charset="-120"/>
              </a:rPr>
              <a:t>YOU</a:t>
            </a:r>
            <a:endParaRPr lang="en-US" sz="6400" dirty="0"/>
          </a:p>
        </p:txBody>
      </p:sp>
      <p:sp>
        <p:nvSpPr>
          <p:cNvPr id="28" name="Shape 26"/>
          <p:cNvSpPr/>
          <p:nvPr/>
        </p:nvSpPr>
        <p:spPr>
          <a:xfrm>
            <a:off x="2286000" y="2697480"/>
            <a:ext cx="4572000" cy="27432"/>
          </a:xfrm>
          <a:prstGeom prst="rect">
            <a:avLst/>
          </a:prstGeom>
          <a:solidFill>
            <a:srgbClr val="00BCD4"/>
          </a:solidFill>
          <a:ln w="12700">
            <a:solidFill>
              <a:srgbClr val="00BCD4">
                <a:alpha val="0"/>
              </a:srgbClr>
            </a:solidFill>
            <a:prstDash val="solid"/>
          </a:ln>
        </p:spPr>
        <p:txBody>
          <a:bodyPr/>
          <a:lstStyle/>
          <a:p>
            <a:endParaRPr lang="en-US"/>
          </a:p>
        </p:txBody>
      </p:sp>
      <p:sp>
        <p:nvSpPr>
          <p:cNvPr id="29" name="Text 27"/>
          <p:cNvSpPr/>
          <p:nvPr/>
        </p:nvSpPr>
        <p:spPr>
          <a:xfrm>
            <a:off x="1371600" y="2788920"/>
            <a:ext cx="6400800" cy="347472"/>
          </a:xfrm>
          <a:prstGeom prst="rect">
            <a:avLst/>
          </a:prstGeom>
          <a:noFill/>
          <a:ln/>
        </p:spPr>
        <p:txBody>
          <a:bodyPr wrap="square" rtlCol="0" anchor="ctr"/>
          <a:lstStyle/>
          <a:p>
            <a:pPr marL="0" indent="0" algn="ctr">
              <a:buNone/>
            </a:pPr>
            <a:r>
              <a:rPr lang="en-US" sz="1500" i="1" dirty="0">
                <a:solidFill>
                  <a:srgbClr val="E3F2FD"/>
                </a:solidFill>
                <a:latin typeface="Trebuchet MS" pitchFamily="34" charset="0"/>
                <a:ea typeface="Trebuchet MS" pitchFamily="34" charset="-122"/>
                <a:cs typeface="Trebuchet MS" pitchFamily="34" charset="-120"/>
              </a:rPr>
              <a:t>Face Emotion Detection Using MobileNetV2</a:t>
            </a:r>
            <a:endParaRPr lang="en-US" sz="1500" dirty="0"/>
          </a:p>
        </p:txBody>
      </p:sp>
      <p:sp>
        <p:nvSpPr>
          <p:cNvPr id="30" name="Shape 28"/>
          <p:cNvSpPr/>
          <p:nvPr/>
        </p:nvSpPr>
        <p:spPr>
          <a:xfrm>
            <a:off x="2103120" y="3246120"/>
            <a:ext cx="4937760" cy="640080"/>
          </a:xfrm>
          <a:prstGeom prst="roundRect">
            <a:avLst>
              <a:gd name="adj" fmla="val 17143"/>
            </a:avLst>
          </a:prstGeom>
          <a:solidFill>
            <a:srgbClr val="0D2137">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1" name="Text 29"/>
          <p:cNvSpPr/>
          <p:nvPr/>
        </p:nvSpPr>
        <p:spPr>
          <a:xfrm>
            <a:off x="2103120" y="3246120"/>
            <a:ext cx="4937760" cy="640080"/>
          </a:xfrm>
          <a:prstGeom prst="rect">
            <a:avLst/>
          </a:prstGeom>
          <a:noFill/>
          <a:ln/>
        </p:spPr>
        <p:txBody>
          <a:bodyPr wrap="square" rtlCol="0" anchor="ctr"/>
          <a:lstStyle/>
          <a:p>
            <a:pPr marL="0" indent="0" algn="ctr">
              <a:buNone/>
            </a:pPr>
            <a:r>
              <a:rPr lang="en-US" sz="1800" b="1" dirty="0">
                <a:solidFill>
                  <a:srgbClr val="FFD54F"/>
                </a:solidFill>
                <a:latin typeface="Trebuchet MS" pitchFamily="34" charset="0"/>
                <a:ea typeface="Trebuchet MS" pitchFamily="34" charset="-122"/>
                <a:cs typeface="Trebuchet MS" pitchFamily="34" charset="-120"/>
              </a:rPr>
              <a:t>❓  Questions &amp; Answers</a:t>
            </a:r>
            <a:endParaRPr lang="en-US" sz="1800" dirty="0"/>
          </a:p>
        </p:txBody>
      </p:sp>
      <p:sp>
        <p:nvSpPr>
          <p:cNvPr id="32" name="Shape 30"/>
          <p:cNvSpPr/>
          <p:nvPr/>
        </p:nvSpPr>
        <p:spPr>
          <a:xfrm>
            <a:off x="1188720" y="4005072"/>
            <a:ext cx="1554480" cy="822960"/>
          </a:xfrm>
          <a:prstGeom prst="roundRect">
            <a:avLst>
              <a:gd name="adj" fmla="val 13333"/>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3" name="Text 31"/>
          <p:cNvSpPr/>
          <p:nvPr/>
        </p:nvSpPr>
        <p:spPr>
          <a:xfrm>
            <a:off x="1188720" y="4023360"/>
            <a:ext cx="1554480" cy="475488"/>
          </a:xfrm>
          <a:prstGeom prst="rect">
            <a:avLst/>
          </a:prstGeom>
          <a:noFill/>
          <a:ln/>
        </p:spPr>
        <p:txBody>
          <a:bodyPr wrap="square" rtlCol="0" anchor="ctr"/>
          <a:lstStyle/>
          <a:p>
            <a:pPr marL="0" indent="0" algn="ctr">
              <a:buNone/>
            </a:pPr>
            <a:r>
              <a:rPr lang="en-US" sz="2200" b="1" dirty="0">
                <a:solidFill>
                  <a:srgbClr val="00C853"/>
                </a:solidFill>
                <a:latin typeface="Trebuchet MS" pitchFamily="34" charset="0"/>
                <a:ea typeface="Trebuchet MS" pitchFamily="34" charset="-122"/>
                <a:cs typeface="Trebuchet MS" pitchFamily="34" charset="-120"/>
              </a:rPr>
              <a:t>78%</a:t>
            </a:r>
            <a:endParaRPr lang="en-US" sz="2200" dirty="0"/>
          </a:p>
        </p:txBody>
      </p:sp>
      <p:sp>
        <p:nvSpPr>
          <p:cNvPr id="34" name="Text 32"/>
          <p:cNvSpPr/>
          <p:nvPr/>
        </p:nvSpPr>
        <p:spPr>
          <a:xfrm>
            <a:off x="1188720" y="4498848"/>
            <a:ext cx="1554480" cy="25603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Accuracy</a:t>
            </a:r>
            <a:endParaRPr lang="en-US" sz="1000" dirty="0"/>
          </a:p>
        </p:txBody>
      </p:sp>
      <p:sp>
        <p:nvSpPr>
          <p:cNvPr id="35" name="Shape 33"/>
          <p:cNvSpPr/>
          <p:nvPr/>
        </p:nvSpPr>
        <p:spPr>
          <a:xfrm>
            <a:off x="3017520" y="4005072"/>
            <a:ext cx="1554480" cy="822960"/>
          </a:xfrm>
          <a:prstGeom prst="roundRect">
            <a:avLst>
              <a:gd name="adj" fmla="val 13333"/>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6" name="Text 34"/>
          <p:cNvSpPr/>
          <p:nvPr/>
        </p:nvSpPr>
        <p:spPr>
          <a:xfrm>
            <a:off x="3017520" y="4023360"/>
            <a:ext cx="1554480" cy="475488"/>
          </a:xfrm>
          <a:prstGeom prst="rect">
            <a:avLst/>
          </a:prstGeom>
          <a:noFill/>
          <a:ln/>
        </p:spPr>
        <p:txBody>
          <a:bodyPr wrap="square" rtlCol="0" anchor="ctr"/>
          <a:lstStyle/>
          <a:p>
            <a:pPr marL="0" indent="0" algn="ctr">
              <a:buNone/>
            </a:pPr>
            <a:r>
              <a:rPr lang="en-US" sz="2200" b="1" dirty="0">
                <a:solidFill>
                  <a:srgbClr val="00BCD4"/>
                </a:solidFill>
                <a:latin typeface="Trebuchet MS" pitchFamily="34" charset="0"/>
                <a:ea typeface="Trebuchet MS" pitchFamily="34" charset="-122"/>
                <a:cs typeface="Trebuchet MS" pitchFamily="34" charset="-120"/>
              </a:rPr>
              <a:t>15MB</a:t>
            </a:r>
            <a:endParaRPr lang="en-US" sz="2200" dirty="0"/>
          </a:p>
        </p:txBody>
      </p:sp>
      <p:sp>
        <p:nvSpPr>
          <p:cNvPr id="37" name="Text 35"/>
          <p:cNvSpPr/>
          <p:nvPr/>
        </p:nvSpPr>
        <p:spPr>
          <a:xfrm>
            <a:off x="3017520" y="4498848"/>
            <a:ext cx="1554480" cy="25603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Model</a:t>
            </a:r>
            <a:endParaRPr lang="en-US" sz="1000" dirty="0"/>
          </a:p>
        </p:txBody>
      </p:sp>
      <p:sp>
        <p:nvSpPr>
          <p:cNvPr id="38" name="Shape 36"/>
          <p:cNvSpPr/>
          <p:nvPr/>
        </p:nvSpPr>
        <p:spPr>
          <a:xfrm>
            <a:off x="4846320" y="4005072"/>
            <a:ext cx="1554480" cy="822960"/>
          </a:xfrm>
          <a:prstGeom prst="roundRect">
            <a:avLst>
              <a:gd name="adj" fmla="val 13333"/>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39" name="Text 37"/>
          <p:cNvSpPr/>
          <p:nvPr/>
        </p:nvSpPr>
        <p:spPr>
          <a:xfrm>
            <a:off x="4846320" y="4023360"/>
            <a:ext cx="1554480" cy="475488"/>
          </a:xfrm>
          <a:prstGeom prst="rect">
            <a:avLst/>
          </a:prstGeom>
          <a:noFill/>
          <a:ln/>
        </p:spPr>
        <p:txBody>
          <a:bodyPr wrap="square" rtlCol="0" anchor="ctr"/>
          <a:lstStyle/>
          <a:p>
            <a:pPr marL="0" indent="0" algn="ctr">
              <a:buNone/>
            </a:pPr>
            <a:r>
              <a:rPr lang="en-US" sz="2200" b="1" dirty="0">
                <a:solidFill>
                  <a:srgbClr val="7B1FA2"/>
                </a:solidFill>
                <a:latin typeface="Trebuchet MS" pitchFamily="34" charset="0"/>
                <a:ea typeface="Trebuchet MS" pitchFamily="34" charset="-122"/>
                <a:cs typeface="Trebuchet MS" pitchFamily="34" charset="-120"/>
              </a:rPr>
              <a:t>18ms</a:t>
            </a:r>
            <a:endParaRPr lang="en-US" sz="2200" dirty="0"/>
          </a:p>
        </p:txBody>
      </p:sp>
      <p:sp>
        <p:nvSpPr>
          <p:cNvPr id="40" name="Text 38"/>
          <p:cNvSpPr/>
          <p:nvPr/>
        </p:nvSpPr>
        <p:spPr>
          <a:xfrm>
            <a:off x="4846320" y="4498848"/>
            <a:ext cx="1554480" cy="25603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Inference</a:t>
            </a:r>
            <a:endParaRPr lang="en-US" sz="1000" dirty="0"/>
          </a:p>
        </p:txBody>
      </p:sp>
      <p:sp>
        <p:nvSpPr>
          <p:cNvPr id="41" name="Shape 39"/>
          <p:cNvSpPr/>
          <p:nvPr/>
        </p:nvSpPr>
        <p:spPr>
          <a:xfrm>
            <a:off x="6675120" y="4005072"/>
            <a:ext cx="1554480" cy="822960"/>
          </a:xfrm>
          <a:prstGeom prst="roundRect">
            <a:avLst>
              <a:gd name="adj" fmla="val 13333"/>
            </a:avLst>
          </a:prstGeom>
          <a:solidFill>
            <a:srgbClr val="112240">
              <a:alpha val="80000"/>
            </a:srgbClr>
          </a:solidFill>
          <a:ln w="12700">
            <a:solidFill>
              <a:srgbClr val="00BCD4">
                <a:alpha val="40000"/>
              </a:srgbClr>
            </a:solidFill>
            <a:prstDash val="solid"/>
          </a:ln>
          <a:effectLst>
            <a:outerShdw blurRad="127000" dist="38100" dir="8100000" algn="bl" rotWithShape="0">
              <a:srgbClr val="000000">
                <a:alpha val="30000"/>
              </a:srgbClr>
            </a:outerShdw>
          </a:effectLst>
        </p:spPr>
        <p:txBody>
          <a:bodyPr/>
          <a:lstStyle/>
          <a:p>
            <a:endParaRPr lang="en-US"/>
          </a:p>
        </p:txBody>
      </p:sp>
      <p:sp>
        <p:nvSpPr>
          <p:cNvPr id="42" name="Text 40"/>
          <p:cNvSpPr/>
          <p:nvPr/>
        </p:nvSpPr>
        <p:spPr>
          <a:xfrm>
            <a:off x="6675120" y="4023360"/>
            <a:ext cx="1554480" cy="475488"/>
          </a:xfrm>
          <a:prstGeom prst="rect">
            <a:avLst/>
          </a:prstGeom>
          <a:noFill/>
          <a:ln/>
        </p:spPr>
        <p:txBody>
          <a:bodyPr wrap="square" rtlCol="0" anchor="ctr"/>
          <a:lstStyle/>
          <a:p>
            <a:pPr marL="0" indent="0" algn="ctr">
              <a:buNone/>
            </a:pPr>
            <a:r>
              <a:rPr lang="en-US" sz="2200" b="1" dirty="0">
                <a:solidFill>
                  <a:srgbClr val="FFD54F"/>
                </a:solidFill>
                <a:latin typeface="Trebuchet MS" pitchFamily="34" charset="0"/>
                <a:ea typeface="Trebuchet MS" pitchFamily="34" charset="-122"/>
                <a:cs typeface="Trebuchet MS" pitchFamily="34" charset="-120"/>
              </a:rPr>
              <a:t>7</a:t>
            </a:r>
            <a:endParaRPr lang="en-US" sz="2200" dirty="0"/>
          </a:p>
        </p:txBody>
      </p:sp>
      <p:sp>
        <p:nvSpPr>
          <p:cNvPr id="43" name="Text 41"/>
          <p:cNvSpPr/>
          <p:nvPr/>
        </p:nvSpPr>
        <p:spPr>
          <a:xfrm>
            <a:off x="6675120" y="4498848"/>
            <a:ext cx="1554480" cy="256032"/>
          </a:xfrm>
          <a:prstGeom prst="rect">
            <a:avLst/>
          </a:prstGeom>
          <a:noFill/>
          <a:ln/>
        </p:spPr>
        <p:txBody>
          <a:bodyPr wrap="square" rtlCol="0" anchor="ctr"/>
          <a:lstStyle/>
          <a:p>
            <a:pPr marL="0" indent="0" algn="ctr">
              <a:buNone/>
            </a:pPr>
            <a:r>
              <a:rPr lang="en-US" sz="1000" dirty="0">
                <a:solidFill>
                  <a:srgbClr val="90A4AE"/>
                </a:solidFill>
                <a:latin typeface="Calibri" pitchFamily="34" charset="0"/>
                <a:ea typeface="Calibri" pitchFamily="34" charset="-122"/>
                <a:cs typeface="Calibri" pitchFamily="34" charset="-120"/>
              </a:rPr>
              <a:t>Emotions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1997</Words>
  <Application>Microsoft Office PowerPoint</Application>
  <PresentationFormat>On-screen Show (16:9)</PresentationFormat>
  <Paragraphs>464</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Consolas</vt:lpstr>
      <vt:lpstr>Sitka Display Semibold</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Emotion Detection Using MobileNetV2</dc:title>
  <dc:subject>PptxGenJS Presentation</dc:subject>
  <dc:creator>BS Computer Science FYP</dc:creator>
  <cp:lastModifiedBy>Muhammad Abdullah Arif</cp:lastModifiedBy>
  <cp:revision>19</cp:revision>
  <dcterms:created xsi:type="dcterms:W3CDTF">2026-05-30T03:26:48Z</dcterms:created>
  <dcterms:modified xsi:type="dcterms:W3CDTF">2026-06-14T07:43:50Z</dcterms:modified>
</cp:coreProperties>
</file>